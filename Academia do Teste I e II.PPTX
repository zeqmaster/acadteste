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diagrams/layout1.xml" ContentType="application/vnd.openxmlformats-officedocument.drawingml.diagramLayout+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notesSlides/notesSlide4.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5"/>
  </p:notesMasterIdLst>
  <p:sldIdLst>
    <p:sldId id="327" r:id="rId2"/>
    <p:sldId id="328" r:id="rId3"/>
    <p:sldId id="329" r:id="rId4"/>
    <p:sldId id="330" r:id="rId5"/>
    <p:sldId id="339" r:id="rId6"/>
    <p:sldId id="340" r:id="rId7"/>
    <p:sldId id="303" r:id="rId8"/>
    <p:sldId id="316" r:id="rId9"/>
    <p:sldId id="301" r:id="rId10"/>
    <p:sldId id="302" r:id="rId11"/>
    <p:sldId id="304" r:id="rId12"/>
    <p:sldId id="305" r:id="rId13"/>
    <p:sldId id="309" r:id="rId14"/>
    <p:sldId id="314" r:id="rId15"/>
    <p:sldId id="331" r:id="rId16"/>
    <p:sldId id="315" r:id="rId17"/>
    <p:sldId id="317" r:id="rId18"/>
    <p:sldId id="318" r:id="rId19"/>
    <p:sldId id="319" r:id="rId20"/>
    <p:sldId id="320" r:id="rId21"/>
    <p:sldId id="321" r:id="rId22"/>
    <p:sldId id="313" r:id="rId23"/>
    <p:sldId id="310" r:id="rId24"/>
    <p:sldId id="311" r:id="rId25"/>
    <p:sldId id="312" r:id="rId26"/>
    <p:sldId id="306" r:id="rId27"/>
    <p:sldId id="307" r:id="rId28"/>
    <p:sldId id="338" r:id="rId29"/>
    <p:sldId id="322" r:id="rId30"/>
    <p:sldId id="299" r:id="rId31"/>
    <p:sldId id="278" r:id="rId32"/>
    <p:sldId id="323" r:id="rId33"/>
    <p:sldId id="326" r:id="rId34"/>
    <p:sldId id="283" r:id="rId35"/>
    <p:sldId id="325" r:id="rId36"/>
    <p:sldId id="324" r:id="rId37"/>
    <p:sldId id="279" r:id="rId38"/>
    <p:sldId id="284" r:id="rId39"/>
    <p:sldId id="332" r:id="rId40"/>
    <p:sldId id="333" r:id="rId41"/>
    <p:sldId id="286" r:id="rId42"/>
    <p:sldId id="287" r:id="rId43"/>
    <p:sldId id="288" r:id="rId44"/>
    <p:sldId id="289" r:id="rId45"/>
    <p:sldId id="290" r:id="rId46"/>
    <p:sldId id="291" r:id="rId47"/>
    <p:sldId id="292" r:id="rId48"/>
    <p:sldId id="293" r:id="rId49"/>
    <p:sldId id="294" r:id="rId50"/>
    <p:sldId id="296" r:id="rId51"/>
    <p:sldId id="297" r:id="rId52"/>
    <p:sldId id="334" r:id="rId53"/>
    <p:sldId id="258" r:id="rId54"/>
    <p:sldId id="259" r:id="rId55"/>
    <p:sldId id="261" r:id="rId56"/>
    <p:sldId id="262" r:id="rId57"/>
    <p:sldId id="263" r:id="rId58"/>
    <p:sldId id="264" r:id="rId59"/>
    <p:sldId id="265" r:id="rId60"/>
    <p:sldId id="266" r:id="rId61"/>
    <p:sldId id="267" r:id="rId62"/>
    <p:sldId id="270" r:id="rId63"/>
    <p:sldId id="271" r:id="rId64"/>
    <p:sldId id="272" r:id="rId65"/>
    <p:sldId id="273" r:id="rId66"/>
    <p:sldId id="274" r:id="rId67"/>
    <p:sldId id="275" r:id="rId68"/>
    <p:sldId id="276" r:id="rId69"/>
    <p:sldId id="335" r:id="rId70"/>
    <p:sldId id="295" r:id="rId71"/>
    <p:sldId id="341" r:id="rId72"/>
    <p:sldId id="337" r:id="rId73"/>
    <p:sldId id="336" r:id="rId74"/>
  </p:sldIdLst>
  <p:sldSz cx="12192000" cy="6858000"/>
  <p:notesSz cx="7104063" cy="10234613"/>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p:scale>
          <a:sx n="70" d="100"/>
          <a:sy n="70" d="100"/>
        </p:scale>
        <p:origin x="-660" y="-84"/>
      </p:cViewPr>
      <p:guideLst>
        <p:guide orient="horz" pos="2160"/>
        <p:guide pos="3840"/>
      </p:guideLst>
    </p:cSldViewPr>
  </p:slideViewPr>
  <p:notesTextViewPr>
    <p:cViewPr>
      <p:scale>
        <a:sx n="1" d="1"/>
        <a:sy n="1" d="1"/>
      </p:scale>
      <p:origin x="0" y="0"/>
    </p:cViewPr>
  </p:notesTextViewPr>
  <p:notesViewPr>
    <p:cSldViewPr snapToGrid="0">
      <p:cViewPr varScale="1">
        <p:scale>
          <a:sx n="55" d="100"/>
          <a:sy n="55" d="100"/>
        </p:scale>
        <p:origin x="-2904" y="-102"/>
      </p:cViewPr>
      <p:guideLst>
        <p:guide orient="horz" pos="3224"/>
        <p:guide pos="2238"/>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0C981D-7750-4E88-91FF-E623F2D50424}" type="doc">
      <dgm:prSet loTypeId="urn:microsoft.com/office/officeart/2005/8/layout/chevron1" loCatId="process" qsTypeId="urn:microsoft.com/office/officeart/2005/8/quickstyle/simple1" qsCatId="simple" csTypeId="urn:microsoft.com/office/officeart/2005/8/colors/colorful1" csCatId="colorful" phldr="1"/>
      <dgm:spPr/>
    </dgm:pt>
    <dgm:pt modelId="{4B459129-4F85-4216-A1AD-F1ACC359687C}">
      <dgm:prSet phldrT="[Texto]"/>
      <dgm:spPr/>
      <dgm:t>
        <a:bodyPr/>
        <a:lstStyle/>
        <a:p>
          <a:r>
            <a:rPr lang="pt-BR" dirty="0" smtClean="0"/>
            <a:t>Requisito</a:t>
          </a:r>
          <a:endParaRPr lang="pt-BR" dirty="0"/>
        </a:p>
      </dgm:t>
    </dgm:pt>
    <dgm:pt modelId="{7F2A7124-BA8F-4B64-9ACA-98D7B9565C27}" type="parTrans" cxnId="{25518780-6EAD-43D7-8428-EA0772386AFF}">
      <dgm:prSet/>
      <dgm:spPr/>
      <dgm:t>
        <a:bodyPr/>
        <a:lstStyle/>
        <a:p>
          <a:endParaRPr lang="pt-BR"/>
        </a:p>
      </dgm:t>
    </dgm:pt>
    <dgm:pt modelId="{B5E95177-10F4-4906-A4FE-EF696B2D7E84}" type="sibTrans" cxnId="{25518780-6EAD-43D7-8428-EA0772386AFF}">
      <dgm:prSet/>
      <dgm:spPr/>
      <dgm:t>
        <a:bodyPr/>
        <a:lstStyle/>
        <a:p>
          <a:endParaRPr lang="pt-BR"/>
        </a:p>
      </dgm:t>
    </dgm:pt>
    <dgm:pt modelId="{795CD268-474C-418A-A33C-58465CCC758C}">
      <dgm:prSet phldrT="[Texto]"/>
      <dgm:spPr/>
      <dgm:t>
        <a:bodyPr/>
        <a:lstStyle/>
        <a:p>
          <a:r>
            <a:rPr lang="pt-BR" dirty="0" smtClean="0"/>
            <a:t>Análise Requisitos</a:t>
          </a:r>
          <a:endParaRPr lang="pt-BR" dirty="0"/>
        </a:p>
      </dgm:t>
    </dgm:pt>
    <dgm:pt modelId="{86CE4F39-A693-48A1-A46C-CDC96567B073}" type="parTrans" cxnId="{7D653B52-DC33-4ADF-98F0-F4407579FBBD}">
      <dgm:prSet/>
      <dgm:spPr/>
      <dgm:t>
        <a:bodyPr/>
        <a:lstStyle/>
        <a:p>
          <a:endParaRPr lang="pt-BR"/>
        </a:p>
      </dgm:t>
    </dgm:pt>
    <dgm:pt modelId="{CF1E1F30-5E5C-4E3F-8F8D-B3894B5160D5}" type="sibTrans" cxnId="{7D653B52-DC33-4ADF-98F0-F4407579FBBD}">
      <dgm:prSet/>
      <dgm:spPr/>
      <dgm:t>
        <a:bodyPr/>
        <a:lstStyle/>
        <a:p>
          <a:endParaRPr lang="pt-BR"/>
        </a:p>
      </dgm:t>
    </dgm:pt>
    <dgm:pt modelId="{B965EEA3-3ADA-4217-BD36-9E6C0299D8D8}">
      <dgm:prSet phldrT="[Texto]"/>
      <dgm:spPr/>
      <dgm:t>
        <a:bodyPr/>
        <a:lstStyle/>
        <a:p>
          <a:r>
            <a:rPr lang="pt-BR" dirty="0" smtClean="0"/>
            <a:t>Modelagem</a:t>
          </a:r>
          <a:endParaRPr lang="pt-BR" dirty="0"/>
        </a:p>
      </dgm:t>
    </dgm:pt>
    <dgm:pt modelId="{D4585388-5D1B-4CE1-83AF-CAEF4FDE049D}" type="parTrans" cxnId="{544D3F3C-A3FB-4F40-B7BC-43F35B203230}">
      <dgm:prSet/>
      <dgm:spPr/>
      <dgm:t>
        <a:bodyPr/>
        <a:lstStyle/>
        <a:p>
          <a:endParaRPr lang="pt-BR"/>
        </a:p>
      </dgm:t>
    </dgm:pt>
    <dgm:pt modelId="{797199AA-FBBF-41A5-BC89-21F6135F16B0}" type="sibTrans" cxnId="{544D3F3C-A3FB-4F40-B7BC-43F35B203230}">
      <dgm:prSet/>
      <dgm:spPr/>
      <dgm:t>
        <a:bodyPr/>
        <a:lstStyle/>
        <a:p>
          <a:endParaRPr lang="pt-BR"/>
        </a:p>
      </dgm:t>
    </dgm:pt>
    <dgm:pt modelId="{B3CA492C-B37C-4255-8119-7034F1854369}">
      <dgm:prSet phldrT="[Texto]"/>
      <dgm:spPr/>
      <dgm:t>
        <a:bodyPr/>
        <a:lstStyle/>
        <a:p>
          <a:r>
            <a:rPr lang="pt-BR" dirty="0" smtClean="0"/>
            <a:t>Codificação</a:t>
          </a:r>
          <a:endParaRPr lang="pt-BR" dirty="0"/>
        </a:p>
      </dgm:t>
    </dgm:pt>
    <dgm:pt modelId="{3A5C40DC-517A-464B-969E-AFE215835DDE}" type="parTrans" cxnId="{6DE3F552-C319-45D0-AE31-E3349D49DA28}">
      <dgm:prSet/>
      <dgm:spPr/>
      <dgm:t>
        <a:bodyPr/>
        <a:lstStyle/>
        <a:p>
          <a:endParaRPr lang="pt-BR"/>
        </a:p>
      </dgm:t>
    </dgm:pt>
    <dgm:pt modelId="{88B7E9EB-E7F8-40C4-BD7D-9C70836657C6}" type="sibTrans" cxnId="{6DE3F552-C319-45D0-AE31-E3349D49DA28}">
      <dgm:prSet/>
      <dgm:spPr/>
      <dgm:t>
        <a:bodyPr/>
        <a:lstStyle/>
        <a:p>
          <a:endParaRPr lang="pt-BR"/>
        </a:p>
      </dgm:t>
    </dgm:pt>
    <dgm:pt modelId="{F2339821-273B-4CFB-8A28-749E282DFF52}">
      <dgm:prSet phldrT="[Texto]"/>
      <dgm:spPr/>
      <dgm:t>
        <a:bodyPr/>
        <a:lstStyle/>
        <a:p>
          <a:r>
            <a:rPr lang="pt-BR" dirty="0" smtClean="0"/>
            <a:t>Teste</a:t>
          </a:r>
          <a:endParaRPr lang="pt-BR" dirty="0"/>
        </a:p>
      </dgm:t>
    </dgm:pt>
    <dgm:pt modelId="{0B96D086-7F85-4F62-8DAE-B466DB02D645}" type="parTrans" cxnId="{DFD2802F-227B-46D8-9BD7-A79EA442B569}">
      <dgm:prSet/>
      <dgm:spPr/>
      <dgm:t>
        <a:bodyPr/>
        <a:lstStyle/>
        <a:p>
          <a:endParaRPr lang="pt-BR"/>
        </a:p>
      </dgm:t>
    </dgm:pt>
    <dgm:pt modelId="{B590B844-EECE-46DA-8C6E-252694592A05}" type="sibTrans" cxnId="{DFD2802F-227B-46D8-9BD7-A79EA442B569}">
      <dgm:prSet/>
      <dgm:spPr/>
      <dgm:t>
        <a:bodyPr/>
        <a:lstStyle/>
        <a:p>
          <a:endParaRPr lang="pt-BR"/>
        </a:p>
      </dgm:t>
    </dgm:pt>
    <dgm:pt modelId="{2F465632-78AA-42A5-9A60-B00B6A8974F6}">
      <dgm:prSet phldrT="[Texto]"/>
      <dgm:spPr/>
      <dgm:t>
        <a:bodyPr/>
        <a:lstStyle/>
        <a:p>
          <a:r>
            <a:rPr lang="pt-BR" dirty="0" smtClean="0"/>
            <a:t>Produção</a:t>
          </a:r>
          <a:endParaRPr lang="pt-BR" dirty="0"/>
        </a:p>
      </dgm:t>
    </dgm:pt>
    <dgm:pt modelId="{014ABB6F-C55E-4999-A86B-9618E7B4FC48}" type="parTrans" cxnId="{4D3F1307-8506-4876-ADA8-22185330261F}">
      <dgm:prSet/>
      <dgm:spPr/>
      <dgm:t>
        <a:bodyPr/>
        <a:lstStyle/>
        <a:p>
          <a:endParaRPr lang="pt-BR"/>
        </a:p>
      </dgm:t>
    </dgm:pt>
    <dgm:pt modelId="{56E339D6-45E7-4EEC-BDA8-C53769E54334}" type="sibTrans" cxnId="{4D3F1307-8506-4876-ADA8-22185330261F}">
      <dgm:prSet/>
      <dgm:spPr/>
      <dgm:t>
        <a:bodyPr/>
        <a:lstStyle/>
        <a:p>
          <a:endParaRPr lang="pt-BR"/>
        </a:p>
      </dgm:t>
    </dgm:pt>
    <dgm:pt modelId="{BEAC93D7-5C16-44E0-8B64-DEB61DB0B2EB}" type="pres">
      <dgm:prSet presAssocID="{FC0C981D-7750-4E88-91FF-E623F2D50424}" presName="Name0" presStyleCnt="0">
        <dgm:presLayoutVars>
          <dgm:dir/>
          <dgm:animLvl val="lvl"/>
          <dgm:resizeHandles val="exact"/>
        </dgm:presLayoutVars>
      </dgm:prSet>
      <dgm:spPr/>
    </dgm:pt>
    <dgm:pt modelId="{C83A9B35-988C-4604-BBAA-FC4C2292228E}" type="pres">
      <dgm:prSet presAssocID="{4B459129-4F85-4216-A1AD-F1ACC359687C}" presName="parTxOnly" presStyleLbl="node1" presStyleIdx="0" presStyleCnt="6">
        <dgm:presLayoutVars>
          <dgm:chMax val="0"/>
          <dgm:chPref val="0"/>
          <dgm:bulletEnabled val="1"/>
        </dgm:presLayoutVars>
      </dgm:prSet>
      <dgm:spPr/>
    </dgm:pt>
    <dgm:pt modelId="{6EB261F7-952B-4180-B545-BE29DA06A12D}" type="pres">
      <dgm:prSet presAssocID="{B5E95177-10F4-4906-A4FE-EF696B2D7E84}" presName="parTxOnlySpace" presStyleCnt="0"/>
      <dgm:spPr/>
    </dgm:pt>
    <dgm:pt modelId="{10262D9F-6459-4D66-BCDD-A44D67ADF650}" type="pres">
      <dgm:prSet presAssocID="{795CD268-474C-418A-A33C-58465CCC758C}" presName="parTxOnly" presStyleLbl="node1" presStyleIdx="1" presStyleCnt="6">
        <dgm:presLayoutVars>
          <dgm:chMax val="0"/>
          <dgm:chPref val="0"/>
          <dgm:bulletEnabled val="1"/>
        </dgm:presLayoutVars>
      </dgm:prSet>
      <dgm:spPr/>
    </dgm:pt>
    <dgm:pt modelId="{F426C9BE-C8C3-4548-B752-324A7743A022}" type="pres">
      <dgm:prSet presAssocID="{CF1E1F30-5E5C-4E3F-8F8D-B3894B5160D5}" presName="parTxOnlySpace" presStyleCnt="0"/>
      <dgm:spPr/>
    </dgm:pt>
    <dgm:pt modelId="{55F7D8E0-F2CB-4204-8780-89F04DCD0986}" type="pres">
      <dgm:prSet presAssocID="{B965EEA3-3ADA-4217-BD36-9E6C0299D8D8}" presName="parTxOnly" presStyleLbl="node1" presStyleIdx="2" presStyleCnt="6">
        <dgm:presLayoutVars>
          <dgm:chMax val="0"/>
          <dgm:chPref val="0"/>
          <dgm:bulletEnabled val="1"/>
        </dgm:presLayoutVars>
      </dgm:prSet>
      <dgm:spPr/>
    </dgm:pt>
    <dgm:pt modelId="{AE51C958-B2AD-44D2-9959-F2AF5F9F6CFB}" type="pres">
      <dgm:prSet presAssocID="{797199AA-FBBF-41A5-BC89-21F6135F16B0}" presName="parTxOnlySpace" presStyleCnt="0"/>
      <dgm:spPr/>
    </dgm:pt>
    <dgm:pt modelId="{7D9EF006-B2E8-492A-8823-FF2218D2E8F1}" type="pres">
      <dgm:prSet presAssocID="{B3CA492C-B37C-4255-8119-7034F1854369}" presName="parTxOnly" presStyleLbl="node1" presStyleIdx="3" presStyleCnt="6">
        <dgm:presLayoutVars>
          <dgm:chMax val="0"/>
          <dgm:chPref val="0"/>
          <dgm:bulletEnabled val="1"/>
        </dgm:presLayoutVars>
      </dgm:prSet>
      <dgm:spPr/>
      <dgm:t>
        <a:bodyPr/>
        <a:lstStyle/>
        <a:p>
          <a:endParaRPr lang="pt-BR"/>
        </a:p>
      </dgm:t>
    </dgm:pt>
    <dgm:pt modelId="{E399CFD9-82DD-45CF-86E0-B2EAA045EB58}" type="pres">
      <dgm:prSet presAssocID="{88B7E9EB-E7F8-40C4-BD7D-9C70836657C6}" presName="parTxOnlySpace" presStyleCnt="0"/>
      <dgm:spPr/>
    </dgm:pt>
    <dgm:pt modelId="{666FEB95-7A27-4EEA-8344-D627867283E0}" type="pres">
      <dgm:prSet presAssocID="{F2339821-273B-4CFB-8A28-749E282DFF52}" presName="parTxOnly" presStyleLbl="node1" presStyleIdx="4" presStyleCnt="6">
        <dgm:presLayoutVars>
          <dgm:chMax val="0"/>
          <dgm:chPref val="0"/>
          <dgm:bulletEnabled val="1"/>
        </dgm:presLayoutVars>
      </dgm:prSet>
      <dgm:spPr/>
    </dgm:pt>
    <dgm:pt modelId="{D997A379-3583-4DBC-9D97-620F12410746}" type="pres">
      <dgm:prSet presAssocID="{B590B844-EECE-46DA-8C6E-252694592A05}" presName="parTxOnlySpace" presStyleCnt="0"/>
      <dgm:spPr/>
    </dgm:pt>
    <dgm:pt modelId="{747D7E51-78EF-46E2-A9FB-71271DF7C7A6}" type="pres">
      <dgm:prSet presAssocID="{2F465632-78AA-42A5-9A60-B00B6A8974F6}" presName="parTxOnly" presStyleLbl="node1" presStyleIdx="5" presStyleCnt="6">
        <dgm:presLayoutVars>
          <dgm:chMax val="0"/>
          <dgm:chPref val="0"/>
          <dgm:bulletEnabled val="1"/>
        </dgm:presLayoutVars>
      </dgm:prSet>
      <dgm:spPr/>
    </dgm:pt>
  </dgm:ptLst>
  <dgm:cxnLst>
    <dgm:cxn modelId="{3E3B7404-5577-4BF5-9352-20AF58470037}" type="presOf" srcId="{B965EEA3-3ADA-4217-BD36-9E6C0299D8D8}" destId="{55F7D8E0-F2CB-4204-8780-89F04DCD0986}" srcOrd="0" destOrd="0" presId="urn:microsoft.com/office/officeart/2005/8/layout/chevron1"/>
    <dgm:cxn modelId="{2965242B-3609-4363-A415-CECEE78CCB14}" type="presOf" srcId="{4B459129-4F85-4216-A1AD-F1ACC359687C}" destId="{C83A9B35-988C-4604-BBAA-FC4C2292228E}" srcOrd="0" destOrd="0" presId="urn:microsoft.com/office/officeart/2005/8/layout/chevron1"/>
    <dgm:cxn modelId="{A9984439-2475-4170-9F32-2ABF06CBEE5F}" type="presOf" srcId="{795CD268-474C-418A-A33C-58465CCC758C}" destId="{10262D9F-6459-4D66-BCDD-A44D67ADF650}" srcOrd="0" destOrd="0" presId="urn:microsoft.com/office/officeart/2005/8/layout/chevron1"/>
    <dgm:cxn modelId="{143C5602-7C91-4149-AD85-650BD67CD5CE}" type="presOf" srcId="{2F465632-78AA-42A5-9A60-B00B6A8974F6}" destId="{747D7E51-78EF-46E2-A9FB-71271DF7C7A6}" srcOrd="0" destOrd="0" presId="urn:microsoft.com/office/officeart/2005/8/layout/chevron1"/>
    <dgm:cxn modelId="{25518780-6EAD-43D7-8428-EA0772386AFF}" srcId="{FC0C981D-7750-4E88-91FF-E623F2D50424}" destId="{4B459129-4F85-4216-A1AD-F1ACC359687C}" srcOrd="0" destOrd="0" parTransId="{7F2A7124-BA8F-4B64-9ACA-98D7B9565C27}" sibTransId="{B5E95177-10F4-4906-A4FE-EF696B2D7E84}"/>
    <dgm:cxn modelId="{6DE3F552-C319-45D0-AE31-E3349D49DA28}" srcId="{FC0C981D-7750-4E88-91FF-E623F2D50424}" destId="{B3CA492C-B37C-4255-8119-7034F1854369}" srcOrd="3" destOrd="0" parTransId="{3A5C40DC-517A-464B-969E-AFE215835DDE}" sibTransId="{88B7E9EB-E7F8-40C4-BD7D-9C70836657C6}"/>
    <dgm:cxn modelId="{19BB6230-F86C-4742-9F80-7CB6EB3CD318}" type="presOf" srcId="{F2339821-273B-4CFB-8A28-749E282DFF52}" destId="{666FEB95-7A27-4EEA-8344-D627867283E0}" srcOrd="0" destOrd="0" presId="urn:microsoft.com/office/officeart/2005/8/layout/chevron1"/>
    <dgm:cxn modelId="{7D653B52-DC33-4ADF-98F0-F4407579FBBD}" srcId="{FC0C981D-7750-4E88-91FF-E623F2D50424}" destId="{795CD268-474C-418A-A33C-58465CCC758C}" srcOrd="1" destOrd="0" parTransId="{86CE4F39-A693-48A1-A46C-CDC96567B073}" sibTransId="{CF1E1F30-5E5C-4E3F-8F8D-B3894B5160D5}"/>
    <dgm:cxn modelId="{544D3F3C-A3FB-4F40-B7BC-43F35B203230}" srcId="{FC0C981D-7750-4E88-91FF-E623F2D50424}" destId="{B965EEA3-3ADA-4217-BD36-9E6C0299D8D8}" srcOrd="2" destOrd="0" parTransId="{D4585388-5D1B-4CE1-83AF-CAEF4FDE049D}" sibTransId="{797199AA-FBBF-41A5-BC89-21F6135F16B0}"/>
    <dgm:cxn modelId="{4948AD61-7C55-499D-9C3E-C5545CC57039}" type="presOf" srcId="{B3CA492C-B37C-4255-8119-7034F1854369}" destId="{7D9EF006-B2E8-492A-8823-FF2218D2E8F1}" srcOrd="0" destOrd="0" presId="urn:microsoft.com/office/officeart/2005/8/layout/chevron1"/>
    <dgm:cxn modelId="{DFD2802F-227B-46D8-9BD7-A79EA442B569}" srcId="{FC0C981D-7750-4E88-91FF-E623F2D50424}" destId="{F2339821-273B-4CFB-8A28-749E282DFF52}" srcOrd="4" destOrd="0" parTransId="{0B96D086-7F85-4F62-8DAE-B466DB02D645}" sibTransId="{B590B844-EECE-46DA-8C6E-252694592A05}"/>
    <dgm:cxn modelId="{321898CB-2281-4037-859D-9596588C8773}" type="presOf" srcId="{FC0C981D-7750-4E88-91FF-E623F2D50424}" destId="{BEAC93D7-5C16-44E0-8B64-DEB61DB0B2EB}" srcOrd="0" destOrd="0" presId="urn:microsoft.com/office/officeart/2005/8/layout/chevron1"/>
    <dgm:cxn modelId="{4D3F1307-8506-4876-ADA8-22185330261F}" srcId="{FC0C981D-7750-4E88-91FF-E623F2D50424}" destId="{2F465632-78AA-42A5-9A60-B00B6A8974F6}" srcOrd="5" destOrd="0" parTransId="{014ABB6F-C55E-4999-A86B-9618E7B4FC48}" sibTransId="{56E339D6-45E7-4EEC-BDA8-C53769E54334}"/>
    <dgm:cxn modelId="{28A37C0E-B609-4301-A801-D7ED9E18A534}" type="presParOf" srcId="{BEAC93D7-5C16-44E0-8B64-DEB61DB0B2EB}" destId="{C83A9B35-988C-4604-BBAA-FC4C2292228E}" srcOrd="0" destOrd="0" presId="urn:microsoft.com/office/officeart/2005/8/layout/chevron1"/>
    <dgm:cxn modelId="{05882557-4C5D-405B-AD2B-BE80EC7B9C64}" type="presParOf" srcId="{BEAC93D7-5C16-44E0-8B64-DEB61DB0B2EB}" destId="{6EB261F7-952B-4180-B545-BE29DA06A12D}" srcOrd="1" destOrd="0" presId="urn:microsoft.com/office/officeart/2005/8/layout/chevron1"/>
    <dgm:cxn modelId="{7C9688D9-9457-49E2-9133-63047C49105C}" type="presParOf" srcId="{BEAC93D7-5C16-44E0-8B64-DEB61DB0B2EB}" destId="{10262D9F-6459-4D66-BCDD-A44D67ADF650}" srcOrd="2" destOrd="0" presId="urn:microsoft.com/office/officeart/2005/8/layout/chevron1"/>
    <dgm:cxn modelId="{865ED2AE-D0EC-445C-9D28-B2B8DF5CE695}" type="presParOf" srcId="{BEAC93D7-5C16-44E0-8B64-DEB61DB0B2EB}" destId="{F426C9BE-C8C3-4548-B752-324A7743A022}" srcOrd="3" destOrd="0" presId="urn:microsoft.com/office/officeart/2005/8/layout/chevron1"/>
    <dgm:cxn modelId="{0894D859-2371-42AD-82E2-19CD1BED02AA}" type="presParOf" srcId="{BEAC93D7-5C16-44E0-8B64-DEB61DB0B2EB}" destId="{55F7D8E0-F2CB-4204-8780-89F04DCD0986}" srcOrd="4" destOrd="0" presId="urn:microsoft.com/office/officeart/2005/8/layout/chevron1"/>
    <dgm:cxn modelId="{07DE5A83-34B2-4294-B2EF-803E897FF03E}" type="presParOf" srcId="{BEAC93D7-5C16-44E0-8B64-DEB61DB0B2EB}" destId="{AE51C958-B2AD-44D2-9959-F2AF5F9F6CFB}" srcOrd="5" destOrd="0" presId="urn:microsoft.com/office/officeart/2005/8/layout/chevron1"/>
    <dgm:cxn modelId="{4ACFC4EA-614C-4973-9749-49B25CB9E145}" type="presParOf" srcId="{BEAC93D7-5C16-44E0-8B64-DEB61DB0B2EB}" destId="{7D9EF006-B2E8-492A-8823-FF2218D2E8F1}" srcOrd="6" destOrd="0" presId="urn:microsoft.com/office/officeart/2005/8/layout/chevron1"/>
    <dgm:cxn modelId="{AFBD53C9-39CB-43C5-B921-06C912BCE3AE}" type="presParOf" srcId="{BEAC93D7-5C16-44E0-8B64-DEB61DB0B2EB}" destId="{E399CFD9-82DD-45CF-86E0-B2EAA045EB58}" srcOrd="7" destOrd="0" presId="urn:microsoft.com/office/officeart/2005/8/layout/chevron1"/>
    <dgm:cxn modelId="{EAC0AE60-B68B-419B-9C92-7EF26AF0AA6E}" type="presParOf" srcId="{BEAC93D7-5C16-44E0-8B64-DEB61DB0B2EB}" destId="{666FEB95-7A27-4EEA-8344-D627867283E0}" srcOrd="8" destOrd="0" presId="urn:microsoft.com/office/officeart/2005/8/layout/chevron1"/>
    <dgm:cxn modelId="{8B9E8275-83C2-4597-A1B5-8AF822E9437F}" type="presParOf" srcId="{BEAC93D7-5C16-44E0-8B64-DEB61DB0B2EB}" destId="{D997A379-3583-4DBC-9D97-620F12410746}" srcOrd="9" destOrd="0" presId="urn:microsoft.com/office/officeart/2005/8/layout/chevron1"/>
    <dgm:cxn modelId="{FD30390E-3FE7-497C-908E-B2FF58F88E73}" type="presParOf" srcId="{BEAC93D7-5C16-44E0-8B64-DEB61DB0B2EB}" destId="{747D7E51-78EF-46E2-A9FB-71271DF7C7A6}" srcOrd="10" destOrd="0" presId="urn:microsoft.com/office/officeart/2005/8/layout/chevron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C83A9B35-988C-4604-BBAA-FC4C2292228E}">
      <dsp:nvSpPr>
        <dsp:cNvPr id="0" name=""/>
        <dsp:cNvSpPr/>
      </dsp:nvSpPr>
      <dsp:spPr>
        <a:xfrm>
          <a:off x="4917" y="661347"/>
          <a:ext cx="1829492" cy="731797"/>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pt-BR" sz="1600" kern="1200" dirty="0" smtClean="0"/>
            <a:t>Requisito</a:t>
          </a:r>
          <a:endParaRPr lang="pt-BR" sz="1600" kern="1200" dirty="0"/>
        </a:p>
      </dsp:txBody>
      <dsp:txXfrm>
        <a:off x="4917" y="661347"/>
        <a:ext cx="1829492" cy="731797"/>
      </dsp:txXfrm>
    </dsp:sp>
    <dsp:sp modelId="{10262D9F-6459-4D66-BCDD-A44D67ADF650}">
      <dsp:nvSpPr>
        <dsp:cNvPr id="0" name=""/>
        <dsp:cNvSpPr/>
      </dsp:nvSpPr>
      <dsp:spPr>
        <a:xfrm>
          <a:off x="1651461" y="661347"/>
          <a:ext cx="1829492" cy="731797"/>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pt-BR" sz="1600" kern="1200" dirty="0" smtClean="0"/>
            <a:t>Análise Requisitos</a:t>
          </a:r>
          <a:endParaRPr lang="pt-BR" sz="1600" kern="1200" dirty="0"/>
        </a:p>
      </dsp:txBody>
      <dsp:txXfrm>
        <a:off x="1651461" y="661347"/>
        <a:ext cx="1829492" cy="731797"/>
      </dsp:txXfrm>
    </dsp:sp>
    <dsp:sp modelId="{55F7D8E0-F2CB-4204-8780-89F04DCD0986}">
      <dsp:nvSpPr>
        <dsp:cNvPr id="0" name=""/>
        <dsp:cNvSpPr/>
      </dsp:nvSpPr>
      <dsp:spPr>
        <a:xfrm>
          <a:off x="3298005" y="661347"/>
          <a:ext cx="1829492" cy="731797"/>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pt-BR" sz="1600" kern="1200" dirty="0" smtClean="0"/>
            <a:t>Modelagem</a:t>
          </a:r>
          <a:endParaRPr lang="pt-BR" sz="1600" kern="1200" dirty="0"/>
        </a:p>
      </dsp:txBody>
      <dsp:txXfrm>
        <a:off x="3298005" y="661347"/>
        <a:ext cx="1829492" cy="731797"/>
      </dsp:txXfrm>
    </dsp:sp>
    <dsp:sp modelId="{7D9EF006-B2E8-492A-8823-FF2218D2E8F1}">
      <dsp:nvSpPr>
        <dsp:cNvPr id="0" name=""/>
        <dsp:cNvSpPr/>
      </dsp:nvSpPr>
      <dsp:spPr>
        <a:xfrm>
          <a:off x="4944548" y="661347"/>
          <a:ext cx="1829492" cy="731797"/>
        </a:xfrm>
        <a:prstGeom prst="chevr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pt-BR" sz="1600" kern="1200" dirty="0" smtClean="0"/>
            <a:t>Codificação</a:t>
          </a:r>
          <a:endParaRPr lang="pt-BR" sz="1600" kern="1200" dirty="0"/>
        </a:p>
      </dsp:txBody>
      <dsp:txXfrm>
        <a:off x="4944548" y="661347"/>
        <a:ext cx="1829492" cy="731797"/>
      </dsp:txXfrm>
    </dsp:sp>
    <dsp:sp modelId="{666FEB95-7A27-4EEA-8344-D627867283E0}">
      <dsp:nvSpPr>
        <dsp:cNvPr id="0" name=""/>
        <dsp:cNvSpPr/>
      </dsp:nvSpPr>
      <dsp:spPr>
        <a:xfrm>
          <a:off x="6591092" y="661347"/>
          <a:ext cx="1829492" cy="731797"/>
        </a:xfrm>
        <a:prstGeom prst="chevron">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pt-BR" sz="1600" kern="1200" dirty="0" smtClean="0"/>
            <a:t>Teste</a:t>
          </a:r>
          <a:endParaRPr lang="pt-BR" sz="1600" kern="1200" dirty="0"/>
        </a:p>
      </dsp:txBody>
      <dsp:txXfrm>
        <a:off x="6591092" y="661347"/>
        <a:ext cx="1829492" cy="731797"/>
      </dsp:txXfrm>
    </dsp:sp>
    <dsp:sp modelId="{747D7E51-78EF-46E2-A9FB-71271DF7C7A6}">
      <dsp:nvSpPr>
        <dsp:cNvPr id="0" name=""/>
        <dsp:cNvSpPr/>
      </dsp:nvSpPr>
      <dsp:spPr>
        <a:xfrm>
          <a:off x="8237636" y="661347"/>
          <a:ext cx="1829492" cy="731797"/>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pt-BR" sz="1600" kern="1200" dirty="0" smtClean="0"/>
            <a:t>Produção</a:t>
          </a:r>
          <a:endParaRPr lang="pt-BR" sz="1600" kern="1200" dirty="0"/>
        </a:p>
      </dsp:txBody>
      <dsp:txXfrm>
        <a:off x="8237636" y="661347"/>
        <a:ext cx="1829492" cy="731797"/>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pt-BR"/>
          </a:p>
        </p:txBody>
      </p:sp>
      <p:sp>
        <p:nvSpPr>
          <p:cNvPr id="3" name="Espaço Reservado para Data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3C4E5308-24F9-4E59-A158-D7F3AC14C68E}" type="datetimeFigureOut">
              <a:rPr lang="pt-BR" smtClean="0"/>
              <a:pPr/>
              <a:t>19/01/2018</a:t>
            </a:fld>
            <a:endParaRPr lang="pt-BR"/>
          </a:p>
        </p:txBody>
      </p:sp>
      <p:sp>
        <p:nvSpPr>
          <p:cNvPr id="4" name="Espaço Reservado para Imagem de Slide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pt-BR"/>
          </a:p>
        </p:txBody>
      </p:sp>
      <p:sp>
        <p:nvSpPr>
          <p:cNvPr id="5" name="Espaço Reservado para Anotações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Número de Slide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0BA2502A-E744-4300-9FE7-69E2F0B587C1}" type="slidenum">
              <a:rPr lang="pt-BR" smtClean="0"/>
              <a:pPr/>
              <a:t>‹nº›</a:t>
            </a:fld>
            <a:endParaRPr lang="pt-BR"/>
          </a:p>
        </p:txBody>
      </p:sp>
      <p:sp>
        <p:nvSpPr>
          <p:cNvPr id="8" name="Espaço Reservado para Rodapé 6"/>
          <p:cNvSpPr>
            <a:spLocks noGrp="1"/>
          </p:cNvSpPr>
          <p:nvPr>
            <p:ph type="ftr" sz="quarter" idx="4"/>
          </p:nvPr>
        </p:nvSpPr>
        <p:spPr>
          <a:xfrm>
            <a:off x="1" y="9748697"/>
            <a:ext cx="7104062" cy="485917"/>
          </a:xfrm>
          <a:prstGeom prst="rect">
            <a:avLst/>
          </a:prstGeom>
        </p:spPr>
        <p:txBody>
          <a:bodyPr lIns="99075" tIns="49538" rIns="99075" bIns="49538"/>
          <a:lstStyle/>
          <a:p>
            <a:pPr algn="ctr">
              <a:defRPr/>
            </a:pPr>
            <a:r>
              <a:rPr lang="en-US" sz="1300" dirty="0" smtClean="0">
                <a:solidFill>
                  <a:prstClr val="black">
                    <a:tint val="75000"/>
                  </a:prstClr>
                </a:solidFill>
              </a:rPr>
              <a:t>By CTS Consultoria.</a:t>
            </a:r>
          </a:p>
          <a:p>
            <a:pPr algn="ctr">
              <a:defRPr/>
            </a:pPr>
            <a:r>
              <a:rPr lang="en-US" sz="1300" dirty="0" smtClean="0">
                <a:solidFill>
                  <a:prstClr val="black">
                    <a:tint val="75000"/>
                  </a:prstClr>
                </a:solidFill>
              </a:rPr>
              <a:t>treinamento@ctsnet.com.br</a:t>
            </a:r>
            <a:endParaRPr lang="pt-BR" sz="1300" dirty="0">
              <a:solidFill>
                <a:prstClr val="black">
                  <a:tint val="75000"/>
                </a:prstClr>
              </a:solidFill>
            </a:endParaRPr>
          </a:p>
        </p:txBody>
      </p:sp>
    </p:spTree>
    <p:extLst>
      <p:ext uri="{BB962C8B-B14F-4D97-AF65-F5344CB8AC3E}">
        <p14:creationId xmlns:p14="http://schemas.microsoft.com/office/powerpoint/2010/main" xmlns="" val="1789957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8</a:t>
            </a:fld>
            <a:endParaRPr lang="pt-BR" dirty="0">
              <a:solidFill>
                <a:prstClr val="black"/>
              </a:solidFill>
              <a:latin typeface="Calibri"/>
            </a:endParaRPr>
          </a:p>
        </p:txBody>
      </p:sp>
    </p:spTree>
    <p:extLst>
      <p:ext uri="{BB962C8B-B14F-4D97-AF65-F5344CB8AC3E}">
        <p14:creationId xmlns:p14="http://schemas.microsoft.com/office/powerpoint/2010/main" xmlns="" val="4129302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29</a:t>
            </a:fld>
            <a:endParaRPr lang="pt-BR" dirty="0">
              <a:solidFill>
                <a:prstClr val="black"/>
              </a:solidFill>
              <a:latin typeface="Calibri"/>
            </a:endParaRPr>
          </a:p>
        </p:txBody>
      </p:sp>
    </p:spTree>
    <p:extLst>
      <p:ext uri="{BB962C8B-B14F-4D97-AF65-F5344CB8AC3E}">
        <p14:creationId xmlns:p14="http://schemas.microsoft.com/office/powerpoint/2010/main" xmlns="" val="41293026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30</a:t>
            </a:fld>
            <a:endParaRPr lang="pt-BR" dirty="0">
              <a:solidFill>
                <a:prstClr val="black"/>
              </a:solidFill>
              <a:latin typeface="Calibri"/>
            </a:endParaRPr>
          </a:p>
        </p:txBody>
      </p:sp>
    </p:spTree>
    <p:extLst>
      <p:ext uri="{BB962C8B-B14F-4D97-AF65-F5344CB8AC3E}">
        <p14:creationId xmlns:p14="http://schemas.microsoft.com/office/powerpoint/2010/main" xmlns="" val="4129302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31</a:t>
            </a:fld>
            <a:endParaRPr lang="pt-BR" dirty="0">
              <a:solidFill>
                <a:prstClr val="black"/>
              </a:solidFill>
              <a:latin typeface="Calibri"/>
            </a:endParaRPr>
          </a:p>
        </p:txBody>
      </p:sp>
    </p:spTree>
    <p:extLst>
      <p:ext uri="{BB962C8B-B14F-4D97-AF65-F5344CB8AC3E}">
        <p14:creationId xmlns:p14="http://schemas.microsoft.com/office/powerpoint/2010/main" xmlns="" val="890817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32</a:t>
            </a:fld>
            <a:endParaRPr lang="pt-BR" dirty="0">
              <a:solidFill>
                <a:prstClr val="black"/>
              </a:solidFill>
              <a:latin typeface="Calibri"/>
            </a:endParaRPr>
          </a:p>
        </p:txBody>
      </p:sp>
    </p:spTree>
    <p:extLst>
      <p:ext uri="{BB962C8B-B14F-4D97-AF65-F5344CB8AC3E}">
        <p14:creationId xmlns:p14="http://schemas.microsoft.com/office/powerpoint/2010/main" xmlns="" val="8908178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33</a:t>
            </a:fld>
            <a:endParaRPr lang="pt-BR" dirty="0">
              <a:solidFill>
                <a:prstClr val="black"/>
              </a:solidFill>
              <a:latin typeface="Calibri"/>
            </a:endParaRPr>
          </a:p>
        </p:txBody>
      </p:sp>
    </p:spTree>
    <p:extLst>
      <p:ext uri="{BB962C8B-B14F-4D97-AF65-F5344CB8AC3E}">
        <p14:creationId xmlns:p14="http://schemas.microsoft.com/office/powerpoint/2010/main" xmlns="" val="8908178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34</a:t>
            </a:fld>
            <a:endParaRPr lang="pt-BR" dirty="0">
              <a:solidFill>
                <a:prstClr val="black"/>
              </a:solidFill>
              <a:latin typeface="Calibri"/>
            </a:endParaRPr>
          </a:p>
        </p:txBody>
      </p:sp>
    </p:spTree>
    <p:extLst>
      <p:ext uri="{BB962C8B-B14F-4D97-AF65-F5344CB8AC3E}">
        <p14:creationId xmlns:p14="http://schemas.microsoft.com/office/powerpoint/2010/main" xmlns="" val="28357919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35</a:t>
            </a:fld>
            <a:endParaRPr lang="pt-BR" dirty="0">
              <a:solidFill>
                <a:prstClr val="black"/>
              </a:solidFill>
              <a:latin typeface="Calibri"/>
            </a:endParaRPr>
          </a:p>
        </p:txBody>
      </p:sp>
    </p:spTree>
    <p:extLst>
      <p:ext uri="{BB962C8B-B14F-4D97-AF65-F5344CB8AC3E}">
        <p14:creationId xmlns:p14="http://schemas.microsoft.com/office/powerpoint/2010/main" xmlns="" val="890817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36</a:t>
            </a:fld>
            <a:endParaRPr lang="pt-BR" dirty="0">
              <a:solidFill>
                <a:prstClr val="black"/>
              </a:solidFill>
              <a:latin typeface="Calibri"/>
            </a:endParaRPr>
          </a:p>
        </p:txBody>
      </p:sp>
    </p:spTree>
    <p:extLst>
      <p:ext uri="{BB962C8B-B14F-4D97-AF65-F5344CB8AC3E}">
        <p14:creationId xmlns:p14="http://schemas.microsoft.com/office/powerpoint/2010/main" xmlns="" val="8908178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37</a:t>
            </a:fld>
            <a:endParaRPr lang="pt-BR" dirty="0">
              <a:solidFill>
                <a:prstClr val="black"/>
              </a:solidFill>
              <a:latin typeface="Calibri"/>
            </a:endParaRPr>
          </a:p>
        </p:txBody>
      </p:sp>
    </p:spTree>
    <p:extLst>
      <p:ext uri="{BB962C8B-B14F-4D97-AF65-F5344CB8AC3E}">
        <p14:creationId xmlns:p14="http://schemas.microsoft.com/office/powerpoint/2010/main" xmlns="" val="3554151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38</a:t>
            </a:fld>
            <a:endParaRPr lang="pt-BR" dirty="0">
              <a:solidFill>
                <a:prstClr val="black"/>
              </a:solidFill>
              <a:latin typeface="Calibri"/>
            </a:endParaRPr>
          </a:p>
        </p:txBody>
      </p:sp>
    </p:spTree>
    <p:extLst>
      <p:ext uri="{BB962C8B-B14F-4D97-AF65-F5344CB8AC3E}">
        <p14:creationId xmlns:p14="http://schemas.microsoft.com/office/powerpoint/2010/main" xmlns="" val="3997108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pPr defTabSz="990752">
              <a:defRPr/>
            </a:pPr>
            <a:r>
              <a:rPr lang="pt-BR" sz="1300" dirty="0" smtClean="0">
                <a:solidFill>
                  <a:srgbClr val="333333"/>
                </a:solidFill>
                <a:latin typeface="Gill Sans MT" panose="020B0502020104020203" pitchFamily="34" charset="0"/>
              </a:rPr>
              <a:t>As metodologias ágeis estão cada vez mais presentes no cenário atual do mercado de desenvolvimento de software, ao se mostrarem como uma opção eficiente para entregar resultados no prazo esperado com qualidade.  Além da melhor geração de valor, as metodologias ágeis trazem outros benefícios, tais como flexibilidade, agilidade e foco no desenvolvimento do software propriamente dito. </a:t>
            </a:r>
          </a:p>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41</a:t>
            </a:fld>
            <a:endParaRPr lang="pt-BR" dirty="0">
              <a:solidFill>
                <a:prstClr val="black"/>
              </a:solidFill>
              <a:latin typeface="Calibri"/>
            </a:endParaRPr>
          </a:p>
        </p:txBody>
      </p:sp>
    </p:spTree>
    <p:extLst>
      <p:ext uri="{BB962C8B-B14F-4D97-AF65-F5344CB8AC3E}">
        <p14:creationId xmlns:p14="http://schemas.microsoft.com/office/powerpoint/2010/main" xmlns="" val="9287475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42</a:t>
            </a:fld>
            <a:endParaRPr lang="pt-BR" dirty="0">
              <a:solidFill>
                <a:prstClr val="black"/>
              </a:solidFill>
              <a:latin typeface="Calibri"/>
            </a:endParaRPr>
          </a:p>
        </p:txBody>
      </p:sp>
    </p:spTree>
    <p:extLst>
      <p:ext uri="{BB962C8B-B14F-4D97-AF65-F5344CB8AC3E}">
        <p14:creationId xmlns:p14="http://schemas.microsoft.com/office/powerpoint/2010/main" xmlns="" val="30144458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pPr algn="just"/>
            <a:r>
              <a:rPr lang="pt-BR" dirty="0" smtClean="0">
                <a:solidFill>
                  <a:srgbClr val="333333"/>
                </a:solidFill>
                <a:latin typeface="Verdana" panose="020B0604030504040204" pitchFamily="34" charset="0"/>
              </a:rPr>
              <a:t>O Manifesto Ágil é uma declaração de valores e princípios essenciais para o desenvolvimento de software. Ele foi criado em fevereiro de 2001, onde se reuniram 17 profissionais que já praticavam métodos ágeis como XP, DSDM, SCRUM, FDD e etc.</a:t>
            </a:r>
          </a:p>
          <a:p>
            <a:pPr algn="just"/>
            <a:r>
              <a:rPr lang="pt-BR" dirty="0" smtClean="0">
                <a:solidFill>
                  <a:srgbClr val="333333"/>
                </a:solidFill>
                <a:latin typeface="Verdana" panose="020B0604030504040204" pitchFamily="34" charset="0"/>
              </a:rPr>
              <a:t>Durante a reunião, foram observados os pontos comum de projetos que tiveram sucesso em suas metodologias e com base nesse pontos foi criado o Manifesto para Desenvolvimento Ágil de Software, no qual chamamos de Manifesto Ágil.</a:t>
            </a:r>
          </a:p>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43</a:t>
            </a:fld>
            <a:endParaRPr lang="pt-BR" dirty="0">
              <a:solidFill>
                <a:prstClr val="black"/>
              </a:solidFill>
              <a:latin typeface="Calibri"/>
            </a:endParaRPr>
          </a:p>
        </p:txBody>
      </p:sp>
    </p:spTree>
    <p:extLst>
      <p:ext uri="{BB962C8B-B14F-4D97-AF65-F5344CB8AC3E}">
        <p14:creationId xmlns:p14="http://schemas.microsoft.com/office/powerpoint/2010/main" xmlns="" val="29692382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r>
              <a:rPr lang="pt-BR" dirty="0" smtClean="0">
                <a:solidFill>
                  <a:srgbClr val="333333"/>
                </a:solidFill>
                <a:latin typeface="Verdana" panose="020B0604030504040204" pitchFamily="34" charset="0"/>
              </a:rPr>
              <a:t>Estamos descobrindo maneiras melhores de desenvolver software, fazendo-o nós mesmos e ajudando outros a fazê-lo. Por meio deste trabalho, passamos a valorizar:</a:t>
            </a:r>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44</a:t>
            </a:fld>
            <a:endParaRPr lang="pt-BR" dirty="0">
              <a:solidFill>
                <a:prstClr val="black"/>
              </a:solidFill>
              <a:latin typeface="Calibri"/>
            </a:endParaRPr>
          </a:p>
        </p:txBody>
      </p:sp>
    </p:spTree>
    <p:extLst>
      <p:ext uri="{BB962C8B-B14F-4D97-AF65-F5344CB8AC3E}">
        <p14:creationId xmlns:p14="http://schemas.microsoft.com/office/powerpoint/2010/main" xmlns="" val="28675700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45</a:t>
            </a:fld>
            <a:endParaRPr lang="pt-BR" dirty="0">
              <a:solidFill>
                <a:prstClr val="black"/>
              </a:solidFill>
              <a:latin typeface="Calibri"/>
            </a:endParaRPr>
          </a:p>
        </p:txBody>
      </p:sp>
    </p:spTree>
    <p:extLst>
      <p:ext uri="{BB962C8B-B14F-4D97-AF65-F5344CB8AC3E}">
        <p14:creationId xmlns:p14="http://schemas.microsoft.com/office/powerpoint/2010/main" xmlns="" val="2599835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46</a:t>
            </a:fld>
            <a:endParaRPr lang="pt-BR" dirty="0">
              <a:solidFill>
                <a:prstClr val="black"/>
              </a:solidFill>
              <a:latin typeface="Calibri"/>
            </a:endParaRPr>
          </a:p>
        </p:txBody>
      </p:sp>
    </p:spTree>
    <p:extLst>
      <p:ext uri="{BB962C8B-B14F-4D97-AF65-F5344CB8AC3E}">
        <p14:creationId xmlns:p14="http://schemas.microsoft.com/office/powerpoint/2010/main" xmlns="" val="32536321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47</a:t>
            </a:fld>
            <a:endParaRPr lang="pt-BR" dirty="0">
              <a:solidFill>
                <a:prstClr val="black"/>
              </a:solidFill>
              <a:latin typeface="Calibri"/>
            </a:endParaRPr>
          </a:p>
        </p:txBody>
      </p:sp>
    </p:spTree>
    <p:extLst>
      <p:ext uri="{BB962C8B-B14F-4D97-AF65-F5344CB8AC3E}">
        <p14:creationId xmlns:p14="http://schemas.microsoft.com/office/powerpoint/2010/main" xmlns="" val="31172284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r>
              <a:rPr lang="pt-BR" b="1" dirty="0" smtClean="0">
                <a:solidFill>
                  <a:srgbClr val="333333"/>
                </a:solidFill>
                <a:latin typeface="Verdana" panose="020B0604030504040204" pitchFamily="34" charset="0"/>
              </a:rPr>
              <a:t>Ouviremos muito a respeito dessas palavras e termos, então é  bom ir se acostumando.</a:t>
            </a:r>
          </a:p>
          <a:p>
            <a:endParaRPr lang="pt-BR" dirty="0" smtClean="0">
              <a:solidFill>
                <a:srgbClr val="333333"/>
              </a:solidFill>
              <a:latin typeface="Verdana" panose="020B0604030504040204" pitchFamily="34" charset="0"/>
            </a:endParaRPr>
          </a:p>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48</a:t>
            </a:fld>
            <a:endParaRPr lang="pt-BR" dirty="0">
              <a:solidFill>
                <a:prstClr val="black"/>
              </a:solidFill>
              <a:latin typeface="Calibri"/>
            </a:endParaRPr>
          </a:p>
        </p:txBody>
      </p:sp>
    </p:spTree>
    <p:extLst>
      <p:ext uri="{BB962C8B-B14F-4D97-AF65-F5344CB8AC3E}">
        <p14:creationId xmlns:p14="http://schemas.microsoft.com/office/powerpoint/2010/main" xmlns="" val="42225261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49</a:t>
            </a:fld>
            <a:endParaRPr lang="pt-BR" dirty="0">
              <a:solidFill>
                <a:prstClr val="black"/>
              </a:solidFill>
              <a:latin typeface="Calibri"/>
            </a:endParaRPr>
          </a:p>
        </p:txBody>
      </p:sp>
    </p:spTree>
    <p:extLst>
      <p:ext uri="{BB962C8B-B14F-4D97-AF65-F5344CB8AC3E}">
        <p14:creationId xmlns:p14="http://schemas.microsoft.com/office/powerpoint/2010/main" xmlns="" val="34344019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50</a:t>
            </a:fld>
            <a:endParaRPr lang="pt-BR" dirty="0">
              <a:solidFill>
                <a:prstClr val="black"/>
              </a:solidFill>
              <a:latin typeface="Calibri"/>
            </a:endParaRPr>
          </a:p>
        </p:txBody>
      </p:sp>
    </p:spTree>
    <p:extLst>
      <p:ext uri="{BB962C8B-B14F-4D97-AF65-F5344CB8AC3E}">
        <p14:creationId xmlns:p14="http://schemas.microsoft.com/office/powerpoint/2010/main" xmlns="" val="24025473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pPr defTabSz="990752">
              <a:defRPr/>
            </a:pPr>
            <a:r>
              <a:rPr lang="pt-BR" dirty="0" smtClean="0">
                <a:solidFill>
                  <a:srgbClr val="333333"/>
                </a:solidFill>
                <a:latin typeface="Verdana" panose="020B0604030504040204" pitchFamily="34" charset="0"/>
              </a:rPr>
              <a:t>Por mais que uma metodologia ágil </a:t>
            </a:r>
            <a:r>
              <a:rPr lang="pt-BR" dirty="0" err="1" smtClean="0">
                <a:solidFill>
                  <a:srgbClr val="333333"/>
                </a:solidFill>
                <a:latin typeface="Verdana" panose="020B0604030504040204" pitchFamily="34" charset="0"/>
              </a:rPr>
              <a:t>Scrum</a:t>
            </a:r>
            <a:r>
              <a:rPr lang="pt-BR" dirty="0" smtClean="0">
                <a:solidFill>
                  <a:srgbClr val="333333"/>
                </a:solidFill>
                <a:latin typeface="Verdana" panose="020B0604030504040204" pitchFamily="34" charset="0"/>
              </a:rPr>
              <a:t> priorize a entrega do software em detrimento de uma extensa e trabalhosa documentação, a elaboração e a consequente manipulação de alguns artefatos neste modelo é de fundamental importância para o controle das atividades rotineiras. A seguir estão listados tais documentos:</a:t>
            </a:r>
          </a:p>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51</a:t>
            </a:fld>
            <a:endParaRPr lang="pt-BR" dirty="0">
              <a:solidFill>
                <a:prstClr val="black"/>
              </a:solidFill>
              <a:latin typeface="Calibri"/>
            </a:endParaRPr>
          </a:p>
        </p:txBody>
      </p:sp>
    </p:spTree>
    <p:extLst>
      <p:ext uri="{BB962C8B-B14F-4D97-AF65-F5344CB8AC3E}">
        <p14:creationId xmlns:p14="http://schemas.microsoft.com/office/powerpoint/2010/main" xmlns="" val="11354048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pPr algn="just"/>
            <a:r>
              <a:rPr lang="pt-BR" dirty="0" err="1" smtClean="0">
                <a:solidFill>
                  <a:srgbClr val="333333"/>
                </a:solidFill>
                <a:latin typeface="Helvetica Neue"/>
              </a:rPr>
              <a:t>Scrum</a:t>
            </a:r>
            <a:r>
              <a:rPr lang="pt-BR" dirty="0" smtClean="0">
                <a:solidFill>
                  <a:srgbClr val="333333"/>
                </a:solidFill>
                <a:latin typeface="Helvetica Neue"/>
              </a:rPr>
              <a:t> é uma metodologia ágil para gestão e planejamento de projetos de software.</a:t>
            </a:r>
          </a:p>
          <a:p>
            <a:pPr algn="just"/>
            <a:r>
              <a:rPr lang="pt-BR" dirty="0" smtClean="0">
                <a:solidFill>
                  <a:srgbClr val="333333"/>
                </a:solidFill>
                <a:latin typeface="Helvetica Neue"/>
              </a:rPr>
              <a:t>No </a:t>
            </a:r>
            <a:r>
              <a:rPr lang="pt-BR" dirty="0" err="1" smtClean="0">
                <a:solidFill>
                  <a:srgbClr val="333333"/>
                </a:solidFill>
                <a:latin typeface="Helvetica Neue"/>
              </a:rPr>
              <a:t>Scrum</a:t>
            </a:r>
            <a:r>
              <a:rPr lang="pt-BR" dirty="0" smtClean="0">
                <a:solidFill>
                  <a:srgbClr val="333333"/>
                </a:solidFill>
                <a:latin typeface="Helvetica Neue"/>
              </a:rPr>
              <a:t>, os projetos são </a:t>
            </a:r>
            <a:r>
              <a:rPr lang="pt-BR" dirty="0" err="1" smtClean="0">
                <a:solidFill>
                  <a:srgbClr val="333333"/>
                </a:solidFill>
                <a:latin typeface="Helvetica Neue"/>
              </a:rPr>
              <a:t>dividos</a:t>
            </a:r>
            <a:r>
              <a:rPr lang="pt-BR" dirty="0" smtClean="0">
                <a:solidFill>
                  <a:srgbClr val="333333"/>
                </a:solidFill>
                <a:latin typeface="Helvetica Neue"/>
              </a:rPr>
              <a:t> em ciclos (tipicamente mensais) chamados de </a:t>
            </a:r>
            <a:r>
              <a:rPr lang="pt-BR" dirty="0" err="1" smtClean="0">
                <a:solidFill>
                  <a:srgbClr val="333333"/>
                </a:solidFill>
                <a:latin typeface="Helvetica Neue"/>
              </a:rPr>
              <a:t>Sprints</a:t>
            </a:r>
            <a:r>
              <a:rPr lang="pt-BR" dirty="0" smtClean="0">
                <a:solidFill>
                  <a:srgbClr val="333333"/>
                </a:solidFill>
                <a:latin typeface="Helvetica Neue"/>
              </a:rPr>
              <a:t>. O Sprint representa um Time Box dentro do qual um conjunto de atividades deve ser executado. Metodologias ágeis de desenvolvimento de software são iterativas, ou seja, o trabalho é dividido em iterações, que são chamadas de </a:t>
            </a:r>
            <a:r>
              <a:rPr lang="pt-BR" dirty="0" err="1" smtClean="0">
                <a:solidFill>
                  <a:srgbClr val="333333"/>
                </a:solidFill>
                <a:latin typeface="Helvetica Neue"/>
              </a:rPr>
              <a:t>Sprints</a:t>
            </a:r>
            <a:r>
              <a:rPr lang="pt-BR" dirty="0" smtClean="0">
                <a:solidFill>
                  <a:srgbClr val="333333"/>
                </a:solidFill>
                <a:latin typeface="Helvetica Neue"/>
              </a:rPr>
              <a:t> no caso do </a:t>
            </a:r>
            <a:r>
              <a:rPr lang="pt-BR" dirty="0" err="1" smtClean="0">
                <a:solidFill>
                  <a:srgbClr val="333333"/>
                </a:solidFill>
                <a:latin typeface="Helvetica Neue"/>
              </a:rPr>
              <a:t>Scrum</a:t>
            </a:r>
            <a:r>
              <a:rPr lang="pt-BR" dirty="0" smtClean="0">
                <a:solidFill>
                  <a:srgbClr val="333333"/>
                </a:solidFill>
                <a:latin typeface="Helvetica Neue"/>
              </a:rPr>
              <a:t>.</a:t>
            </a:r>
          </a:p>
          <a:p>
            <a:pPr algn="just"/>
            <a:endParaRPr lang="pt-BR" dirty="0" smtClean="0">
              <a:solidFill>
                <a:srgbClr val="333333"/>
              </a:solidFill>
              <a:latin typeface="Helvetica Neue"/>
            </a:endParaRPr>
          </a:p>
          <a:p>
            <a:pPr algn="just"/>
            <a:r>
              <a:rPr lang="pt-BR" dirty="0" smtClean="0">
                <a:solidFill>
                  <a:srgbClr val="333333"/>
                </a:solidFill>
                <a:latin typeface="Helvetica Neue"/>
              </a:rPr>
              <a:t>As funcionalidades a serem implementadas em um projeto são mantidas em uma lista que é conhecida como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Backlog</a:t>
            </a:r>
            <a:r>
              <a:rPr lang="pt-BR" dirty="0" smtClean="0">
                <a:solidFill>
                  <a:srgbClr val="333333"/>
                </a:solidFill>
                <a:latin typeface="Helvetica Neue"/>
              </a:rPr>
              <a:t>. No início de cada Sprint, faz-se um Sprint Planning Meeting, ou seja, uma reunião de planejamento na qual 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Owner</a:t>
            </a:r>
            <a:r>
              <a:rPr lang="pt-BR" dirty="0" smtClean="0">
                <a:solidFill>
                  <a:srgbClr val="333333"/>
                </a:solidFill>
                <a:latin typeface="Helvetica Neue"/>
              </a:rPr>
              <a:t> prioriza os itens do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Backlog</a:t>
            </a:r>
            <a:r>
              <a:rPr lang="pt-BR" dirty="0" smtClean="0">
                <a:solidFill>
                  <a:srgbClr val="333333"/>
                </a:solidFill>
                <a:latin typeface="Helvetica Neue"/>
              </a:rPr>
              <a:t> e a equipe seleciona as atividades que ela será capaz de implementar durante o Sprint que se inicia. As tarefas alocadas em um Sprint são transferidas do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Backlog</a:t>
            </a:r>
            <a:r>
              <a:rPr lang="pt-BR" dirty="0" smtClean="0">
                <a:solidFill>
                  <a:srgbClr val="333333"/>
                </a:solidFill>
                <a:latin typeface="Helvetica Neue"/>
              </a:rPr>
              <a:t> para o Sprint </a:t>
            </a:r>
            <a:r>
              <a:rPr lang="pt-BR" dirty="0" err="1" smtClean="0">
                <a:solidFill>
                  <a:srgbClr val="333333"/>
                </a:solidFill>
                <a:latin typeface="Helvetica Neue"/>
              </a:rPr>
              <a:t>Backlog</a:t>
            </a:r>
            <a:r>
              <a:rPr lang="pt-BR" dirty="0" smtClean="0">
                <a:solidFill>
                  <a:srgbClr val="333333"/>
                </a:solidFill>
                <a:latin typeface="Helvetica Neue"/>
              </a:rPr>
              <a:t>.</a:t>
            </a:r>
          </a:p>
          <a:p>
            <a:pPr algn="just"/>
            <a:endParaRPr lang="pt-BR" dirty="0" smtClean="0">
              <a:solidFill>
                <a:srgbClr val="333333"/>
              </a:solidFill>
              <a:latin typeface="Helvetica Neue"/>
            </a:endParaRPr>
          </a:p>
          <a:p>
            <a:pPr algn="just"/>
            <a:r>
              <a:rPr lang="pt-BR" dirty="0" smtClean="0">
                <a:solidFill>
                  <a:srgbClr val="333333"/>
                </a:solidFill>
                <a:latin typeface="Helvetica Neue"/>
              </a:rPr>
              <a:t>A cada dia de uma Sprint, a equipe faz uma breve reunião (normalmente de manhã), chamada Daily </a:t>
            </a:r>
            <a:r>
              <a:rPr lang="pt-BR" dirty="0" err="1" smtClean="0">
                <a:solidFill>
                  <a:srgbClr val="333333"/>
                </a:solidFill>
                <a:latin typeface="Helvetica Neue"/>
              </a:rPr>
              <a:t>Scrum</a:t>
            </a:r>
            <a:r>
              <a:rPr lang="pt-BR" dirty="0" smtClean="0">
                <a:solidFill>
                  <a:srgbClr val="333333"/>
                </a:solidFill>
                <a:latin typeface="Helvetica Neue"/>
              </a:rPr>
              <a:t>. O objetivo é disseminar conhecimento sobre o que foi feito no dia anterior, identificar impedimentos e priorizar o trabalho do dia que se inicia.</a:t>
            </a:r>
          </a:p>
          <a:p>
            <a:pPr algn="just"/>
            <a:endParaRPr lang="pt-BR" dirty="0" smtClean="0">
              <a:solidFill>
                <a:srgbClr val="333333"/>
              </a:solidFill>
              <a:latin typeface="Helvetica Neue"/>
            </a:endParaRPr>
          </a:p>
          <a:p>
            <a:pPr algn="just"/>
            <a:r>
              <a:rPr lang="pt-BR" dirty="0" smtClean="0">
                <a:solidFill>
                  <a:srgbClr val="333333"/>
                </a:solidFill>
                <a:latin typeface="Helvetica Neue"/>
              </a:rPr>
              <a:t>Ao final de um Sprint, a equipe apresenta as funcionalidades implementadas em uma Sprint </a:t>
            </a:r>
            <a:r>
              <a:rPr lang="pt-BR" dirty="0" err="1" smtClean="0">
                <a:solidFill>
                  <a:srgbClr val="333333"/>
                </a:solidFill>
                <a:latin typeface="Helvetica Neue"/>
              </a:rPr>
              <a:t>Review</a:t>
            </a:r>
            <a:r>
              <a:rPr lang="pt-BR" dirty="0" smtClean="0">
                <a:solidFill>
                  <a:srgbClr val="333333"/>
                </a:solidFill>
                <a:latin typeface="Helvetica Neue"/>
              </a:rPr>
              <a:t> Meeting. Finalmente, faz-se uma Sprint </a:t>
            </a:r>
            <a:r>
              <a:rPr lang="pt-BR" dirty="0" err="1" smtClean="0">
                <a:solidFill>
                  <a:srgbClr val="333333"/>
                </a:solidFill>
                <a:latin typeface="Helvetica Neue"/>
              </a:rPr>
              <a:t>Retrospective</a:t>
            </a:r>
            <a:r>
              <a:rPr lang="pt-BR" dirty="0" smtClean="0">
                <a:solidFill>
                  <a:srgbClr val="333333"/>
                </a:solidFill>
                <a:latin typeface="Helvetica Neue"/>
              </a:rPr>
              <a:t> e a equipe parte para o planejamento do próximo Sprint. Assim reinicia-se o ciclo.</a:t>
            </a:r>
          </a:p>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53</a:t>
            </a:fld>
            <a:endParaRPr lang="pt-BR" dirty="0">
              <a:solidFill>
                <a:prstClr val="black"/>
              </a:solidFill>
              <a:latin typeface="Calibri"/>
            </a:endParaRPr>
          </a:p>
        </p:txBody>
      </p:sp>
    </p:spTree>
    <p:extLst>
      <p:ext uri="{BB962C8B-B14F-4D97-AF65-F5344CB8AC3E}">
        <p14:creationId xmlns:p14="http://schemas.microsoft.com/office/powerpoint/2010/main" xmlns="" val="20892876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pPr algn="just"/>
            <a:r>
              <a:rPr lang="pt-BR" dirty="0" err="1" smtClean="0">
                <a:solidFill>
                  <a:srgbClr val="333333"/>
                </a:solidFill>
                <a:latin typeface="Helvetica Neue"/>
              </a:rPr>
              <a:t>Scrum</a:t>
            </a:r>
            <a:r>
              <a:rPr lang="pt-BR" dirty="0" smtClean="0">
                <a:solidFill>
                  <a:srgbClr val="333333"/>
                </a:solidFill>
                <a:latin typeface="Helvetica Neue"/>
              </a:rPr>
              <a:t> é uma metodologia ágil para gestão e planejamento de projetos de software.</a:t>
            </a:r>
          </a:p>
          <a:p>
            <a:pPr algn="just"/>
            <a:r>
              <a:rPr lang="pt-BR" dirty="0" smtClean="0">
                <a:solidFill>
                  <a:srgbClr val="333333"/>
                </a:solidFill>
                <a:latin typeface="Helvetica Neue"/>
              </a:rPr>
              <a:t>No </a:t>
            </a:r>
            <a:r>
              <a:rPr lang="pt-BR" dirty="0" err="1" smtClean="0">
                <a:solidFill>
                  <a:srgbClr val="333333"/>
                </a:solidFill>
                <a:latin typeface="Helvetica Neue"/>
              </a:rPr>
              <a:t>Scrum</a:t>
            </a:r>
            <a:r>
              <a:rPr lang="pt-BR" dirty="0" smtClean="0">
                <a:solidFill>
                  <a:srgbClr val="333333"/>
                </a:solidFill>
                <a:latin typeface="Helvetica Neue"/>
              </a:rPr>
              <a:t>, os projetos são </a:t>
            </a:r>
            <a:r>
              <a:rPr lang="pt-BR" dirty="0" err="1" smtClean="0">
                <a:solidFill>
                  <a:srgbClr val="333333"/>
                </a:solidFill>
                <a:latin typeface="Helvetica Neue"/>
              </a:rPr>
              <a:t>dividos</a:t>
            </a:r>
            <a:r>
              <a:rPr lang="pt-BR" dirty="0" smtClean="0">
                <a:solidFill>
                  <a:srgbClr val="333333"/>
                </a:solidFill>
                <a:latin typeface="Helvetica Neue"/>
              </a:rPr>
              <a:t> em ciclos (tipicamente mensais) chamados de </a:t>
            </a:r>
            <a:r>
              <a:rPr lang="pt-BR" dirty="0" err="1" smtClean="0">
                <a:solidFill>
                  <a:srgbClr val="333333"/>
                </a:solidFill>
                <a:latin typeface="Helvetica Neue"/>
              </a:rPr>
              <a:t>Sprints</a:t>
            </a:r>
            <a:r>
              <a:rPr lang="pt-BR" dirty="0" smtClean="0">
                <a:solidFill>
                  <a:srgbClr val="333333"/>
                </a:solidFill>
                <a:latin typeface="Helvetica Neue"/>
              </a:rPr>
              <a:t>. O Sprint representa um Time Box dentro do qual um conjunto de atividades deve ser executado. Metodologias ágeis de desenvolvimento de software são iterativas, ou seja, o trabalho é dividido em iterações, que são chamadas de </a:t>
            </a:r>
            <a:r>
              <a:rPr lang="pt-BR" dirty="0" err="1" smtClean="0">
                <a:solidFill>
                  <a:srgbClr val="333333"/>
                </a:solidFill>
                <a:latin typeface="Helvetica Neue"/>
              </a:rPr>
              <a:t>Sprints</a:t>
            </a:r>
            <a:r>
              <a:rPr lang="pt-BR" dirty="0" smtClean="0">
                <a:solidFill>
                  <a:srgbClr val="333333"/>
                </a:solidFill>
                <a:latin typeface="Helvetica Neue"/>
              </a:rPr>
              <a:t> no caso do </a:t>
            </a:r>
            <a:r>
              <a:rPr lang="pt-BR" dirty="0" err="1" smtClean="0">
                <a:solidFill>
                  <a:srgbClr val="333333"/>
                </a:solidFill>
                <a:latin typeface="Helvetica Neue"/>
              </a:rPr>
              <a:t>Scrum</a:t>
            </a:r>
            <a:r>
              <a:rPr lang="pt-BR" dirty="0" smtClean="0">
                <a:solidFill>
                  <a:srgbClr val="333333"/>
                </a:solidFill>
                <a:latin typeface="Helvetica Neue"/>
              </a:rPr>
              <a:t>.</a:t>
            </a:r>
          </a:p>
          <a:p>
            <a:pPr algn="just"/>
            <a:endParaRPr lang="pt-BR" dirty="0" smtClean="0">
              <a:solidFill>
                <a:srgbClr val="333333"/>
              </a:solidFill>
              <a:latin typeface="Helvetica Neue"/>
            </a:endParaRPr>
          </a:p>
          <a:p>
            <a:pPr algn="just"/>
            <a:r>
              <a:rPr lang="pt-BR" dirty="0" smtClean="0">
                <a:solidFill>
                  <a:srgbClr val="333333"/>
                </a:solidFill>
                <a:latin typeface="Helvetica Neue"/>
              </a:rPr>
              <a:t>As funcionalidades a serem implementadas em um projeto são mantidas em uma lista que é conhecida como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Backlog</a:t>
            </a:r>
            <a:r>
              <a:rPr lang="pt-BR" dirty="0" smtClean="0">
                <a:solidFill>
                  <a:srgbClr val="333333"/>
                </a:solidFill>
                <a:latin typeface="Helvetica Neue"/>
              </a:rPr>
              <a:t>. No início de cada Sprint, faz-se um Sprint Planning Meeting, ou seja, uma reunião de planejamento na qual 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Owner</a:t>
            </a:r>
            <a:r>
              <a:rPr lang="pt-BR" dirty="0" smtClean="0">
                <a:solidFill>
                  <a:srgbClr val="333333"/>
                </a:solidFill>
                <a:latin typeface="Helvetica Neue"/>
              </a:rPr>
              <a:t> prioriza os itens do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Backlog</a:t>
            </a:r>
            <a:r>
              <a:rPr lang="pt-BR" dirty="0" smtClean="0">
                <a:solidFill>
                  <a:srgbClr val="333333"/>
                </a:solidFill>
                <a:latin typeface="Helvetica Neue"/>
              </a:rPr>
              <a:t> e a equipe seleciona as atividades que ela será capaz de implementar durante o Sprint que se inicia. As tarefas alocadas em um Sprint são transferidas do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Backlog</a:t>
            </a:r>
            <a:r>
              <a:rPr lang="pt-BR" dirty="0" smtClean="0">
                <a:solidFill>
                  <a:srgbClr val="333333"/>
                </a:solidFill>
                <a:latin typeface="Helvetica Neue"/>
              </a:rPr>
              <a:t> para o Sprint </a:t>
            </a:r>
            <a:r>
              <a:rPr lang="pt-BR" dirty="0" err="1" smtClean="0">
                <a:solidFill>
                  <a:srgbClr val="333333"/>
                </a:solidFill>
                <a:latin typeface="Helvetica Neue"/>
              </a:rPr>
              <a:t>Backlog</a:t>
            </a:r>
            <a:r>
              <a:rPr lang="pt-BR" dirty="0" smtClean="0">
                <a:solidFill>
                  <a:srgbClr val="333333"/>
                </a:solidFill>
                <a:latin typeface="Helvetica Neue"/>
              </a:rPr>
              <a:t>.</a:t>
            </a:r>
          </a:p>
          <a:p>
            <a:pPr algn="just"/>
            <a:endParaRPr lang="pt-BR" dirty="0" smtClean="0">
              <a:solidFill>
                <a:srgbClr val="333333"/>
              </a:solidFill>
              <a:latin typeface="Helvetica Neue"/>
            </a:endParaRPr>
          </a:p>
          <a:p>
            <a:pPr algn="just"/>
            <a:r>
              <a:rPr lang="pt-BR" dirty="0" smtClean="0">
                <a:solidFill>
                  <a:srgbClr val="333333"/>
                </a:solidFill>
                <a:latin typeface="Helvetica Neue"/>
              </a:rPr>
              <a:t>A cada dia de uma Sprint, a equipe faz uma breve reunião (normalmente de manhã), chamada Daily </a:t>
            </a:r>
            <a:r>
              <a:rPr lang="pt-BR" dirty="0" err="1" smtClean="0">
                <a:solidFill>
                  <a:srgbClr val="333333"/>
                </a:solidFill>
                <a:latin typeface="Helvetica Neue"/>
              </a:rPr>
              <a:t>Scrum</a:t>
            </a:r>
            <a:r>
              <a:rPr lang="pt-BR" dirty="0" smtClean="0">
                <a:solidFill>
                  <a:srgbClr val="333333"/>
                </a:solidFill>
                <a:latin typeface="Helvetica Neue"/>
              </a:rPr>
              <a:t>. O objetivo é disseminar conhecimento sobre o que foi feito no dia anterior, identificar impedimentos e priorizar o trabalho do dia que se inicia.</a:t>
            </a:r>
          </a:p>
          <a:p>
            <a:pPr algn="just"/>
            <a:endParaRPr lang="pt-BR" dirty="0" smtClean="0">
              <a:solidFill>
                <a:srgbClr val="333333"/>
              </a:solidFill>
              <a:latin typeface="Helvetica Neue"/>
            </a:endParaRPr>
          </a:p>
          <a:p>
            <a:pPr algn="just"/>
            <a:r>
              <a:rPr lang="pt-BR" dirty="0" smtClean="0">
                <a:solidFill>
                  <a:srgbClr val="333333"/>
                </a:solidFill>
                <a:latin typeface="Helvetica Neue"/>
              </a:rPr>
              <a:t>Ao final de um Sprint, a equipe apresenta as funcionalidades implementadas em uma Sprint </a:t>
            </a:r>
            <a:r>
              <a:rPr lang="pt-BR" dirty="0" err="1" smtClean="0">
                <a:solidFill>
                  <a:srgbClr val="333333"/>
                </a:solidFill>
                <a:latin typeface="Helvetica Neue"/>
              </a:rPr>
              <a:t>Review</a:t>
            </a:r>
            <a:r>
              <a:rPr lang="pt-BR" dirty="0" smtClean="0">
                <a:solidFill>
                  <a:srgbClr val="333333"/>
                </a:solidFill>
                <a:latin typeface="Helvetica Neue"/>
              </a:rPr>
              <a:t> Meeting. Finalmente, faz-se uma Sprint </a:t>
            </a:r>
            <a:r>
              <a:rPr lang="pt-BR" dirty="0" err="1" smtClean="0">
                <a:solidFill>
                  <a:srgbClr val="333333"/>
                </a:solidFill>
                <a:latin typeface="Helvetica Neue"/>
              </a:rPr>
              <a:t>Retrospective</a:t>
            </a:r>
            <a:r>
              <a:rPr lang="pt-BR" dirty="0" smtClean="0">
                <a:solidFill>
                  <a:srgbClr val="333333"/>
                </a:solidFill>
                <a:latin typeface="Helvetica Neue"/>
              </a:rPr>
              <a:t> e a equipe parte para o planejamento do próximo Sprint. Assim reinicia-se o ciclo.</a:t>
            </a:r>
          </a:p>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54</a:t>
            </a:fld>
            <a:endParaRPr lang="pt-BR" dirty="0">
              <a:solidFill>
                <a:prstClr val="black"/>
              </a:solidFill>
              <a:latin typeface="Calibri"/>
            </a:endParaRPr>
          </a:p>
        </p:txBody>
      </p:sp>
    </p:spTree>
    <p:extLst>
      <p:ext uri="{BB962C8B-B14F-4D97-AF65-F5344CB8AC3E}">
        <p14:creationId xmlns:p14="http://schemas.microsoft.com/office/powerpoint/2010/main" xmlns="" val="1796753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pPr defTabSz="990752">
              <a:defRPr/>
            </a:pPr>
            <a:r>
              <a:rPr lang="pt-BR" dirty="0" smtClean="0">
                <a:solidFill>
                  <a:srgbClr val="232323"/>
                </a:solidFill>
                <a:latin typeface="tahoma" panose="020B0604030504040204" pitchFamily="34" charset="0"/>
              </a:rPr>
              <a:t>No </a:t>
            </a:r>
            <a:r>
              <a:rPr lang="pt-BR" dirty="0" err="1" smtClean="0">
                <a:solidFill>
                  <a:srgbClr val="232323"/>
                </a:solidFill>
                <a:latin typeface="tahoma" panose="020B0604030504040204" pitchFamily="34" charset="0"/>
              </a:rPr>
              <a:t>Scrum</a:t>
            </a:r>
            <a:r>
              <a:rPr lang="pt-BR" dirty="0" smtClean="0">
                <a:solidFill>
                  <a:srgbClr val="232323"/>
                </a:solidFill>
                <a:latin typeface="tahoma" panose="020B0604030504040204" pitchFamily="34" charset="0"/>
              </a:rPr>
              <a:t>, a reunião diária é o momento onde cada membro da equipe relata o que fez, o que pretende fazer e quais impedimentos encontrou desde a reunião anterior. Essa reunião deve ser rápida, mas ao trabalhar em equipe, ela é fundamental para que todos tenham conhecimento do andamento da Sprint e analisem se alguma medida se faz necessária.</a:t>
            </a:r>
            <a:endParaRPr lang="pt-BR" dirty="0" smtClean="0"/>
          </a:p>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55</a:t>
            </a:fld>
            <a:endParaRPr lang="pt-BR" dirty="0">
              <a:solidFill>
                <a:prstClr val="black"/>
              </a:solidFill>
              <a:latin typeface="Calibri"/>
            </a:endParaRPr>
          </a:p>
        </p:txBody>
      </p:sp>
    </p:spTree>
    <p:extLst>
      <p:ext uri="{BB962C8B-B14F-4D97-AF65-F5344CB8AC3E}">
        <p14:creationId xmlns:p14="http://schemas.microsoft.com/office/powerpoint/2010/main" xmlns="" val="40009842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pPr algn="just"/>
            <a:r>
              <a:rPr lang="pt-BR" dirty="0" smtClean="0">
                <a:solidFill>
                  <a:srgbClr val="333333"/>
                </a:solidFill>
                <a:latin typeface="Helvetica Neue"/>
              </a:rPr>
              <a:t>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Backlog</a:t>
            </a:r>
            <a:r>
              <a:rPr lang="pt-BR" dirty="0" smtClean="0">
                <a:solidFill>
                  <a:srgbClr val="333333"/>
                </a:solidFill>
                <a:latin typeface="Helvetica Neue"/>
              </a:rPr>
              <a:t> é uma lista contendo todas as funcionalidades desejadas para um produto. O conteúdo desta lista é definido pelo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Owner</a:t>
            </a:r>
            <a:r>
              <a:rPr lang="pt-BR" dirty="0" smtClean="0">
                <a:solidFill>
                  <a:srgbClr val="333333"/>
                </a:solidFill>
                <a:latin typeface="Helvetica Neue"/>
              </a:rPr>
              <a:t>. 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Backlog</a:t>
            </a:r>
            <a:r>
              <a:rPr lang="pt-BR" dirty="0" smtClean="0">
                <a:solidFill>
                  <a:srgbClr val="333333"/>
                </a:solidFill>
                <a:latin typeface="Helvetica Neue"/>
              </a:rPr>
              <a:t> não precisa estar completo no início de um projeto. Pode-se começar com tudo aquilo que é mais óbvio em um primeiro momento. Com o tempo, 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Backlog</a:t>
            </a:r>
            <a:r>
              <a:rPr lang="pt-BR" dirty="0" smtClean="0">
                <a:solidFill>
                  <a:srgbClr val="333333"/>
                </a:solidFill>
                <a:latin typeface="Helvetica Neue"/>
              </a:rPr>
              <a:t> cresce e muda à medida que se aprende mais sobre o produto e seus usuários.</a:t>
            </a:r>
          </a:p>
          <a:p>
            <a:pPr algn="just"/>
            <a:r>
              <a:rPr lang="pt-BR" dirty="0" smtClean="0">
                <a:solidFill>
                  <a:srgbClr val="333333"/>
                </a:solidFill>
                <a:latin typeface="Helvetica Neue"/>
              </a:rPr>
              <a:t>Durante o Sprint Planning Meeting, 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Owner</a:t>
            </a:r>
            <a:r>
              <a:rPr lang="pt-BR" dirty="0" smtClean="0">
                <a:solidFill>
                  <a:srgbClr val="333333"/>
                </a:solidFill>
                <a:latin typeface="Helvetica Neue"/>
              </a:rPr>
              <a:t> prioriza os itens do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Backlog</a:t>
            </a:r>
            <a:r>
              <a:rPr lang="pt-BR" dirty="0" smtClean="0">
                <a:solidFill>
                  <a:srgbClr val="333333"/>
                </a:solidFill>
                <a:latin typeface="Helvetica Neue"/>
              </a:rPr>
              <a:t> e os descreve para a equipe. A equipe então determina que itens será capaz de completar durante a Sprint que está por começar. Tais itens são, então, transferidos do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Backlog</a:t>
            </a:r>
            <a:r>
              <a:rPr lang="pt-BR" dirty="0" smtClean="0">
                <a:solidFill>
                  <a:srgbClr val="333333"/>
                </a:solidFill>
                <a:latin typeface="Helvetica Neue"/>
              </a:rPr>
              <a:t> para o Sprint </a:t>
            </a:r>
            <a:r>
              <a:rPr lang="pt-BR" dirty="0" err="1" smtClean="0">
                <a:solidFill>
                  <a:srgbClr val="333333"/>
                </a:solidFill>
                <a:latin typeface="Helvetica Neue"/>
              </a:rPr>
              <a:t>Backlog</a:t>
            </a:r>
            <a:r>
              <a:rPr lang="pt-BR" dirty="0" smtClean="0">
                <a:solidFill>
                  <a:srgbClr val="333333"/>
                </a:solidFill>
                <a:latin typeface="Helvetica Neue"/>
              </a:rPr>
              <a:t>. Ao fazer isso, a equipe quebra cada item do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Backlog</a:t>
            </a:r>
            <a:r>
              <a:rPr lang="pt-BR" dirty="0" smtClean="0">
                <a:solidFill>
                  <a:srgbClr val="333333"/>
                </a:solidFill>
                <a:latin typeface="Helvetica Neue"/>
              </a:rPr>
              <a:t> em uma ou mais tarefas do Sprint </a:t>
            </a:r>
            <a:r>
              <a:rPr lang="pt-BR" dirty="0" err="1" smtClean="0">
                <a:solidFill>
                  <a:srgbClr val="333333"/>
                </a:solidFill>
                <a:latin typeface="Helvetica Neue"/>
              </a:rPr>
              <a:t>Backlog</a:t>
            </a:r>
            <a:r>
              <a:rPr lang="pt-BR" dirty="0" smtClean="0">
                <a:solidFill>
                  <a:srgbClr val="333333"/>
                </a:solidFill>
                <a:latin typeface="Helvetica Neue"/>
              </a:rPr>
              <a:t>. Isso ajuda a dividir o trabalho entre os membros da equipe. Podem fazer parte do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Backlog</a:t>
            </a:r>
            <a:r>
              <a:rPr lang="pt-BR" dirty="0" smtClean="0">
                <a:solidFill>
                  <a:srgbClr val="333333"/>
                </a:solidFill>
                <a:latin typeface="Helvetica Neue"/>
              </a:rPr>
              <a:t> tarefas técnicas ou atividades diretamente relacionadas às funcionalidades solicitadas.</a:t>
            </a:r>
          </a:p>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56</a:t>
            </a:fld>
            <a:endParaRPr lang="pt-BR" dirty="0">
              <a:solidFill>
                <a:prstClr val="black"/>
              </a:solidFill>
              <a:latin typeface="Calibri"/>
            </a:endParaRPr>
          </a:p>
        </p:txBody>
      </p:sp>
    </p:spTree>
    <p:extLst>
      <p:ext uri="{BB962C8B-B14F-4D97-AF65-F5344CB8AC3E}">
        <p14:creationId xmlns:p14="http://schemas.microsoft.com/office/powerpoint/2010/main" xmlns="" val="26947341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pPr algn="just"/>
            <a:r>
              <a:rPr lang="pt-BR" dirty="0" smtClean="0">
                <a:solidFill>
                  <a:srgbClr val="333333"/>
                </a:solidFill>
                <a:latin typeface="Helvetica Neue"/>
              </a:rPr>
              <a:t>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Backlog</a:t>
            </a:r>
            <a:r>
              <a:rPr lang="pt-BR" dirty="0" smtClean="0">
                <a:solidFill>
                  <a:srgbClr val="333333"/>
                </a:solidFill>
                <a:latin typeface="Helvetica Neue"/>
              </a:rPr>
              <a:t> é uma lista contendo todas as funcionalidades desejadas para um produto. O conteúdo desta lista é definido pelo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Owner</a:t>
            </a:r>
            <a:r>
              <a:rPr lang="pt-BR" dirty="0" smtClean="0">
                <a:solidFill>
                  <a:srgbClr val="333333"/>
                </a:solidFill>
                <a:latin typeface="Helvetica Neue"/>
              </a:rPr>
              <a:t>. 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Backlog</a:t>
            </a:r>
            <a:r>
              <a:rPr lang="pt-BR" dirty="0" smtClean="0">
                <a:solidFill>
                  <a:srgbClr val="333333"/>
                </a:solidFill>
                <a:latin typeface="Helvetica Neue"/>
              </a:rPr>
              <a:t> não precisa estar completo no início de um projeto. Pode-se começar com tudo aquilo que é mais óbvio em um primeiro momento. Com o tempo, 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Backlog</a:t>
            </a:r>
            <a:r>
              <a:rPr lang="pt-BR" dirty="0" smtClean="0">
                <a:solidFill>
                  <a:srgbClr val="333333"/>
                </a:solidFill>
                <a:latin typeface="Helvetica Neue"/>
              </a:rPr>
              <a:t> cresce e muda à medida que se aprende mais sobre o produto e seus usuários.</a:t>
            </a:r>
          </a:p>
          <a:p>
            <a:pPr algn="just"/>
            <a:r>
              <a:rPr lang="pt-BR" dirty="0" smtClean="0">
                <a:solidFill>
                  <a:srgbClr val="333333"/>
                </a:solidFill>
                <a:latin typeface="Helvetica Neue"/>
              </a:rPr>
              <a:t>Durante o Sprint Planning Meeting, 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Owner</a:t>
            </a:r>
            <a:r>
              <a:rPr lang="pt-BR" dirty="0" smtClean="0">
                <a:solidFill>
                  <a:srgbClr val="333333"/>
                </a:solidFill>
                <a:latin typeface="Helvetica Neue"/>
              </a:rPr>
              <a:t> prioriza os itens do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Backlog</a:t>
            </a:r>
            <a:r>
              <a:rPr lang="pt-BR" dirty="0" smtClean="0">
                <a:solidFill>
                  <a:srgbClr val="333333"/>
                </a:solidFill>
                <a:latin typeface="Helvetica Neue"/>
              </a:rPr>
              <a:t> e os descreve para a equipe. A equipe então determina que itens será capaz de completar durante a Sprint que está por começar. Tais itens são, então, transferidos do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Backlog</a:t>
            </a:r>
            <a:r>
              <a:rPr lang="pt-BR" dirty="0" smtClean="0">
                <a:solidFill>
                  <a:srgbClr val="333333"/>
                </a:solidFill>
                <a:latin typeface="Helvetica Neue"/>
              </a:rPr>
              <a:t> para o Sprint </a:t>
            </a:r>
            <a:r>
              <a:rPr lang="pt-BR" dirty="0" err="1" smtClean="0">
                <a:solidFill>
                  <a:srgbClr val="333333"/>
                </a:solidFill>
                <a:latin typeface="Helvetica Neue"/>
              </a:rPr>
              <a:t>Backlog</a:t>
            </a:r>
            <a:r>
              <a:rPr lang="pt-BR" dirty="0" smtClean="0">
                <a:solidFill>
                  <a:srgbClr val="333333"/>
                </a:solidFill>
                <a:latin typeface="Helvetica Neue"/>
              </a:rPr>
              <a:t>. Ao fazer isso, a equipe quebra cada item do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Backlog</a:t>
            </a:r>
            <a:r>
              <a:rPr lang="pt-BR" dirty="0" smtClean="0">
                <a:solidFill>
                  <a:srgbClr val="333333"/>
                </a:solidFill>
                <a:latin typeface="Helvetica Neue"/>
              </a:rPr>
              <a:t> em uma ou mais tarefas do Sprint </a:t>
            </a:r>
            <a:r>
              <a:rPr lang="pt-BR" dirty="0" err="1" smtClean="0">
                <a:solidFill>
                  <a:srgbClr val="333333"/>
                </a:solidFill>
                <a:latin typeface="Helvetica Neue"/>
              </a:rPr>
              <a:t>Backlog</a:t>
            </a:r>
            <a:r>
              <a:rPr lang="pt-BR" dirty="0" smtClean="0">
                <a:solidFill>
                  <a:srgbClr val="333333"/>
                </a:solidFill>
                <a:latin typeface="Helvetica Neue"/>
              </a:rPr>
              <a:t>. Isso ajuda a dividir o trabalho entre os membros da equipe. Podem fazer parte do </a:t>
            </a:r>
            <a:r>
              <a:rPr lang="pt-BR" dirty="0" err="1" smtClean="0">
                <a:solidFill>
                  <a:srgbClr val="333333"/>
                </a:solidFill>
                <a:latin typeface="Helvetica Neue"/>
              </a:rPr>
              <a:t>Product</a:t>
            </a:r>
            <a:r>
              <a:rPr lang="pt-BR" dirty="0" smtClean="0">
                <a:solidFill>
                  <a:srgbClr val="333333"/>
                </a:solidFill>
                <a:latin typeface="Helvetica Neue"/>
              </a:rPr>
              <a:t> </a:t>
            </a:r>
            <a:r>
              <a:rPr lang="pt-BR" dirty="0" err="1" smtClean="0">
                <a:solidFill>
                  <a:srgbClr val="333333"/>
                </a:solidFill>
                <a:latin typeface="Helvetica Neue"/>
              </a:rPr>
              <a:t>Backlog</a:t>
            </a:r>
            <a:r>
              <a:rPr lang="pt-BR" dirty="0" smtClean="0">
                <a:solidFill>
                  <a:srgbClr val="333333"/>
                </a:solidFill>
                <a:latin typeface="Helvetica Neue"/>
              </a:rPr>
              <a:t> tarefas técnicas ou atividades diretamente relacionadas às funcionalidades solicitadas.</a:t>
            </a:r>
          </a:p>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57</a:t>
            </a:fld>
            <a:endParaRPr lang="pt-BR" dirty="0">
              <a:solidFill>
                <a:prstClr val="black"/>
              </a:solidFill>
              <a:latin typeface="Calibri"/>
            </a:endParaRPr>
          </a:p>
        </p:txBody>
      </p:sp>
    </p:spTree>
    <p:extLst>
      <p:ext uri="{BB962C8B-B14F-4D97-AF65-F5344CB8AC3E}">
        <p14:creationId xmlns:p14="http://schemas.microsoft.com/office/powerpoint/2010/main" xmlns="" val="25853579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pPr defTabSz="990752">
              <a:defRPr/>
            </a:pPr>
            <a:r>
              <a:rPr lang="pt-BR" dirty="0" smtClean="0"/>
              <a:t>O </a:t>
            </a:r>
            <a:r>
              <a:rPr lang="pt-BR" dirty="0" err="1" smtClean="0"/>
              <a:t>Product</a:t>
            </a:r>
            <a:r>
              <a:rPr lang="pt-BR" dirty="0" smtClean="0"/>
              <a:t> </a:t>
            </a:r>
            <a:r>
              <a:rPr lang="pt-BR" dirty="0" err="1" smtClean="0"/>
              <a:t>Owner</a:t>
            </a:r>
            <a:r>
              <a:rPr lang="pt-BR" dirty="0" smtClean="0"/>
              <a:t> é a pessoa que define os itens que compõem o </a:t>
            </a:r>
            <a:r>
              <a:rPr lang="pt-BR" b="1" dirty="0" err="1" smtClean="0"/>
              <a:t>Product</a:t>
            </a:r>
            <a:r>
              <a:rPr lang="pt-BR" b="1" dirty="0" smtClean="0"/>
              <a:t> </a:t>
            </a:r>
            <a:r>
              <a:rPr lang="pt-BR" b="1" dirty="0" err="1" smtClean="0"/>
              <a:t>Backlog</a:t>
            </a:r>
            <a:r>
              <a:rPr lang="pt-BR" b="1" dirty="0" smtClean="0"/>
              <a:t> </a:t>
            </a:r>
            <a:r>
              <a:rPr lang="pt-BR" dirty="0" smtClean="0"/>
              <a:t>e os prioriza nas </a:t>
            </a:r>
            <a:r>
              <a:rPr lang="pt-BR" b="1" dirty="0" smtClean="0"/>
              <a:t>Sprint Planning Meetings.</a:t>
            </a:r>
            <a:endParaRPr lang="pt-BR" dirty="0" smtClean="0"/>
          </a:p>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58</a:t>
            </a:fld>
            <a:endParaRPr lang="pt-BR" dirty="0">
              <a:solidFill>
                <a:prstClr val="black"/>
              </a:solidFill>
              <a:latin typeface="Calibri"/>
            </a:endParaRPr>
          </a:p>
        </p:txBody>
      </p:sp>
    </p:spTree>
    <p:extLst>
      <p:ext uri="{BB962C8B-B14F-4D97-AF65-F5344CB8AC3E}">
        <p14:creationId xmlns:p14="http://schemas.microsoft.com/office/powerpoint/2010/main" xmlns="" val="10509644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pPr defTabSz="990752">
              <a:defRPr/>
            </a:pPr>
            <a:r>
              <a:rPr lang="pt-BR" dirty="0" smtClean="0">
                <a:solidFill>
                  <a:srgbClr val="333333"/>
                </a:solidFill>
                <a:latin typeface="Helvetica Neue"/>
              </a:rPr>
              <a:t>Em um projeto </a:t>
            </a:r>
            <a:r>
              <a:rPr lang="pt-BR" dirty="0" err="1" smtClean="0">
                <a:solidFill>
                  <a:srgbClr val="333333"/>
                </a:solidFill>
                <a:latin typeface="Helvetica Neue"/>
              </a:rPr>
              <a:t>Scrum</a:t>
            </a:r>
            <a:r>
              <a:rPr lang="pt-BR" dirty="0" smtClean="0">
                <a:solidFill>
                  <a:srgbClr val="333333"/>
                </a:solidFill>
                <a:latin typeface="Helvetica Neue"/>
              </a:rPr>
              <a:t>, a equipe monitora seu progresso em relação a um plano atualizando um Release </a:t>
            </a:r>
            <a:r>
              <a:rPr lang="pt-BR" dirty="0" err="1" smtClean="0">
                <a:solidFill>
                  <a:srgbClr val="333333"/>
                </a:solidFill>
                <a:latin typeface="Helvetica Neue"/>
              </a:rPr>
              <a:t>Burndown</a:t>
            </a:r>
            <a:r>
              <a:rPr lang="pt-BR" dirty="0" smtClean="0">
                <a:solidFill>
                  <a:srgbClr val="333333"/>
                </a:solidFill>
                <a:latin typeface="Helvetica Neue"/>
              </a:rPr>
              <a:t> Chart ao final de cada Sprint (iteração). O eixo horizontal de um Release </a:t>
            </a:r>
            <a:r>
              <a:rPr lang="pt-BR" dirty="0" err="1" smtClean="0">
                <a:solidFill>
                  <a:srgbClr val="333333"/>
                </a:solidFill>
                <a:latin typeface="Helvetica Neue"/>
              </a:rPr>
              <a:t>Burndown</a:t>
            </a:r>
            <a:r>
              <a:rPr lang="pt-BR" dirty="0" smtClean="0">
                <a:solidFill>
                  <a:srgbClr val="333333"/>
                </a:solidFill>
                <a:latin typeface="Helvetica Neue"/>
              </a:rPr>
              <a:t> Chart mostra os </a:t>
            </a:r>
            <a:r>
              <a:rPr lang="pt-BR" dirty="0" err="1" smtClean="0">
                <a:solidFill>
                  <a:srgbClr val="333333"/>
                </a:solidFill>
                <a:latin typeface="Helvetica Neue"/>
              </a:rPr>
              <a:t>Sprints</a:t>
            </a:r>
            <a:r>
              <a:rPr lang="pt-BR" dirty="0" smtClean="0">
                <a:solidFill>
                  <a:srgbClr val="333333"/>
                </a:solidFill>
                <a:latin typeface="Helvetica Neue"/>
              </a:rPr>
              <a:t>; o eixo vertical mostra a quantidade de trabalho que ainda precisa ser feita no início de cada Sprint. O trabalho que ainda resta pode ser mostrado na unidade preferencial da equipe: </a:t>
            </a:r>
            <a:r>
              <a:rPr lang="pt-BR" dirty="0" err="1" smtClean="0">
                <a:solidFill>
                  <a:srgbClr val="333333"/>
                </a:solidFill>
                <a:latin typeface="Helvetica Neue"/>
              </a:rPr>
              <a:t>story</a:t>
            </a:r>
            <a:r>
              <a:rPr lang="pt-BR" dirty="0" smtClean="0">
                <a:solidFill>
                  <a:srgbClr val="333333"/>
                </a:solidFill>
                <a:latin typeface="Helvetica Neue"/>
              </a:rPr>
              <a:t> points, dias ideais, </a:t>
            </a:r>
            <a:r>
              <a:rPr lang="pt-BR" dirty="0" err="1" smtClean="0">
                <a:solidFill>
                  <a:srgbClr val="333333"/>
                </a:solidFill>
                <a:latin typeface="Helvetica Neue"/>
              </a:rPr>
              <a:t>team</a:t>
            </a:r>
            <a:r>
              <a:rPr lang="pt-BR" dirty="0" smtClean="0">
                <a:solidFill>
                  <a:srgbClr val="333333"/>
                </a:solidFill>
                <a:latin typeface="Helvetica Neue"/>
              </a:rPr>
              <a:t> </a:t>
            </a:r>
            <a:r>
              <a:rPr lang="pt-BR" dirty="0" err="1" smtClean="0">
                <a:solidFill>
                  <a:srgbClr val="333333"/>
                </a:solidFill>
                <a:latin typeface="Helvetica Neue"/>
              </a:rPr>
              <a:t>days</a:t>
            </a:r>
            <a:r>
              <a:rPr lang="pt-BR" dirty="0" smtClean="0">
                <a:solidFill>
                  <a:srgbClr val="333333"/>
                </a:solidFill>
                <a:latin typeface="Helvetica Neue"/>
              </a:rPr>
              <a:t> e assim por diante.</a:t>
            </a:r>
          </a:p>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59</a:t>
            </a:fld>
            <a:endParaRPr lang="pt-BR" dirty="0">
              <a:solidFill>
                <a:prstClr val="black"/>
              </a:solidFill>
              <a:latin typeface="Calibri"/>
            </a:endParaRPr>
          </a:p>
        </p:txBody>
      </p:sp>
    </p:spTree>
    <p:extLst>
      <p:ext uri="{BB962C8B-B14F-4D97-AF65-F5344CB8AC3E}">
        <p14:creationId xmlns:p14="http://schemas.microsoft.com/office/powerpoint/2010/main" xmlns="" val="30077573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pPr algn="just"/>
            <a:r>
              <a:rPr lang="pt-BR" dirty="0" smtClean="0">
                <a:solidFill>
                  <a:srgbClr val="333333"/>
                </a:solidFill>
                <a:latin typeface="Helvetica Neue"/>
              </a:rPr>
              <a:t>O </a:t>
            </a:r>
            <a:r>
              <a:rPr lang="pt-BR" dirty="0" err="1" smtClean="0">
                <a:solidFill>
                  <a:srgbClr val="333333"/>
                </a:solidFill>
                <a:latin typeface="Helvetica Neue"/>
              </a:rPr>
              <a:t>Scrum</a:t>
            </a:r>
            <a:r>
              <a:rPr lang="pt-BR" dirty="0" smtClean="0">
                <a:solidFill>
                  <a:srgbClr val="333333"/>
                </a:solidFill>
                <a:latin typeface="Helvetica Neue"/>
              </a:rPr>
              <a:t> Master procura assegurar que a equipe respeite e siga os valores e as práticas do </a:t>
            </a:r>
            <a:r>
              <a:rPr lang="pt-BR" dirty="0" err="1" smtClean="0">
                <a:solidFill>
                  <a:srgbClr val="333333"/>
                </a:solidFill>
                <a:latin typeface="Helvetica Neue"/>
              </a:rPr>
              <a:t>Scrum</a:t>
            </a:r>
            <a:r>
              <a:rPr lang="pt-BR" dirty="0" smtClean="0">
                <a:solidFill>
                  <a:srgbClr val="333333"/>
                </a:solidFill>
                <a:latin typeface="Helvetica Neue"/>
              </a:rPr>
              <a:t>. Ele também protege a equipe assegurando que ela não se comprometa excessivamente com relação àquilo que é capaz de realizar durante um Sprint.</a:t>
            </a:r>
          </a:p>
          <a:p>
            <a:pPr algn="just"/>
            <a:r>
              <a:rPr lang="pt-BR" dirty="0" smtClean="0">
                <a:solidFill>
                  <a:srgbClr val="333333"/>
                </a:solidFill>
                <a:latin typeface="Helvetica Neue"/>
              </a:rPr>
              <a:t>O </a:t>
            </a:r>
            <a:r>
              <a:rPr lang="pt-BR" dirty="0" err="1" smtClean="0">
                <a:solidFill>
                  <a:srgbClr val="333333"/>
                </a:solidFill>
                <a:latin typeface="Helvetica Neue"/>
              </a:rPr>
              <a:t>Scrum</a:t>
            </a:r>
            <a:r>
              <a:rPr lang="pt-BR" dirty="0" smtClean="0">
                <a:solidFill>
                  <a:srgbClr val="333333"/>
                </a:solidFill>
                <a:latin typeface="Helvetica Neue"/>
              </a:rPr>
              <a:t> Master atua como facilitador do Daily </a:t>
            </a:r>
            <a:r>
              <a:rPr lang="pt-BR" dirty="0" err="1" smtClean="0">
                <a:solidFill>
                  <a:srgbClr val="333333"/>
                </a:solidFill>
                <a:latin typeface="Helvetica Neue"/>
              </a:rPr>
              <a:t>Scrum</a:t>
            </a:r>
            <a:r>
              <a:rPr lang="pt-BR" dirty="0" smtClean="0">
                <a:solidFill>
                  <a:srgbClr val="333333"/>
                </a:solidFill>
                <a:latin typeface="Helvetica Neue"/>
              </a:rPr>
              <a:t> e torna-se responsável por remover quaisquer obstáculos que sejam levantados pela equipe durante essas reuniões.</a:t>
            </a:r>
          </a:p>
          <a:p>
            <a:pPr algn="just"/>
            <a:r>
              <a:rPr lang="pt-BR" dirty="0" smtClean="0">
                <a:solidFill>
                  <a:srgbClr val="333333"/>
                </a:solidFill>
                <a:latin typeface="Helvetica Neue"/>
              </a:rPr>
              <a:t>O papel de </a:t>
            </a:r>
            <a:r>
              <a:rPr lang="pt-BR" dirty="0" err="1" smtClean="0">
                <a:solidFill>
                  <a:srgbClr val="333333"/>
                </a:solidFill>
                <a:latin typeface="Helvetica Neue"/>
              </a:rPr>
              <a:t>Scrum</a:t>
            </a:r>
            <a:r>
              <a:rPr lang="pt-BR" dirty="0" smtClean="0">
                <a:solidFill>
                  <a:srgbClr val="333333"/>
                </a:solidFill>
                <a:latin typeface="Helvetica Neue"/>
              </a:rPr>
              <a:t> Master é tipicamente exercido por um gerente de projeto ou um líder técnico, mas em princípio pode ser qualquer pessoa da equipe.</a:t>
            </a:r>
          </a:p>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60</a:t>
            </a:fld>
            <a:endParaRPr lang="pt-BR" dirty="0">
              <a:solidFill>
                <a:prstClr val="black"/>
              </a:solidFill>
              <a:latin typeface="Calibri"/>
            </a:endParaRPr>
          </a:p>
        </p:txBody>
      </p:sp>
    </p:spTree>
    <p:extLst>
      <p:ext uri="{BB962C8B-B14F-4D97-AF65-F5344CB8AC3E}">
        <p14:creationId xmlns:p14="http://schemas.microsoft.com/office/powerpoint/2010/main" xmlns="" val="17452517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pPr algn="just"/>
            <a:r>
              <a:rPr lang="pt-BR" dirty="0" smtClean="0">
                <a:solidFill>
                  <a:srgbClr val="333333"/>
                </a:solidFill>
                <a:latin typeface="Helvetica Neue"/>
              </a:rPr>
              <a:t>O </a:t>
            </a:r>
            <a:r>
              <a:rPr lang="pt-BR" dirty="0" err="1" smtClean="0">
                <a:solidFill>
                  <a:srgbClr val="333333"/>
                </a:solidFill>
                <a:latin typeface="Helvetica Neue"/>
              </a:rPr>
              <a:t>Scrum</a:t>
            </a:r>
            <a:r>
              <a:rPr lang="pt-BR" dirty="0" smtClean="0">
                <a:solidFill>
                  <a:srgbClr val="333333"/>
                </a:solidFill>
                <a:latin typeface="Helvetica Neue"/>
              </a:rPr>
              <a:t> Team é a equipe de desenvolvimento. Nela, não existe necessariamente uma divisão funcional através de papéis tradicionais, tais como programador, designer, analista de testes ou arquiteto. Todos no projeto trabalham juntos para completar o conjunto de trabalho com o qual se comprometeram conjuntamente para um Sprint.</a:t>
            </a:r>
          </a:p>
          <a:p>
            <a:pPr algn="just"/>
            <a:r>
              <a:rPr lang="pt-BR" dirty="0" smtClean="0">
                <a:solidFill>
                  <a:srgbClr val="333333"/>
                </a:solidFill>
                <a:latin typeface="Helvetica Neue"/>
              </a:rPr>
              <a:t>Um </a:t>
            </a:r>
            <a:r>
              <a:rPr lang="pt-BR" dirty="0" err="1" smtClean="0">
                <a:solidFill>
                  <a:srgbClr val="333333"/>
                </a:solidFill>
                <a:latin typeface="Helvetica Neue"/>
              </a:rPr>
              <a:t>Scrum</a:t>
            </a:r>
            <a:r>
              <a:rPr lang="pt-BR" dirty="0" smtClean="0">
                <a:solidFill>
                  <a:srgbClr val="333333"/>
                </a:solidFill>
                <a:latin typeface="Helvetica Neue"/>
              </a:rPr>
              <a:t> Team típico tem de 6 a 10 pessoas, embora haja relatos de projetos </a:t>
            </a:r>
            <a:r>
              <a:rPr lang="pt-BR" dirty="0" err="1" smtClean="0">
                <a:solidFill>
                  <a:srgbClr val="333333"/>
                </a:solidFill>
                <a:latin typeface="Helvetica Neue"/>
              </a:rPr>
              <a:t>Scrum</a:t>
            </a:r>
            <a:r>
              <a:rPr lang="pt-BR" dirty="0" smtClean="0">
                <a:solidFill>
                  <a:srgbClr val="333333"/>
                </a:solidFill>
                <a:latin typeface="Helvetica Neue"/>
              </a:rPr>
              <a:t> com equipes maiores. A principal abordagem para trabalhar com equipes grandes no </a:t>
            </a:r>
            <a:r>
              <a:rPr lang="pt-BR" dirty="0" err="1" smtClean="0">
                <a:solidFill>
                  <a:srgbClr val="333333"/>
                </a:solidFill>
                <a:latin typeface="Helvetica Neue"/>
              </a:rPr>
              <a:t>Scrum</a:t>
            </a:r>
            <a:r>
              <a:rPr lang="pt-BR" dirty="0" smtClean="0">
                <a:solidFill>
                  <a:srgbClr val="333333"/>
                </a:solidFill>
                <a:latin typeface="Helvetica Neue"/>
              </a:rPr>
              <a:t> é usando o conceito de "</a:t>
            </a:r>
            <a:r>
              <a:rPr lang="pt-BR" dirty="0" err="1" smtClean="0">
                <a:solidFill>
                  <a:srgbClr val="333333"/>
                </a:solidFill>
                <a:latin typeface="Helvetica Neue"/>
              </a:rPr>
              <a:t>Scrum</a:t>
            </a:r>
            <a:r>
              <a:rPr lang="pt-BR" dirty="0" smtClean="0">
                <a:solidFill>
                  <a:srgbClr val="333333"/>
                </a:solidFill>
                <a:latin typeface="Helvetica Neue"/>
              </a:rPr>
              <a:t> </a:t>
            </a:r>
            <a:r>
              <a:rPr lang="pt-BR" dirty="0" err="1" smtClean="0">
                <a:solidFill>
                  <a:srgbClr val="333333"/>
                </a:solidFill>
                <a:latin typeface="Helvetica Neue"/>
              </a:rPr>
              <a:t>of</a:t>
            </a:r>
            <a:r>
              <a:rPr lang="pt-BR" dirty="0" smtClean="0">
                <a:solidFill>
                  <a:srgbClr val="333333"/>
                </a:solidFill>
                <a:latin typeface="Helvetica Neue"/>
              </a:rPr>
              <a:t> </a:t>
            </a:r>
            <a:r>
              <a:rPr lang="pt-BR" dirty="0" err="1" smtClean="0">
                <a:solidFill>
                  <a:srgbClr val="333333"/>
                </a:solidFill>
                <a:latin typeface="Helvetica Neue"/>
              </a:rPr>
              <a:t>Scrums</a:t>
            </a:r>
            <a:r>
              <a:rPr lang="pt-BR" dirty="0" smtClean="0">
                <a:solidFill>
                  <a:srgbClr val="333333"/>
                </a:solidFill>
                <a:latin typeface="Helvetica Neue"/>
              </a:rPr>
              <a:t>". Cada </a:t>
            </a:r>
            <a:r>
              <a:rPr lang="pt-BR" dirty="0" err="1" smtClean="0">
                <a:solidFill>
                  <a:srgbClr val="333333"/>
                </a:solidFill>
                <a:latin typeface="Helvetica Neue"/>
              </a:rPr>
              <a:t>Scrum</a:t>
            </a:r>
            <a:r>
              <a:rPr lang="pt-BR" dirty="0" smtClean="0">
                <a:solidFill>
                  <a:srgbClr val="333333"/>
                </a:solidFill>
                <a:latin typeface="Helvetica Neue"/>
              </a:rPr>
              <a:t> Team trabalha normalmente, mas cada equipe também contribui com uma pessoa que deverá frequentar o </a:t>
            </a:r>
            <a:r>
              <a:rPr lang="pt-BR" dirty="0" err="1" smtClean="0">
                <a:solidFill>
                  <a:srgbClr val="333333"/>
                </a:solidFill>
                <a:latin typeface="Helvetica Neue"/>
              </a:rPr>
              <a:t>Scrum</a:t>
            </a:r>
            <a:r>
              <a:rPr lang="pt-BR" dirty="0" smtClean="0">
                <a:solidFill>
                  <a:srgbClr val="333333"/>
                </a:solidFill>
                <a:latin typeface="Helvetica Neue"/>
              </a:rPr>
              <a:t> </a:t>
            </a:r>
            <a:r>
              <a:rPr lang="pt-BR" dirty="0" err="1" smtClean="0">
                <a:solidFill>
                  <a:srgbClr val="333333"/>
                </a:solidFill>
                <a:latin typeface="Helvetica Neue"/>
              </a:rPr>
              <a:t>of</a:t>
            </a:r>
            <a:r>
              <a:rPr lang="pt-BR" dirty="0" smtClean="0">
                <a:solidFill>
                  <a:srgbClr val="333333"/>
                </a:solidFill>
                <a:latin typeface="Helvetica Neue"/>
              </a:rPr>
              <a:t> </a:t>
            </a:r>
            <a:r>
              <a:rPr lang="pt-BR" dirty="0" err="1" smtClean="0">
                <a:solidFill>
                  <a:srgbClr val="333333"/>
                </a:solidFill>
                <a:latin typeface="Helvetica Neue"/>
              </a:rPr>
              <a:t>Scrums</a:t>
            </a:r>
            <a:r>
              <a:rPr lang="pt-BR" dirty="0" smtClean="0">
                <a:solidFill>
                  <a:srgbClr val="333333"/>
                </a:solidFill>
                <a:latin typeface="Helvetica Neue"/>
              </a:rPr>
              <a:t> Meeting para coordenar o trabalho de múltiplas equipes </a:t>
            </a:r>
            <a:r>
              <a:rPr lang="pt-BR" dirty="0" err="1" smtClean="0">
                <a:solidFill>
                  <a:srgbClr val="333333"/>
                </a:solidFill>
                <a:latin typeface="Helvetica Neue"/>
              </a:rPr>
              <a:t>Scrum</a:t>
            </a:r>
            <a:r>
              <a:rPr lang="pt-BR" dirty="0" smtClean="0">
                <a:solidFill>
                  <a:srgbClr val="333333"/>
                </a:solidFill>
                <a:latin typeface="Helvetica Neue"/>
              </a:rPr>
              <a:t>. Esses encontros são análogos aos Daily </a:t>
            </a:r>
            <a:r>
              <a:rPr lang="pt-BR" dirty="0" err="1" smtClean="0">
                <a:solidFill>
                  <a:srgbClr val="333333"/>
                </a:solidFill>
                <a:latin typeface="Helvetica Neue"/>
              </a:rPr>
              <a:t>Scrums</a:t>
            </a:r>
            <a:r>
              <a:rPr lang="pt-BR" dirty="0" smtClean="0">
                <a:solidFill>
                  <a:srgbClr val="333333"/>
                </a:solidFill>
                <a:latin typeface="Helvetica Neue"/>
              </a:rPr>
              <a:t>, mas não acontecem necessariamente todos os dias. Fazer essa reunião duas ou três vezes por semana tende a ser suficiente na maioria das organizações.</a:t>
            </a:r>
          </a:p>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61</a:t>
            </a:fld>
            <a:endParaRPr lang="pt-BR" dirty="0">
              <a:solidFill>
                <a:prstClr val="black"/>
              </a:solidFill>
              <a:latin typeface="Calibri"/>
            </a:endParaRPr>
          </a:p>
        </p:txBody>
      </p:sp>
    </p:spTree>
    <p:extLst>
      <p:ext uri="{BB962C8B-B14F-4D97-AF65-F5344CB8AC3E}">
        <p14:creationId xmlns:p14="http://schemas.microsoft.com/office/powerpoint/2010/main" xmlns="" val="25015225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r>
              <a:rPr lang="pt-BR" b="1" dirty="0" smtClean="0"/>
              <a:t>Prover feedback contínuo</a:t>
            </a:r>
            <a:r>
              <a:rPr lang="pt-BR" dirty="0" smtClean="0"/>
              <a:t/>
            </a:r>
            <a:br>
              <a:rPr lang="pt-BR" dirty="0" smtClean="0"/>
            </a:br>
            <a:r>
              <a:rPr lang="pt-BR" dirty="0" smtClean="0"/>
              <a:t>O feedback faz parte do apelo da comunicação face a face que o ágil propõe. Este feedback rápido é de grande valor para o </a:t>
            </a:r>
            <a:r>
              <a:rPr lang="pt-BR" dirty="0" err="1" smtClean="0"/>
              <a:t>Product</a:t>
            </a:r>
            <a:r>
              <a:rPr lang="pt-BR" dirty="0" smtClean="0"/>
              <a:t> </a:t>
            </a:r>
            <a:r>
              <a:rPr lang="pt-BR" dirty="0" err="1" smtClean="0"/>
              <a:t>Owner</a:t>
            </a:r>
            <a:r>
              <a:rPr lang="pt-BR" dirty="0" smtClean="0"/>
              <a:t> e clientes caso os requisitos não sejam tão adequados quanto pareciam. No caso de uma metodologia cascata, os erros de requisito seriam "testados" somente depois do software estar pronto.</a:t>
            </a:r>
            <a:br>
              <a:rPr lang="pt-BR" dirty="0" smtClean="0"/>
            </a:br>
            <a:r>
              <a:rPr lang="pt-BR" dirty="0" smtClean="0"/>
              <a:t>Diante de um obstáculo, o feedback contínuo pode remover e até evitar dores de cabeça futuras, como por exemplo o desenvolvimento criar interfaces mais testáveis.</a:t>
            </a:r>
          </a:p>
          <a:p>
            <a:endParaRPr lang="pt-BR" dirty="0" smtClean="0"/>
          </a:p>
          <a:p>
            <a:r>
              <a:rPr lang="pt-BR" b="1" dirty="0" smtClean="0"/>
              <a:t> Entregar valor ao cliente</a:t>
            </a:r>
          </a:p>
          <a:p>
            <a:r>
              <a:rPr lang="pt-BR" dirty="0" smtClean="0"/>
              <a:t>O testador contribui com a entrega iterativa do projeto, que permite que o sistema seja atualizado constantemente, evitando gaps no negócio.</a:t>
            </a:r>
            <a:r>
              <a:rPr lang="pt-BR" sz="2000" dirty="0" smtClean="0"/>
              <a:t> </a:t>
            </a:r>
          </a:p>
          <a:p>
            <a:endParaRPr lang="pt-BR" sz="2000" dirty="0" smtClean="0"/>
          </a:p>
          <a:p>
            <a:r>
              <a:rPr lang="pt-BR" b="1" dirty="0" smtClean="0"/>
              <a:t>Disponibilizar comunicação face a face</a:t>
            </a:r>
            <a:r>
              <a:rPr lang="pt-BR" sz="2000" dirty="0" smtClean="0"/>
              <a:t/>
            </a:r>
            <a:br>
              <a:rPr lang="pt-BR" sz="2000" dirty="0" smtClean="0"/>
            </a:br>
            <a:r>
              <a:rPr lang="pt-BR" dirty="0" smtClean="0"/>
              <a:t>Nenhum time dá certo sem boa comunicação. Sempre surgem dúvidas sobre uma funcionalidade que está sendo trabalhada, e o programador e analista devem ser consultados, de preferência pessoalmente. Se você fizer isso, sempre terá alguém que ouvindo a conversa poderá aproveitar para aprender ou para compartilhar algo mais.</a:t>
            </a:r>
            <a:r>
              <a:rPr lang="pt-BR" sz="2000" dirty="0" smtClean="0"/>
              <a:t> </a:t>
            </a:r>
          </a:p>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62</a:t>
            </a:fld>
            <a:endParaRPr lang="pt-BR" dirty="0">
              <a:solidFill>
                <a:prstClr val="black"/>
              </a:solidFill>
              <a:latin typeface="Calibri"/>
            </a:endParaRPr>
          </a:p>
        </p:txBody>
      </p:sp>
    </p:spTree>
    <p:extLst>
      <p:ext uri="{BB962C8B-B14F-4D97-AF65-F5344CB8AC3E}">
        <p14:creationId xmlns:p14="http://schemas.microsoft.com/office/powerpoint/2010/main" xmlns="" val="501366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63</a:t>
            </a:fld>
            <a:endParaRPr lang="pt-BR" dirty="0">
              <a:solidFill>
                <a:prstClr val="black"/>
              </a:solidFill>
              <a:latin typeface="Calibri"/>
            </a:endParaRPr>
          </a:p>
        </p:txBody>
      </p:sp>
    </p:spTree>
    <p:extLst>
      <p:ext uri="{BB962C8B-B14F-4D97-AF65-F5344CB8AC3E}">
        <p14:creationId xmlns:p14="http://schemas.microsoft.com/office/powerpoint/2010/main" xmlns="" val="19905582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64</a:t>
            </a:fld>
            <a:endParaRPr lang="pt-BR" dirty="0">
              <a:solidFill>
                <a:prstClr val="black"/>
              </a:solidFill>
              <a:latin typeface="Calibri"/>
            </a:endParaRPr>
          </a:p>
        </p:txBody>
      </p:sp>
    </p:spTree>
    <p:extLst>
      <p:ext uri="{BB962C8B-B14F-4D97-AF65-F5344CB8AC3E}">
        <p14:creationId xmlns:p14="http://schemas.microsoft.com/office/powerpoint/2010/main" xmlns="" val="19061814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65</a:t>
            </a:fld>
            <a:endParaRPr lang="pt-BR" dirty="0">
              <a:solidFill>
                <a:prstClr val="black"/>
              </a:solidFill>
              <a:latin typeface="Calibri"/>
            </a:endParaRPr>
          </a:p>
        </p:txBody>
      </p:sp>
    </p:spTree>
    <p:extLst>
      <p:ext uri="{BB962C8B-B14F-4D97-AF65-F5344CB8AC3E}">
        <p14:creationId xmlns:p14="http://schemas.microsoft.com/office/powerpoint/2010/main" xmlns="" val="14188737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66</a:t>
            </a:fld>
            <a:endParaRPr lang="pt-BR" dirty="0">
              <a:solidFill>
                <a:prstClr val="black"/>
              </a:solidFill>
              <a:latin typeface="Calibri"/>
            </a:endParaRPr>
          </a:p>
        </p:txBody>
      </p:sp>
    </p:spTree>
    <p:extLst>
      <p:ext uri="{BB962C8B-B14F-4D97-AF65-F5344CB8AC3E}">
        <p14:creationId xmlns:p14="http://schemas.microsoft.com/office/powerpoint/2010/main" xmlns="" val="11246065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67</a:t>
            </a:fld>
            <a:endParaRPr lang="pt-BR" dirty="0">
              <a:solidFill>
                <a:prstClr val="black"/>
              </a:solidFill>
              <a:latin typeface="Calibri"/>
            </a:endParaRPr>
          </a:p>
        </p:txBody>
      </p:sp>
    </p:spTree>
    <p:extLst>
      <p:ext uri="{BB962C8B-B14F-4D97-AF65-F5344CB8AC3E}">
        <p14:creationId xmlns:p14="http://schemas.microsoft.com/office/powerpoint/2010/main" xmlns="" val="37587543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68</a:t>
            </a:fld>
            <a:endParaRPr lang="pt-BR" dirty="0">
              <a:solidFill>
                <a:prstClr val="black"/>
              </a:solidFill>
              <a:latin typeface="Calibri"/>
            </a:endParaRPr>
          </a:p>
        </p:txBody>
      </p:sp>
    </p:spTree>
    <p:extLst>
      <p:ext uri="{BB962C8B-B14F-4D97-AF65-F5344CB8AC3E}">
        <p14:creationId xmlns:p14="http://schemas.microsoft.com/office/powerpoint/2010/main" xmlns="" val="34940551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69</a:t>
            </a:fld>
            <a:endParaRPr lang="pt-BR" dirty="0">
              <a:solidFill>
                <a:prstClr val="black"/>
              </a:solidFill>
              <a:latin typeface="Calibri"/>
            </a:endParaRPr>
          </a:p>
        </p:txBody>
      </p:sp>
    </p:spTree>
    <p:extLst>
      <p:ext uri="{BB962C8B-B14F-4D97-AF65-F5344CB8AC3E}">
        <p14:creationId xmlns:p14="http://schemas.microsoft.com/office/powerpoint/2010/main" xmlns="" val="34940551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70</a:t>
            </a:fld>
            <a:endParaRPr lang="pt-BR" dirty="0">
              <a:solidFill>
                <a:prstClr val="black"/>
              </a:solidFill>
              <a:latin typeface="Calibri"/>
            </a:endParaRPr>
          </a:p>
        </p:txBody>
      </p:sp>
    </p:spTree>
    <p:extLst>
      <p:ext uri="{BB962C8B-B14F-4D97-AF65-F5344CB8AC3E}">
        <p14:creationId xmlns:p14="http://schemas.microsoft.com/office/powerpoint/2010/main" xmlns="" val="10986630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82600" y="1279525"/>
            <a:ext cx="6140450" cy="3454400"/>
          </a:xfrm>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pPr defTabSz="990752">
              <a:defRPr/>
            </a:pPr>
            <a:fld id="{91FD277B-CC44-AE43-B94B-D05236B83CB9}" type="slidenum">
              <a:rPr lang="pt-BR" smtClean="0">
                <a:solidFill>
                  <a:prstClr val="black"/>
                </a:solidFill>
                <a:latin typeface="Calibri"/>
              </a:rPr>
              <a:pPr defTabSz="990752">
                <a:defRPr/>
              </a:pPr>
              <a:t>71</a:t>
            </a:fld>
            <a:endParaRPr lang="pt-BR" dirty="0">
              <a:solidFill>
                <a:prstClr val="black"/>
              </a:solidFill>
              <a:latin typeface="Calibri"/>
            </a:endParaRPr>
          </a:p>
        </p:txBody>
      </p:sp>
    </p:spTree>
    <p:extLst>
      <p:ext uri="{BB962C8B-B14F-4D97-AF65-F5344CB8AC3E}">
        <p14:creationId xmlns:p14="http://schemas.microsoft.com/office/powerpoint/2010/main" xmlns="" val="1098663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pt-BR"/>
              <a:t>Clique para editar o título mestre</a:t>
            </a:r>
          </a:p>
        </p:txBody>
      </p:sp>
      <p:sp>
        <p:nvSpPr>
          <p:cNvPr id="3" name="Subtítulo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FCCB5A8B-9D51-4C37-B2F9-45FE7DA8332A}" type="datetimeFigureOut">
              <a:rPr lang="pt-BR" smtClean="0"/>
              <a:pPr/>
              <a:t>18/01/2018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1CA96723-F396-4F87-9871-9BAFE0353388}" type="slidenum">
              <a:rPr lang="pt-BR" smtClean="0"/>
              <a:pPr/>
              <a:t>‹nº›</a:t>
            </a:fld>
            <a:endParaRPr lang="pt-BR"/>
          </a:p>
        </p:txBody>
      </p:sp>
    </p:spTree>
    <p:extLst>
      <p:ext uri="{BB962C8B-B14F-4D97-AF65-F5344CB8AC3E}">
        <p14:creationId xmlns:p14="http://schemas.microsoft.com/office/powerpoint/2010/main" xmlns="" val="2866400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5"/>
            <a:ext cx="10515600" cy="1325563"/>
          </a:xfrm>
          <a:prstGeom prst="rect">
            <a:avLst/>
          </a:prstGeom>
        </p:spPr>
        <p:txBody>
          <a:bodyPr/>
          <a:lstStyle/>
          <a:p>
            <a:r>
              <a:rPr lang="pt-BR"/>
              <a:t>Clique para editar o título mestre</a:t>
            </a:r>
          </a:p>
        </p:txBody>
      </p:sp>
      <p:sp>
        <p:nvSpPr>
          <p:cNvPr id="3" name="Espaço Reservado para Conteúdo 2"/>
          <p:cNvSpPr>
            <a:spLocks noGrp="1"/>
          </p:cNvSpPr>
          <p:nvPr>
            <p:ph idx="1"/>
          </p:nvPr>
        </p:nvSpPr>
        <p:spPr>
          <a:xfrm>
            <a:off x="838200" y="1825625"/>
            <a:ext cx="10515600" cy="4351338"/>
          </a:xfrm>
          <a:prstGeom prst="rect">
            <a:avLst/>
          </a:prstGeo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FCCB5A8B-9D51-4C37-B2F9-45FE7DA8332A}" type="datetimeFigureOut">
              <a:rPr lang="pt-BR" smtClean="0"/>
              <a:pPr/>
              <a:t>19/01/2018</a:t>
            </a:fld>
            <a:endParaRPr lang="pt-BR"/>
          </a:p>
        </p:txBody>
      </p:sp>
      <p:sp>
        <p:nvSpPr>
          <p:cNvPr id="6" name="Espaço Reservado para Número de Slide 5"/>
          <p:cNvSpPr>
            <a:spLocks noGrp="1"/>
          </p:cNvSpPr>
          <p:nvPr>
            <p:ph type="sldNum" sz="quarter" idx="12"/>
          </p:nvPr>
        </p:nvSpPr>
        <p:spPr/>
        <p:txBody>
          <a:bodyPr/>
          <a:lstStyle/>
          <a:p>
            <a:fld id="{1CA96723-F396-4F87-9871-9BAFE0353388}" type="slidenum">
              <a:rPr lang="pt-BR" smtClean="0"/>
              <a:pPr/>
              <a:t>‹nº›</a:t>
            </a:fld>
            <a:endParaRPr lang="pt-BR"/>
          </a:p>
        </p:txBody>
      </p:sp>
      <p:sp>
        <p:nvSpPr>
          <p:cNvPr id="7" name="Espaço Reservado para Rodapé 6"/>
          <p:cNvSpPr txBox="1">
            <a:spLocks/>
          </p:cNvSpPr>
          <p:nvPr userDrawn="1"/>
        </p:nvSpPr>
        <p:spPr>
          <a:xfrm>
            <a:off x="4038601" y="6483969"/>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xmlns="" val="342629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a:prstGeom prst="rect">
            <a:avLst/>
          </a:prstGeom>
        </p:spPr>
        <p:txBody>
          <a:bodyPr anchor="b"/>
          <a:lstStyle>
            <a:lvl1pPr>
              <a:defRPr sz="6000"/>
            </a:lvl1pPr>
          </a:lstStyle>
          <a:p>
            <a:r>
              <a:rPr lang="pt-BR"/>
              <a:t>Clique para editar o título mestre</a:t>
            </a:r>
          </a:p>
        </p:txBody>
      </p:sp>
      <p:sp>
        <p:nvSpPr>
          <p:cNvPr id="3" name="Espaço Reservado para Texto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Espaço Reservado para Data 3"/>
          <p:cNvSpPr>
            <a:spLocks noGrp="1"/>
          </p:cNvSpPr>
          <p:nvPr>
            <p:ph type="dt" sz="half" idx="10"/>
          </p:nvPr>
        </p:nvSpPr>
        <p:spPr/>
        <p:txBody>
          <a:bodyPr/>
          <a:lstStyle/>
          <a:p>
            <a:fld id="{FCCB5A8B-9D51-4C37-B2F9-45FE7DA8332A}" type="datetimeFigureOut">
              <a:rPr lang="pt-BR" smtClean="0"/>
              <a:pPr/>
              <a:t>18/01/2018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1CA96723-F396-4F87-9871-9BAFE0353388}" type="slidenum">
              <a:rPr lang="pt-BR" smtClean="0"/>
              <a:pPr/>
              <a:t>‹nº›</a:t>
            </a:fld>
            <a:endParaRPr lang="pt-BR"/>
          </a:p>
        </p:txBody>
      </p:sp>
    </p:spTree>
    <p:extLst>
      <p:ext uri="{BB962C8B-B14F-4D97-AF65-F5344CB8AC3E}">
        <p14:creationId xmlns:p14="http://schemas.microsoft.com/office/powerpoint/2010/main" xmlns="" val="1098752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5"/>
            <a:ext cx="10515600" cy="1325563"/>
          </a:xfrm>
          <a:prstGeom prst="rect">
            <a:avLst/>
          </a:prstGeom>
        </p:spPr>
        <p:txBody>
          <a:bodyPr/>
          <a:lstStyle/>
          <a:p>
            <a:r>
              <a:rPr lang="pt-BR"/>
              <a:t>Clique para editar o título mestre</a:t>
            </a:r>
          </a:p>
        </p:txBody>
      </p:sp>
      <p:sp>
        <p:nvSpPr>
          <p:cNvPr id="3" name="Espaço Reservado para Conteúdo 2"/>
          <p:cNvSpPr>
            <a:spLocks noGrp="1"/>
          </p:cNvSpPr>
          <p:nvPr>
            <p:ph sz="half" idx="1"/>
          </p:nvPr>
        </p:nvSpPr>
        <p:spPr>
          <a:xfrm>
            <a:off x="838200" y="1825625"/>
            <a:ext cx="5181600" cy="4351338"/>
          </a:xfrm>
          <a:prstGeom prst="rect">
            <a:avLst/>
          </a:prstGeo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6172200" y="1825625"/>
            <a:ext cx="5181600" cy="4351338"/>
          </a:xfrm>
          <a:prstGeom prst="rect">
            <a:avLst/>
          </a:prstGeo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FCCB5A8B-9D51-4C37-B2F9-45FE7DA8332A}" type="datetimeFigureOut">
              <a:rPr lang="pt-BR" smtClean="0"/>
              <a:pPr/>
              <a:t>18/01/2018</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1CA96723-F396-4F87-9871-9BAFE0353388}" type="slidenum">
              <a:rPr lang="pt-BR" smtClean="0"/>
              <a:pPr/>
              <a:t>‹nº›</a:t>
            </a:fld>
            <a:endParaRPr lang="pt-BR"/>
          </a:p>
        </p:txBody>
      </p:sp>
    </p:spTree>
    <p:extLst>
      <p:ext uri="{BB962C8B-B14F-4D97-AF65-F5344CB8AC3E}">
        <p14:creationId xmlns:p14="http://schemas.microsoft.com/office/powerpoint/2010/main" xmlns="" val="2276858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a:prstGeom prst="rect">
            <a:avLst/>
          </a:prstGeom>
        </p:spPr>
        <p:txBody>
          <a:bodyPr/>
          <a:lstStyle/>
          <a:p>
            <a:r>
              <a:rPr lang="pt-BR"/>
              <a:t>Clique para editar o título mestre</a:t>
            </a:r>
          </a:p>
        </p:txBody>
      </p:sp>
      <p:sp>
        <p:nvSpPr>
          <p:cNvPr id="3" name="Espaço Reservado para Texto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p:cNvSpPr>
            <a:spLocks noGrp="1"/>
          </p:cNvSpPr>
          <p:nvPr>
            <p:ph sz="half" idx="2"/>
          </p:nvPr>
        </p:nvSpPr>
        <p:spPr>
          <a:xfrm>
            <a:off x="839788" y="2505075"/>
            <a:ext cx="5157787" cy="3684588"/>
          </a:xfrm>
          <a:prstGeom prst="rect">
            <a:avLst/>
          </a:prstGeo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p:cNvSpPr>
            <a:spLocks noGrp="1"/>
          </p:cNvSpPr>
          <p:nvPr>
            <p:ph sz="quarter" idx="4"/>
          </p:nvPr>
        </p:nvSpPr>
        <p:spPr>
          <a:xfrm>
            <a:off x="6172200" y="2505075"/>
            <a:ext cx="5183188" cy="3684588"/>
          </a:xfrm>
          <a:prstGeom prst="rect">
            <a:avLst/>
          </a:prstGeo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FCCB5A8B-9D51-4C37-B2F9-45FE7DA8332A}" type="datetimeFigureOut">
              <a:rPr lang="pt-BR" smtClean="0"/>
              <a:pPr/>
              <a:t>18/01/2018</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1CA96723-F396-4F87-9871-9BAFE0353388}" type="slidenum">
              <a:rPr lang="pt-BR" smtClean="0"/>
              <a:pPr/>
              <a:t>‹nº›</a:t>
            </a:fld>
            <a:endParaRPr lang="pt-BR"/>
          </a:p>
        </p:txBody>
      </p:sp>
    </p:spTree>
    <p:extLst>
      <p:ext uri="{BB962C8B-B14F-4D97-AF65-F5344CB8AC3E}">
        <p14:creationId xmlns:p14="http://schemas.microsoft.com/office/powerpoint/2010/main" xmlns="" val="3797447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5"/>
            <a:ext cx="10515600" cy="1325563"/>
          </a:xfrm>
          <a:prstGeom prst="rect">
            <a:avLst/>
          </a:prstGeom>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FCCB5A8B-9D51-4C37-B2F9-45FE7DA8332A}" type="datetimeFigureOut">
              <a:rPr lang="pt-BR" smtClean="0"/>
              <a:pPr/>
              <a:t>18/01/2018</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1CA96723-F396-4F87-9871-9BAFE0353388}" type="slidenum">
              <a:rPr lang="pt-BR" smtClean="0"/>
              <a:pPr/>
              <a:t>‹nº›</a:t>
            </a:fld>
            <a:endParaRPr lang="pt-BR"/>
          </a:p>
        </p:txBody>
      </p:sp>
    </p:spTree>
    <p:extLst>
      <p:ext uri="{BB962C8B-B14F-4D97-AF65-F5344CB8AC3E}">
        <p14:creationId xmlns:p14="http://schemas.microsoft.com/office/powerpoint/2010/main" xmlns="" val="384155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FCCB5A8B-9D51-4C37-B2F9-45FE7DA8332A}" type="datetimeFigureOut">
              <a:rPr lang="pt-BR" smtClean="0"/>
              <a:pPr/>
              <a:t>18/01/2018</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1CA96723-F396-4F87-9871-9BAFE0353388}" type="slidenum">
              <a:rPr lang="pt-BR" smtClean="0"/>
              <a:pPr/>
              <a:t>‹nº›</a:t>
            </a:fld>
            <a:endParaRPr lang="pt-BR"/>
          </a:p>
        </p:txBody>
      </p:sp>
    </p:spTree>
    <p:extLst>
      <p:ext uri="{BB962C8B-B14F-4D97-AF65-F5344CB8AC3E}">
        <p14:creationId xmlns:p14="http://schemas.microsoft.com/office/powerpoint/2010/main" xmlns="" val="2158260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a:prstGeom prst="rect">
            <a:avLst/>
          </a:prstGeom>
        </p:spPr>
        <p:txBody>
          <a:bodyPr anchor="b"/>
          <a:lstStyle>
            <a:lvl1pPr>
              <a:defRPr sz="3200"/>
            </a:lvl1pPr>
          </a:lstStyle>
          <a:p>
            <a:r>
              <a:rPr lang="pt-BR"/>
              <a:t>Clique para editar o título mestre</a:t>
            </a:r>
          </a:p>
        </p:txBody>
      </p:sp>
      <p:sp>
        <p:nvSpPr>
          <p:cNvPr id="3" name="Espaço Reservado para Conteúdo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p:cNvSpPr>
            <a:spLocks noGrp="1"/>
          </p:cNvSpPr>
          <p:nvPr>
            <p:ph type="dt" sz="half" idx="10"/>
          </p:nvPr>
        </p:nvSpPr>
        <p:spPr/>
        <p:txBody>
          <a:bodyPr/>
          <a:lstStyle/>
          <a:p>
            <a:fld id="{FCCB5A8B-9D51-4C37-B2F9-45FE7DA8332A}" type="datetimeFigureOut">
              <a:rPr lang="pt-BR" smtClean="0"/>
              <a:pPr/>
              <a:t>18/01/2018</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1CA96723-F396-4F87-9871-9BAFE0353388}" type="slidenum">
              <a:rPr lang="pt-BR" smtClean="0"/>
              <a:pPr/>
              <a:t>‹nº›</a:t>
            </a:fld>
            <a:endParaRPr lang="pt-BR"/>
          </a:p>
        </p:txBody>
      </p:sp>
    </p:spTree>
    <p:extLst>
      <p:ext uri="{BB962C8B-B14F-4D97-AF65-F5344CB8AC3E}">
        <p14:creationId xmlns:p14="http://schemas.microsoft.com/office/powerpoint/2010/main" xmlns="" val="1697116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a:prstGeom prst="rect">
            <a:avLst/>
          </a:prstGeom>
        </p:spPr>
        <p:txBody>
          <a:bodyPr anchor="b"/>
          <a:lstStyle>
            <a:lvl1pPr>
              <a:defRPr sz="3200"/>
            </a:lvl1pPr>
          </a:lstStyle>
          <a:p>
            <a:r>
              <a:rPr lang="pt-BR"/>
              <a:t>Clique para editar o título mestre</a:t>
            </a:r>
          </a:p>
        </p:txBody>
      </p:sp>
      <p:sp>
        <p:nvSpPr>
          <p:cNvPr id="3" name="Espaço Reservado para Imagem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p:cNvSpPr>
            <a:spLocks noGrp="1"/>
          </p:cNvSpPr>
          <p:nvPr>
            <p:ph type="dt" sz="half" idx="10"/>
          </p:nvPr>
        </p:nvSpPr>
        <p:spPr/>
        <p:txBody>
          <a:bodyPr/>
          <a:lstStyle/>
          <a:p>
            <a:fld id="{FCCB5A8B-9D51-4C37-B2F9-45FE7DA8332A}" type="datetimeFigureOut">
              <a:rPr lang="pt-BR" smtClean="0"/>
              <a:pPr/>
              <a:t>18/01/2018</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1CA96723-F396-4F87-9871-9BAFE0353388}" type="slidenum">
              <a:rPr lang="pt-BR" smtClean="0"/>
              <a:pPr/>
              <a:t>‹nº›</a:t>
            </a:fld>
            <a:endParaRPr lang="pt-BR"/>
          </a:p>
        </p:txBody>
      </p:sp>
    </p:spTree>
    <p:extLst>
      <p:ext uri="{BB962C8B-B14F-4D97-AF65-F5344CB8AC3E}">
        <p14:creationId xmlns:p14="http://schemas.microsoft.com/office/powerpoint/2010/main" xmlns="" val="2221828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5"/>
            <a:ext cx="10515600" cy="1325563"/>
          </a:xfrm>
          <a:prstGeom prst="rect">
            <a:avLst/>
          </a:prstGeom>
        </p:spPr>
        <p:txBody>
          <a:bodyPr/>
          <a:lstStyle/>
          <a:p>
            <a:r>
              <a:rPr lang="pt-BR"/>
              <a:t>Clique para editar o título mestre</a:t>
            </a:r>
          </a:p>
        </p:txBody>
      </p:sp>
      <p:sp>
        <p:nvSpPr>
          <p:cNvPr id="3" name="Espaço Reservado para Texto Vertical 2"/>
          <p:cNvSpPr>
            <a:spLocks noGrp="1"/>
          </p:cNvSpPr>
          <p:nvPr>
            <p:ph type="body" orient="vert" idx="1"/>
          </p:nvPr>
        </p:nvSpPr>
        <p:spPr>
          <a:xfrm>
            <a:off x="838200" y="1825625"/>
            <a:ext cx="10515600" cy="4351338"/>
          </a:xfrm>
          <a:prstGeom prst="rect">
            <a:avLst/>
          </a:prstGeo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FCCB5A8B-9D51-4C37-B2F9-45FE7DA8332A}" type="datetimeFigureOut">
              <a:rPr lang="pt-BR" smtClean="0"/>
              <a:pPr/>
              <a:t>18/01/2018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1CA96723-F396-4F87-9871-9BAFE0353388}" type="slidenum">
              <a:rPr lang="pt-BR" smtClean="0"/>
              <a:pPr/>
              <a:t>‹nº›</a:t>
            </a:fld>
            <a:endParaRPr lang="pt-BR"/>
          </a:p>
        </p:txBody>
      </p:sp>
    </p:spTree>
    <p:extLst>
      <p:ext uri="{BB962C8B-B14F-4D97-AF65-F5344CB8AC3E}">
        <p14:creationId xmlns:p14="http://schemas.microsoft.com/office/powerpoint/2010/main" xmlns="" val="3253974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a:prstGeom prst="rect">
            <a:avLst/>
          </a:prstGeo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838200" y="365125"/>
            <a:ext cx="7734300" cy="5811838"/>
          </a:xfrm>
          <a:prstGeom prst="rect">
            <a:avLst/>
          </a:prstGeo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FCCB5A8B-9D51-4C37-B2F9-45FE7DA8332A}" type="datetimeFigureOut">
              <a:rPr lang="pt-BR" smtClean="0"/>
              <a:pPr/>
              <a:t>18/01/2018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1CA96723-F396-4F87-9871-9BAFE0353388}" type="slidenum">
              <a:rPr lang="pt-BR" smtClean="0"/>
              <a:pPr/>
              <a:t>‹nº›</a:t>
            </a:fld>
            <a:endParaRPr lang="pt-BR"/>
          </a:p>
        </p:txBody>
      </p:sp>
    </p:spTree>
    <p:extLst>
      <p:ext uri="{BB962C8B-B14F-4D97-AF65-F5344CB8AC3E}">
        <p14:creationId xmlns:p14="http://schemas.microsoft.com/office/powerpoint/2010/main" xmlns="" val="352405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CB5A8B-9D51-4C37-B2F9-45FE7DA8332A}" type="datetimeFigureOut">
              <a:rPr lang="pt-BR" smtClean="0"/>
              <a:pPr/>
              <a:t>18/01/2018</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A96723-F396-4F87-9871-9BAFE0353388}" type="slidenum">
              <a:rPr lang="pt-BR" smtClean="0"/>
              <a:pPr/>
              <a:t>‹nº›</a:t>
            </a:fld>
            <a:endParaRPr lang="pt-BR"/>
          </a:p>
        </p:txBody>
      </p:sp>
      <p:pic>
        <p:nvPicPr>
          <p:cNvPr id="15" name="Imagem 14"/>
          <p:cNvPicPr>
            <a:picLocks noChangeAspect="1"/>
          </p:cNvPicPr>
          <p:nvPr userDrawn="1"/>
        </p:nvPicPr>
        <p:blipFill rotWithShape="1">
          <a:blip r:embed="rId13" cstate="print"/>
          <a:srcRect l="768" b="3545"/>
          <a:stretch/>
        </p:blipFill>
        <p:spPr>
          <a:xfrm>
            <a:off x="0" y="0"/>
            <a:ext cx="12192000" cy="901521"/>
          </a:xfrm>
          <a:prstGeom prst="rect">
            <a:avLst/>
          </a:prstGeom>
        </p:spPr>
      </p:pic>
      <p:sp>
        <p:nvSpPr>
          <p:cNvPr id="16" name="Retângulo 15"/>
          <p:cNvSpPr/>
          <p:nvPr userDrawn="1"/>
        </p:nvSpPr>
        <p:spPr>
          <a:xfrm>
            <a:off x="899693" y="325549"/>
            <a:ext cx="5204178" cy="5244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tângulo 16"/>
          <p:cNvSpPr/>
          <p:nvPr userDrawn="1"/>
        </p:nvSpPr>
        <p:spPr>
          <a:xfrm>
            <a:off x="6577130" y="0"/>
            <a:ext cx="5204178" cy="5244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8" name="Imagem 17"/>
          <p:cNvPicPr>
            <a:picLocks noChangeAspect="1"/>
          </p:cNvPicPr>
          <p:nvPr userDrawn="1"/>
        </p:nvPicPr>
        <p:blipFill rotWithShape="1">
          <a:blip r:embed="rId13" cstate="print"/>
          <a:srcRect l="768" b="3545"/>
          <a:stretch/>
        </p:blipFill>
        <p:spPr>
          <a:xfrm flipV="1">
            <a:off x="0" y="6375042"/>
            <a:ext cx="12192000" cy="528676"/>
          </a:xfrm>
          <a:prstGeom prst="rect">
            <a:avLst/>
          </a:prstGeom>
        </p:spPr>
      </p:pic>
      <p:sp>
        <p:nvSpPr>
          <p:cNvPr id="19" name="Retângulo 18"/>
          <p:cNvSpPr/>
          <p:nvPr userDrawn="1"/>
        </p:nvSpPr>
        <p:spPr>
          <a:xfrm>
            <a:off x="888642" y="6375042"/>
            <a:ext cx="5204178" cy="3291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Retângulo 19"/>
          <p:cNvSpPr/>
          <p:nvPr userDrawn="1"/>
        </p:nvSpPr>
        <p:spPr>
          <a:xfrm>
            <a:off x="6372901" y="6554630"/>
            <a:ext cx="5204178" cy="3291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xmlns="" val="4596293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3.xml"/><Relationship Id="rId5" Type="http://schemas.openxmlformats.org/officeDocument/2006/relationships/image" Target="../media/image6.jpe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hyperlink" Target="http://www.manifestoagil.com.br/"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hyperlink" Target="mailto:treinamento@ctsnet.com.br" TargetMode="External"/><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4192024" y="927080"/>
            <a:ext cx="3983788" cy="2493068"/>
          </a:xfrm>
          <a:prstGeom prst="rect">
            <a:avLst/>
          </a:prstGeom>
          <a:noFill/>
          <a:ln w="9525">
            <a:noFill/>
            <a:miter lim="800000"/>
            <a:headEnd/>
            <a:tailEnd/>
          </a:ln>
          <a:effectLst/>
        </p:spPr>
      </p:pic>
      <p:sp>
        <p:nvSpPr>
          <p:cNvPr id="3" name="Título 11"/>
          <p:cNvSpPr txBox="1">
            <a:spLocks/>
          </p:cNvSpPr>
          <p:nvPr/>
        </p:nvSpPr>
        <p:spPr>
          <a:xfrm>
            <a:off x="1432858" y="4329954"/>
            <a:ext cx="9472707" cy="936625"/>
          </a:xfrm>
          <a:prstGeom prst="rect">
            <a:avLst/>
          </a:prstGeom>
        </p:spPr>
        <p:txBody>
          <a:bodyPr anchor="ct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pt-BR" altLang="pt-BR" sz="3600" b="0" i="0" u="none" strike="noStrike" kern="1200" cap="none" spc="0" normalizeH="0" baseline="0" noProof="0" dirty="0" smtClean="0">
                <a:ln>
                  <a:noFill/>
                </a:ln>
                <a:solidFill>
                  <a:schemeClr val="tx1"/>
                </a:solidFill>
                <a:effectLst/>
                <a:uLnTx/>
                <a:uFillTx/>
                <a:latin typeface="+mj-lt"/>
                <a:ea typeface="+mj-ea"/>
                <a:cs typeface="+mj-cs"/>
              </a:rPr>
              <a:t>Academia do Teste</a:t>
            </a:r>
          </a:p>
        </p:txBody>
      </p:sp>
      <p:sp>
        <p:nvSpPr>
          <p:cNvPr id="4" name="Meio-quadro 3"/>
          <p:cNvSpPr/>
          <p:nvPr/>
        </p:nvSpPr>
        <p:spPr>
          <a:xfrm>
            <a:off x="1317812" y="4249271"/>
            <a:ext cx="3052482" cy="497542"/>
          </a:xfrm>
          <a:prstGeom prst="halfFrame">
            <a:avLst>
              <a:gd name="adj1" fmla="val 22522"/>
              <a:gd name="adj2" fmla="val 22522"/>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 name="Meio-quadro 4"/>
          <p:cNvSpPr/>
          <p:nvPr/>
        </p:nvSpPr>
        <p:spPr>
          <a:xfrm rot="10800000">
            <a:off x="8054788" y="4706473"/>
            <a:ext cx="2944906" cy="632011"/>
          </a:xfrm>
          <a:prstGeom prst="halfFrame">
            <a:avLst>
              <a:gd name="adj1" fmla="val 24822"/>
              <a:gd name="adj2" fmla="val 20567"/>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6" name="Listra Diagonal 5"/>
          <p:cNvSpPr/>
          <p:nvPr/>
        </p:nvSpPr>
        <p:spPr>
          <a:xfrm rot="427499">
            <a:off x="3671041" y="5204014"/>
            <a:ext cx="2151529" cy="268941"/>
          </a:xfrm>
          <a:prstGeom prst="diagStrip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7" name="Listra Diagonal 6"/>
          <p:cNvSpPr/>
          <p:nvPr/>
        </p:nvSpPr>
        <p:spPr>
          <a:xfrm rot="11111232">
            <a:off x="6391830" y="4105838"/>
            <a:ext cx="2151529" cy="268941"/>
          </a:xfrm>
          <a:prstGeom prst="diagStrip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20484" name="AutoShape 4" descr="https://mail.zoho.com/mail/ImageDisplay?na=1863270000000008001&amp;nmsgId=1863270000000785003&amp;f=1.gif&amp;mode=inline&am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11" name="CaixaDeTexto 10"/>
          <p:cNvSpPr txBox="1"/>
          <p:nvPr/>
        </p:nvSpPr>
        <p:spPr>
          <a:xfrm>
            <a:off x="3725833" y="6334780"/>
            <a:ext cx="4831307" cy="523220"/>
          </a:xfrm>
          <a:prstGeom prst="rect">
            <a:avLst/>
          </a:prstGeom>
          <a:noFill/>
        </p:spPr>
        <p:txBody>
          <a:bodyPr wrap="square" rtlCol="0">
            <a:spAutoFit/>
          </a:bodyPr>
          <a:lstStyle/>
          <a:p>
            <a:pPr lvl="0" algn="ctr"/>
            <a:r>
              <a:rPr lang="pt-BR" altLang="pt-BR" sz="2800" dirty="0" smtClean="0"/>
              <a:t>Capítulos </a:t>
            </a:r>
            <a:r>
              <a:rPr lang="pt-BR" altLang="pt-BR" sz="2800" dirty="0" smtClean="0"/>
              <a:t>I e </a:t>
            </a:r>
            <a:r>
              <a:rPr lang="pt-BR" altLang="pt-BR" sz="2800" dirty="0" smtClean="0"/>
              <a:t>II</a:t>
            </a:r>
            <a:endParaRPr lang="pt-BR" altLang="pt-BR" sz="2800" dirty="0" smtClean="0"/>
          </a:p>
        </p:txBody>
      </p:sp>
    </p:spTree>
    <p:extLst>
      <p:ext uri="{BB962C8B-B14F-4D97-AF65-F5344CB8AC3E}">
        <p14:creationId xmlns="" xmlns:p14="http://schemas.microsoft.com/office/powerpoint/2010/main" val="22372956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ítulo 11"/>
          <p:cNvSpPr>
            <a:spLocks noGrp="1"/>
          </p:cNvSpPr>
          <p:nvPr>
            <p:ph type="title"/>
          </p:nvPr>
        </p:nvSpPr>
        <p:spPr>
          <a:xfrm>
            <a:off x="639482" y="268942"/>
            <a:ext cx="9643533" cy="936625"/>
          </a:xfrm>
        </p:spPr>
        <p:txBody>
          <a:bodyPr anchor="ctr"/>
          <a:lstStyle/>
          <a:p>
            <a:pPr eaLnBrk="1" hangingPunct="1"/>
            <a:r>
              <a:rPr lang="pt-BR" altLang="pt-BR" sz="3600" b="1" dirty="0" smtClean="0"/>
              <a:t>Quem é a CTS?</a:t>
            </a:r>
          </a:p>
        </p:txBody>
      </p:sp>
      <p:sp>
        <p:nvSpPr>
          <p:cNvPr id="3" name="Retângulo 2">
            <a:extLst>
              <a:ext uri="{FF2B5EF4-FFF2-40B4-BE49-F238E27FC236}">
                <a16:creationId xmlns="" xmlns:a16="http://schemas.microsoft.com/office/drawing/2014/main" id="{B2D2D6E9-2B8B-4EF1-B071-E9F181EA4285}"/>
              </a:ext>
            </a:extLst>
          </p:cNvPr>
          <p:cNvSpPr/>
          <p:nvPr/>
        </p:nvSpPr>
        <p:spPr>
          <a:xfrm>
            <a:off x="389964" y="1279397"/>
            <a:ext cx="10972801" cy="3170099"/>
          </a:xfrm>
          <a:prstGeom prst="rect">
            <a:avLst/>
          </a:prstGeom>
        </p:spPr>
        <p:txBody>
          <a:bodyPr wrap="square">
            <a:spAutoFit/>
          </a:bodyPr>
          <a:lstStyle/>
          <a:p>
            <a:pPr algn="just">
              <a:buFont typeface="Wingdings" pitchFamily="2" charset="2"/>
              <a:buChar char="Ø"/>
            </a:pPr>
            <a:r>
              <a:rPr lang="pt-BR" sz="2000" dirty="0" smtClean="0"/>
              <a:t> Uma consultoria focada em treinamentos especializados.</a:t>
            </a:r>
          </a:p>
          <a:p>
            <a:pPr algn="just">
              <a:buFont typeface="Wingdings" pitchFamily="2" charset="2"/>
              <a:buChar char="Ø"/>
            </a:pPr>
            <a:endParaRPr lang="pt-BR" sz="2000" dirty="0" smtClean="0"/>
          </a:p>
          <a:p>
            <a:pPr algn="just">
              <a:buFont typeface="Wingdings" pitchFamily="2" charset="2"/>
              <a:buChar char="Ø"/>
            </a:pPr>
            <a:r>
              <a:rPr lang="pt-BR" sz="2000" dirty="0" smtClean="0"/>
              <a:t> Somos especialistas na preparação de profissionais para certificações em Testes de Software e Requisitos.</a:t>
            </a:r>
          </a:p>
          <a:p>
            <a:pPr algn="just">
              <a:buFont typeface="Wingdings" pitchFamily="2" charset="2"/>
              <a:buChar char="Ø"/>
            </a:pPr>
            <a:endParaRPr lang="pt-BR" sz="2000" dirty="0" smtClean="0"/>
          </a:p>
          <a:p>
            <a:pPr algn="just">
              <a:buFont typeface="Wingdings" pitchFamily="2" charset="2"/>
              <a:buChar char="Ø"/>
            </a:pPr>
            <a:r>
              <a:rPr lang="pt-BR" sz="2000" dirty="0" smtClean="0"/>
              <a:t> Formamos equipes para atuarem com testes e levantamento de requisitos.</a:t>
            </a:r>
          </a:p>
          <a:p>
            <a:pPr algn="just">
              <a:buFont typeface="Wingdings" pitchFamily="2" charset="2"/>
              <a:buChar char="Ø"/>
            </a:pPr>
            <a:endParaRPr lang="pt-BR" sz="2000" dirty="0" smtClean="0"/>
          </a:p>
          <a:p>
            <a:pPr algn="just">
              <a:buFont typeface="Wingdings" pitchFamily="2" charset="2"/>
              <a:buChar char="Ø"/>
            </a:pPr>
            <a:r>
              <a:rPr lang="pt-BR" sz="2000" dirty="0" smtClean="0"/>
              <a:t> Transformamos equipes que já atuam em testes no modelo tradicional preparando-as para atuarem no contexto ágil.</a:t>
            </a:r>
            <a:endParaRPr lang="pt-BR" sz="2000" dirty="0"/>
          </a:p>
          <a:p>
            <a:pPr algn="just"/>
            <a:endParaRPr lang="pt-BR" sz="2000" dirty="0"/>
          </a:p>
        </p:txBody>
      </p:sp>
      <p:pic>
        <p:nvPicPr>
          <p:cNvPr id="2" name="Imagem 1"/>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3424725" y="4305367"/>
            <a:ext cx="2660765" cy="1929688"/>
          </a:xfrm>
          <a:prstGeom prst="rect">
            <a:avLst/>
          </a:prstGeom>
        </p:spPr>
      </p:pic>
      <p:pic>
        <p:nvPicPr>
          <p:cNvPr id="5" name="Imagem 4"/>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619544" y="4305367"/>
            <a:ext cx="2575601" cy="1929688"/>
          </a:xfrm>
          <a:prstGeom prst="rect">
            <a:avLst/>
          </a:prstGeom>
        </p:spPr>
      </p:pic>
      <p:pic>
        <p:nvPicPr>
          <p:cNvPr id="6" name="Imagem 5"/>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6225744" y="4305368"/>
            <a:ext cx="2758952" cy="1929688"/>
          </a:xfrm>
          <a:prstGeom prst="rect">
            <a:avLst/>
          </a:prstGeom>
        </p:spPr>
      </p:pic>
      <p:pic>
        <p:nvPicPr>
          <p:cNvPr id="8" name="Imagem 7"/>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a:xfrm>
            <a:off x="9124950" y="4305367"/>
            <a:ext cx="3028906" cy="1970690"/>
          </a:xfrm>
          <a:prstGeom prst="rect">
            <a:avLst/>
          </a:prstGeom>
        </p:spPr>
      </p:pic>
      <p:sp>
        <p:nvSpPr>
          <p:cNvPr id="9" name="Espaço Reservado para Rodapé 6"/>
          <p:cNvSpPr>
            <a:spLocks noGrp="1"/>
          </p:cNvSpPr>
          <p:nvPr>
            <p:ph type="ftr" sz="quarter" idx="11"/>
          </p:nvPr>
        </p:nvSpPr>
        <p:spPr>
          <a:xfrm>
            <a:off x="4038601" y="6483969"/>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transition>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ítulo 11"/>
          <p:cNvSpPr>
            <a:spLocks noGrp="1"/>
          </p:cNvSpPr>
          <p:nvPr>
            <p:ph type="title"/>
          </p:nvPr>
        </p:nvSpPr>
        <p:spPr>
          <a:xfrm>
            <a:off x="639482" y="268942"/>
            <a:ext cx="9643533" cy="936625"/>
          </a:xfrm>
        </p:spPr>
        <p:txBody>
          <a:bodyPr anchor="ctr"/>
          <a:lstStyle/>
          <a:p>
            <a:pPr eaLnBrk="1" hangingPunct="1"/>
            <a:r>
              <a:rPr lang="pt-BR" altLang="pt-BR" sz="3600" b="1" dirty="0" smtClean="0"/>
              <a:t>O que mais  fazemos ?</a:t>
            </a:r>
          </a:p>
        </p:txBody>
      </p:sp>
      <p:sp>
        <p:nvSpPr>
          <p:cNvPr id="6" name="Espaço Reservado para Conteúdo 2"/>
          <p:cNvSpPr txBox="1">
            <a:spLocks/>
          </p:cNvSpPr>
          <p:nvPr/>
        </p:nvSpPr>
        <p:spPr>
          <a:xfrm>
            <a:off x="1148082" y="1119116"/>
            <a:ext cx="9475094" cy="5738884"/>
          </a:xfrm>
          <a:prstGeom prst="rect">
            <a:avLst/>
          </a:prstGeom>
        </p:spPr>
        <p:txBody>
          <a:bodyPr vert="horz" lIns="91440" tIns="45720" rIns="91440" bIns="45720" rtlCol="0" anchor="ctr"/>
          <a:lstStyle/>
          <a:p>
            <a:pPr marR="0" lvl="0" indent="0" algn="just" fontAlgn="auto">
              <a:lnSpc>
                <a:spcPct val="100000"/>
              </a:lnSpc>
              <a:spcBef>
                <a:spcPts val="0"/>
              </a:spcBef>
              <a:spcAft>
                <a:spcPts val="0"/>
              </a:spcAft>
              <a:buClrTx/>
              <a:buSzTx/>
              <a:buFont typeface="Wingdings" pitchFamily="2" charset="2"/>
              <a:buChar char="Ø"/>
              <a:tabLst/>
              <a:defRPr/>
            </a:pP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  </a:t>
            </a:r>
            <a:r>
              <a:rPr lang="pt-BR" altLang="pt-BR" sz="2000" dirty="0" smtClean="0"/>
              <a:t>Mapeamento de Competências</a:t>
            </a:r>
            <a:r>
              <a:rPr lang="pt-BR" altLang="pt-BR" sz="2000" dirty="0" smtClean="0"/>
              <a:t>;</a:t>
            </a:r>
          </a:p>
          <a:p>
            <a:pPr marR="0" lvl="0" indent="0" algn="just" fontAlgn="auto">
              <a:lnSpc>
                <a:spcPct val="100000"/>
              </a:lnSpc>
              <a:spcBef>
                <a:spcPts val="0"/>
              </a:spcBef>
              <a:spcAft>
                <a:spcPts val="0"/>
              </a:spcAft>
              <a:buClrTx/>
              <a:buSzTx/>
              <a:buFont typeface="Wingdings" pitchFamily="2" charset="2"/>
              <a:buChar char="Ø"/>
              <a:tabLst/>
              <a:defRPr/>
            </a:pPr>
            <a:endParaRPr lang="pt-BR" altLang="pt-BR" sz="800" dirty="0" smtClean="0"/>
          </a:p>
          <a:p>
            <a:pPr marR="0" lvl="0" indent="0" algn="just" fontAlgn="auto">
              <a:lnSpc>
                <a:spcPct val="100000"/>
              </a:lnSpc>
              <a:spcBef>
                <a:spcPts val="0"/>
              </a:spcBef>
              <a:spcAft>
                <a:spcPts val="0"/>
              </a:spcAft>
              <a:buClrTx/>
              <a:buSzTx/>
              <a:buFont typeface="Wingdings" pitchFamily="2" charset="2"/>
              <a:buChar char="Ø"/>
              <a:tabLst/>
              <a:defRPr/>
            </a:pPr>
            <a:r>
              <a:rPr lang="pt-BR" altLang="pt-BR" sz="2000" dirty="0" smtClean="0"/>
              <a:t>  Auditoria e Emissão de Laudos;</a:t>
            </a:r>
          </a:p>
          <a:p>
            <a:pPr marR="0" lvl="0" indent="0" algn="just" fontAlgn="auto">
              <a:lnSpc>
                <a:spcPct val="100000"/>
              </a:lnSpc>
              <a:spcBef>
                <a:spcPts val="0"/>
              </a:spcBef>
              <a:spcAft>
                <a:spcPts val="0"/>
              </a:spcAft>
              <a:buClrTx/>
              <a:buSzTx/>
              <a:buFont typeface="Wingdings" pitchFamily="2" charset="2"/>
              <a:buChar char="Ø"/>
              <a:tabLst/>
              <a:defRPr/>
            </a:pPr>
            <a:endParaRPr lang="pt-BR" altLang="pt-BR" sz="800" dirty="0" smtClean="0"/>
          </a:p>
          <a:p>
            <a:pPr marR="0" lvl="0" indent="0" algn="just" fontAlgn="auto">
              <a:lnSpc>
                <a:spcPct val="100000"/>
              </a:lnSpc>
              <a:spcBef>
                <a:spcPts val="0"/>
              </a:spcBef>
              <a:spcAft>
                <a:spcPts val="0"/>
              </a:spcAft>
              <a:buClrTx/>
              <a:buSzTx/>
              <a:buFont typeface="Wingdings" pitchFamily="2" charset="2"/>
              <a:buChar char="Ø"/>
              <a:tabLst/>
              <a:defRPr/>
            </a:pPr>
            <a:r>
              <a:rPr lang="pt-BR" altLang="pt-BR" sz="2000" dirty="0" smtClean="0"/>
              <a:t>  </a:t>
            </a:r>
            <a:r>
              <a:rPr lang="pt-BR" altLang="pt-BR" sz="2000" dirty="0" smtClean="0"/>
              <a:t>Verificação e certificação de artefatos (Teste Estático);</a:t>
            </a:r>
          </a:p>
          <a:p>
            <a:pPr marR="0" lvl="0" indent="0" algn="just" fontAlgn="auto">
              <a:lnSpc>
                <a:spcPct val="100000"/>
              </a:lnSpc>
              <a:spcBef>
                <a:spcPts val="0"/>
              </a:spcBef>
              <a:spcAft>
                <a:spcPts val="0"/>
              </a:spcAft>
              <a:buClrTx/>
              <a:buSzTx/>
              <a:tabLst/>
              <a:defRPr/>
            </a:pPr>
            <a:r>
              <a:rPr lang="pt-BR" altLang="pt-BR" sz="800" dirty="0" smtClean="0"/>
              <a:t> </a:t>
            </a:r>
          </a:p>
          <a:p>
            <a:pPr marR="0" lvl="0" indent="0" algn="just" fontAlgn="auto">
              <a:lnSpc>
                <a:spcPct val="100000"/>
              </a:lnSpc>
              <a:spcBef>
                <a:spcPts val="0"/>
              </a:spcBef>
              <a:spcAft>
                <a:spcPts val="0"/>
              </a:spcAft>
              <a:buClrTx/>
              <a:buSzTx/>
              <a:buFont typeface="Wingdings" pitchFamily="2" charset="2"/>
              <a:buChar char="Ø"/>
              <a:tabLst/>
              <a:defRPr/>
            </a:pPr>
            <a:r>
              <a:rPr lang="pt-BR" altLang="pt-BR" sz="2000" dirty="0" smtClean="0"/>
              <a:t> </a:t>
            </a:r>
            <a:r>
              <a:rPr lang="pt-BR" altLang="pt-BR" sz="2000" dirty="0" smtClean="0"/>
              <a:t>Desenvolvimento </a:t>
            </a:r>
            <a:r>
              <a:rPr lang="pt-BR" altLang="pt-BR" sz="2000" dirty="0" smtClean="0"/>
              <a:t>técnico e comportamental de equipes</a:t>
            </a:r>
            <a:r>
              <a:rPr lang="pt-BR" altLang="pt-BR" sz="2000" dirty="0" smtClean="0"/>
              <a:t>;</a:t>
            </a:r>
          </a:p>
          <a:p>
            <a:pPr marR="0" lvl="0" indent="0" algn="just" fontAlgn="auto">
              <a:lnSpc>
                <a:spcPct val="100000"/>
              </a:lnSpc>
              <a:spcBef>
                <a:spcPts val="0"/>
              </a:spcBef>
              <a:spcAft>
                <a:spcPts val="0"/>
              </a:spcAft>
              <a:buClrTx/>
              <a:buSzTx/>
              <a:tabLst/>
              <a:defRPr/>
            </a:pPr>
            <a:endParaRPr lang="pt-BR" altLang="pt-BR" sz="800" dirty="0" smtClean="0"/>
          </a:p>
          <a:p>
            <a:pPr marR="0" lvl="0" indent="0" algn="just" fontAlgn="auto">
              <a:lnSpc>
                <a:spcPct val="100000"/>
              </a:lnSpc>
              <a:spcBef>
                <a:spcPts val="0"/>
              </a:spcBef>
              <a:spcAft>
                <a:spcPts val="0"/>
              </a:spcAft>
              <a:buClrTx/>
              <a:buSzTx/>
              <a:buFont typeface="Wingdings" pitchFamily="2" charset="2"/>
              <a:buChar char="Ø"/>
              <a:tabLst/>
              <a:defRPr/>
            </a:pPr>
            <a:r>
              <a:rPr lang="pt-BR" altLang="pt-BR" sz="2000" dirty="0" smtClean="0"/>
              <a:t>  </a:t>
            </a:r>
            <a:r>
              <a:rPr lang="pt-BR" altLang="pt-BR" sz="2000" dirty="0" err="1" smtClean="0"/>
              <a:t>Coaching</a:t>
            </a:r>
            <a:r>
              <a:rPr lang="pt-BR" altLang="pt-BR" sz="2000" dirty="0" smtClean="0"/>
              <a:t> e </a:t>
            </a:r>
            <a:r>
              <a:rPr lang="pt-BR" altLang="pt-BR" sz="2000" dirty="0" err="1" smtClean="0"/>
              <a:t>mentoria</a:t>
            </a:r>
            <a:r>
              <a:rPr lang="pt-BR" altLang="pt-BR" sz="2000" dirty="0" smtClean="0"/>
              <a:t> para Líderes e Gestores;</a:t>
            </a:r>
          </a:p>
          <a:p>
            <a:pPr marR="0" lvl="0" indent="0" algn="just" fontAlgn="auto">
              <a:lnSpc>
                <a:spcPct val="100000"/>
              </a:lnSpc>
              <a:spcBef>
                <a:spcPts val="0"/>
              </a:spcBef>
              <a:spcAft>
                <a:spcPts val="0"/>
              </a:spcAft>
              <a:buClrTx/>
              <a:buSzTx/>
              <a:tabLst/>
              <a:defRPr/>
            </a:pPr>
            <a:r>
              <a:rPr lang="pt-BR" altLang="pt-BR" sz="800" dirty="0" smtClean="0"/>
              <a:t>  </a:t>
            </a:r>
            <a:endParaRPr lang="pt-BR" altLang="pt-BR" sz="800" dirty="0" smtClean="0"/>
          </a:p>
          <a:p>
            <a:pPr marR="0" lvl="0" indent="0" algn="just" fontAlgn="auto">
              <a:lnSpc>
                <a:spcPct val="100000"/>
              </a:lnSpc>
              <a:spcBef>
                <a:spcPts val="0"/>
              </a:spcBef>
              <a:spcAft>
                <a:spcPts val="0"/>
              </a:spcAft>
              <a:buClrTx/>
              <a:buSzTx/>
              <a:buFont typeface="Wingdings" pitchFamily="2" charset="2"/>
              <a:buChar char="Ø"/>
              <a:tabLst/>
              <a:defRPr/>
            </a:pPr>
            <a:r>
              <a:rPr lang="pt-BR" altLang="pt-BR" sz="2000" dirty="0" smtClean="0"/>
              <a:t>Mapeamento </a:t>
            </a:r>
            <a:r>
              <a:rPr lang="pt-BR" altLang="pt-BR" sz="2000" dirty="0" smtClean="0"/>
              <a:t>de Processo</a:t>
            </a:r>
            <a:r>
              <a:rPr lang="pt-BR" altLang="pt-BR" sz="2000" dirty="0" smtClean="0"/>
              <a:t>;</a:t>
            </a:r>
          </a:p>
          <a:p>
            <a:pPr marR="0" lvl="0" indent="0" algn="just" fontAlgn="auto">
              <a:lnSpc>
                <a:spcPct val="100000"/>
              </a:lnSpc>
              <a:spcBef>
                <a:spcPts val="0"/>
              </a:spcBef>
              <a:spcAft>
                <a:spcPts val="0"/>
              </a:spcAft>
              <a:buClrTx/>
              <a:buSzTx/>
              <a:buFont typeface="Wingdings" pitchFamily="2" charset="2"/>
              <a:buChar char="Ø"/>
              <a:tabLst/>
              <a:defRPr/>
            </a:pPr>
            <a:endParaRPr lang="pt-BR" altLang="pt-BR" sz="800" dirty="0" smtClean="0"/>
          </a:p>
          <a:p>
            <a:pPr marR="0" lvl="0" indent="0" algn="just" fontAlgn="auto">
              <a:lnSpc>
                <a:spcPct val="100000"/>
              </a:lnSpc>
              <a:spcBef>
                <a:spcPts val="0"/>
              </a:spcBef>
              <a:spcAft>
                <a:spcPts val="0"/>
              </a:spcAft>
              <a:buClrTx/>
              <a:buSzTx/>
              <a:buFont typeface="Wingdings" pitchFamily="2" charset="2"/>
              <a:buChar char="Ø"/>
              <a:tabLst/>
              <a:defRPr/>
            </a:pPr>
            <a:r>
              <a:rPr lang="pt-BR" altLang="pt-BR" sz="2000" dirty="0" smtClean="0"/>
              <a:t>  Implementação de processo, metodologia e política de Qualidade de Software</a:t>
            </a:r>
            <a:r>
              <a:rPr lang="pt-BR" altLang="pt-BR" sz="2000" dirty="0" smtClean="0"/>
              <a:t>;</a:t>
            </a:r>
          </a:p>
          <a:p>
            <a:pPr marR="0" lvl="0" indent="0" algn="just" fontAlgn="auto">
              <a:lnSpc>
                <a:spcPct val="100000"/>
              </a:lnSpc>
              <a:spcBef>
                <a:spcPts val="0"/>
              </a:spcBef>
              <a:spcAft>
                <a:spcPts val="0"/>
              </a:spcAft>
              <a:buClrTx/>
              <a:buSzTx/>
              <a:buFont typeface="Wingdings" pitchFamily="2" charset="2"/>
              <a:buChar char="Ø"/>
              <a:tabLst/>
              <a:defRPr/>
            </a:pPr>
            <a:endParaRPr lang="pt-BR" altLang="pt-BR" sz="800" dirty="0" smtClean="0"/>
          </a:p>
          <a:p>
            <a:pPr marR="0" lvl="0" indent="0" algn="just" fontAlgn="auto">
              <a:lnSpc>
                <a:spcPct val="100000"/>
              </a:lnSpc>
              <a:spcBef>
                <a:spcPts val="0"/>
              </a:spcBef>
              <a:spcAft>
                <a:spcPts val="0"/>
              </a:spcAft>
              <a:buClrTx/>
              <a:buSzTx/>
              <a:buFont typeface="Wingdings" pitchFamily="2" charset="2"/>
              <a:buChar char="Ø"/>
              <a:tabLst/>
              <a:defRPr/>
            </a:pPr>
            <a:r>
              <a:rPr lang="pt-BR" altLang="pt-BR" sz="2000" dirty="0" smtClean="0"/>
              <a:t>  </a:t>
            </a:r>
            <a:r>
              <a:rPr lang="pt-BR" altLang="pt-BR" sz="2000" dirty="0" smtClean="0"/>
              <a:t>Consultoria/condução do processo de RFP e seleção de fornecedores</a:t>
            </a:r>
            <a:r>
              <a:rPr lang="pt-BR" altLang="pt-BR" sz="2000" dirty="0" smtClean="0"/>
              <a:t>;</a:t>
            </a:r>
          </a:p>
          <a:p>
            <a:pPr marR="0" lvl="0" indent="0" algn="just" fontAlgn="auto">
              <a:lnSpc>
                <a:spcPct val="100000"/>
              </a:lnSpc>
              <a:spcBef>
                <a:spcPts val="0"/>
              </a:spcBef>
              <a:spcAft>
                <a:spcPts val="0"/>
              </a:spcAft>
              <a:buClrTx/>
              <a:buSzTx/>
              <a:buFont typeface="Wingdings" pitchFamily="2" charset="2"/>
              <a:buChar char="Ø"/>
              <a:tabLst/>
              <a:defRPr/>
            </a:pPr>
            <a:endParaRPr lang="pt-BR" altLang="pt-BR" sz="800" dirty="0" smtClean="0"/>
          </a:p>
          <a:p>
            <a:pPr marR="0" lvl="0" indent="0" algn="just" fontAlgn="auto">
              <a:lnSpc>
                <a:spcPct val="100000"/>
              </a:lnSpc>
              <a:spcBef>
                <a:spcPts val="0"/>
              </a:spcBef>
              <a:spcAft>
                <a:spcPts val="0"/>
              </a:spcAft>
              <a:buClrTx/>
              <a:buSzTx/>
              <a:buFont typeface="Wingdings" pitchFamily="2" charset="2"/>
              <a:buChar char="Ø"/>
              <a:tabLst/>
              <a:defRPr/>
            </a:pPr>
            <a:r>
              <a:rPr lang="pt-BR" altLang="pt-BR" sz="2000" dirty="0" smtClean="0"/>
              <a:t>  Mapeamento e classificação da cobertura dos testes</a:t>
            </a:r>
            <a:r>
              <a:rPr lang="pt-BR" altLang="pt-BR" sz="2000" dirty="0" smtClean="0"/>
              <a:t>;</a:t>
            </a:r>
          </a:p>
          <a:p>
            <a:pPr marR="0" lvl="0" indent="0" algn="just" fontAlgn="auto">
              <a:lnSpc>
                <a:spcPct val="100000"/>
              </a:lnSpc>
              <a:spcBef>
                <a:spcPts val="0"/>
              </a:spcBef>
              <a:spcAft>
                <a:spcPts val="0"/>
              </a:spcAft>
              <a:buClrTx/>
              <a:buSzTx/>
              <a:buFont typeface="Wingdings" pitchFamily="2" charset="2"/>
              <a:buChar char="Ø"/>
              <a:tabLst/>
              <a:defRPr/>
            </a:pPr>
            <a:endParaRPr lang="pt-BR" altLang="pt-BR" sz="800" dirty="0" smtClean="0"/>
          </a:p>
          <a:p>
            <a:pPr marR="0" lvl="0" indent="0" algn="just" fontAlgn="auto">
              <a:lnSpc>
                <a:spcPct val="100000"/>
              </a:lnSpc>
              <a:spcBef>
                <a:spcPts val="0"/>
              </a:spcBef>
              <a:spcAft>
                <a:spcPts val="0"/>
              </a:spcAft>
              <a:buClrTx/>
              <a:buSzTx/>
              <a:buFont typeface="Wingdings" pitchFamily="2" charset="2"/>
              <a:buChar char="Ø"/>
              <a:tabLst/>
              <a:defRPr/>
            </a:pPr>
            <a:r>
              <a:rPr lang="pt-BR" altLang="pt-BR" sz="2000" dirty="0" smtClean="0"/>
              <a:t>  Palestras, Congressos e Workshop.</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pt-BR" altLang="pt-BR" sz="2000" b="0" i="0" u="none" strike="noStrike" kern="1200" cap="none" spc="0" normalizeH="0" baseline="0" noProof="0" dirty="0">
              <a:ln>
                <a:noFill/>
              </a:ln>
              <a:solidFill>
                <a:schemeClr val="tx1"/>
              </a:solidFill>
              <a:effectLst/>
              <a:uLnTx/>
              <a:uFillTx/>
              <a:latin typeface="+mn-lt"/>
              <a:ea typeface="+mn-ea"/>
              <a:cs typeface="Segoe UI Semilight" panose="020B0402040204020203" pitchFamily="34" charset="0"/>
            </a:endParaRPr>
          </a:p>
        </p:txBody>
      </p:sp>
      <p:sp>
        <p:nvSpPr>
          <p:cNvPr id="4" name="Espaço Reservado para Rodapé 6"/>
          <p:cNvSpPr>
            <a:spLocks noGrp="1"/>
          </p:cNvSpPr>
          <p:nvPr>
            <p:ph type="ftr" sz="quarter" idx="11"/>
          </p:nvPr>
        </p:nvSpPr>
        <p:spPr>
          <a:xfrm>
            <a:off x="4038601" y="6483969"/>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transition>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ítulo 11"/>
          <p:cNvSpPr>
            <a:spLocks noGrp="1"/>
          </p:cNvSpPr>
          <p:nvPr>
            <p:ph type="title"/>
          </p:nvPr>
        </p:nvSpPr>
        <p:spPr>
          <a:xfrm>
            <a:off x="639482" y="161366"/>
            <a:ext cx="9643533" cy="936625"/>
          </a:xfrm>
        </p:spPr>
        <p:txBody>
          <a:bodyPr anchor="ctr"/>
          <a:lstStyle/>
          <a:p>
            <a:pPr eaLnBrk="1" hangingPunct="1"/>
            <a:r>
              <a:rPr lang="pt-BR" altLang="pt-BR" sz="3600" b="1" dirty="0" smtClean="0"/>
              <a:t>Quem é o Ezequiel Lima?</a:t>
            </a:r>
          </a:p>
        </p:txBody>
      </p:sp>
      <p:sp>
        <p:nvSpPr>
          <p:cNvPr id="4" name="Espaço Reservado para Conteúdo 2"/>
          <p:cNvSpPr txBox="1">
            <a:spLocks/>
          </p:cNvSpPr>
          <p:nvPr/>
        </p:nvSpPr>
        <p:spPr>
          <a:xfrm>
            <a:off x="932932" y="1427094"/>
            <a:ext cx="10012974" cy="4536504"/>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tabLst/>
              <a:defRPr/>
            </a:pPr>
            <a:endPar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Sou consultor especialista em Teste de Software.</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Tenho aproximadamente 15 anos de experiência com Testes de Software.</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Sou o fundador da CTS – Consultoria Treinamento e Suporte.</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Possuo as certificações:</a:t>
            </a:r>
          </a:p>
          <a:p>
            <a:pPr marL="914400" marR="0" lvl="2" indent="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pt-BR" altLang="pt-BR" sz="2000" b="1"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CTFL</a:t>
            </a: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 – </a:t>
            </a:r>
            <a:r>
              <a:rPr kumimoji="0" lang="pt-BR" altLang="pt-BR" sz="2000" b="0" i="0" u="none" strike="noStrike" kern="1200" cap="none" spc="0" normalizeH="0" baseline="0" noProof="0" dirty="0" err="1" smtClean="0">
                <a:ln>
                  <a:noFill/>
                </a:ln>
                <a:solidFill>
                  <a:schemeClr val="tx1"/>
                </a:solidFill>
                <a:effectLst/>
                <a:uLnTx/>
                <a:uFillTx/>
                <a:latin typeface="+mn-lt"/>
                <a:ea typeface="+mn-ea"/>
                <a:cs typeface="Segoe UI Semilight" panose="020B0402040204020203" pitchFamily="34" charset="0"/>
              </a:rPr>
              <a:t>Certifield</a:t>
            </a: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 </a:t>
            </a:r>
            <a:r>
              <a:rPr kumimoji="0" lang="pt-BR" altLang="pt-BR" sz="2000" b="0" i="0" u="none" strike="noStrike" kern="1200" cap="none" spc="0" normalizeH="0" baseline="0" noProof="0" dirty="0" err="1" smtClean="0">
                <a:ln>
                  <a:noFill/>
                </a:ln>
                <a:solidFill>
                  <a:schemeClr val="tx1"/>
                </a:solidFill>
                <a:effectLst/>
                <a:uLnTx/>
                <a:uFillTx/>
                <a:latin typeface="+mn-lt"/>
                <a:ea typeface="+mn-ea"/>
                <a:cs typeface="Segoe UI Semilight" panose="020B0402040204020203" pitchFamily="34" charset="0"/>
              </a:rPr>
              <a:t>Tester</a:t>
            </a: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 </a:t>
            </a:r>
            <a:r>
              <a:rPr kumimoji="0" lang="pt-BR" altLang="pt-BR" sz="2000" b="0" i="0" u="none" strike="noStrike" kern="1200" cap="none" spc="0" normalizeH="0" baseline="0" noProof="0" dirty="0" err="1" smtClean="0">
                <a:ln>
                  <a:noFill/>
                </a:ln>
                <a:solidFill>
                  <a:schemeClr val="tx1"/>
                </a:solidFill>
                <a:effectLst/>
                <a:uLnTx/>
                <a:uFillTx/>
                <a:latin typeface="+mn-lt"/>
                <a:ea typeface="+mn-ea"/>
                <a:cs typeface="Segoe UI Semilight" panose="020B0402040204020203" pitchFamily="34" charset="0"/>
              </a:rPr>
              <a:t>Foudation</a:t>
            </a: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 </a:t>
            </a:r>
            <a:r>
              <a:rPr kumimoji="0" lang="pt-BR" altLang="pt-BR" sz="2000" b="0" i="0" u="none" strike="noStrike" kern="1200" cap="none" spc="0" normalizeH="0" baseline="0" noProof="0" dirty="0" err="1" smtClean="0">
                <a:ln>
                  <a:noFill/>
                </a:ln>
                <a:solidFill>
                  <a:schemeClr val="tx1"/>
                </a:solidFill>
                <a:effectLst/>
                <a:uLnTx/>
                <a:uFillTx/>
                <a:latin typeface="+mn-lt"/>
                <a:ea typeface="+mn-ea"/>
                <a:cs typeface="Segoe UI Semilight" panose="020B0402040204020203" pitchFamily="34" charset="0"/>
              </a:rPr>
              <a:t>Level</a:t>
            </a:r>
            <a:endPar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endParaRPr>
          </a:p>
          <a:p>
            <a:pPr marL="914400" marR="0" lvl="2" indent="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pt-BR" altLang="pt-BR" sz="2000" b="1"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CTAL-TA</a:t>
            </a: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 - </a:t>
            </a:r>
            <a:r>
              <a:rPr kumimoji="0" lang="pt-BR" altLang="pt-BR" sz="2000" b="0" i="0" u="none" strike="noStrike" kern="1200" cap="none" spc="0" normalizeH="0" baseline="0" noProof="0" dirty="0" err="1" smtClean="0">
                <a:ln>
                  <a:noFill/>
                </a:ln>
                <a:solidFill>
                  <a:schemeClr val="tx1"/>
                </a:solidFill>
                <a:effectLst/>
                <a:uLnTx/>
                <a:uFillTx/>
                <a:latin typeface="+mn-lt"/>
                <a:ea typeface="+mn-ea"/>
                <a:cs typeface="Segoe UI Semilight" panose="020B0402040204020203" pitchFamily="34" charset="0"/>
              </a:rPr>
              <a:t>Certifield</a:t>
            </a: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 </a:t>
            </a:r>
            <a:r>
              <a:rPr kumimoji="0" lang="pt-BR" altLang="pt-BR" sz="2000" b="0" i="0" u="none" strike="noStrike" kern="1200" cap="none" spc="0" normalizeH="0" baseline="0" noProof="0" dirty="0" err="1" smtClean="0">
                <a:ln>
                  <a:noFill/>
                </a:ln>
                <a:solidFill>
                  <a:schemeClr val="tx1"/>
                </a:solidFill>
                <a:effectLst/>
                <a:uLnTx/>
                <a:uFillTx/>
                <a:latin typeface="+mn-lt"/>
                <a:ea typeface="+mn-ea"/>
                <a:cs typeface="Segoe UI Semilight" panose="020B0402040204020203" pitchFamily="34" charset="0"/>
              </a:rPr>
              <a:t>Tester</a:t>
            </a: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 </a:t>
            </a:r>
            <a:r>
              <a:rPr kumimoji="0" lang="pt-BR" altLang="pt-BR" sz="2000" b="0" i="0" u="none" strike="noStrike" kern="1200" cap="none" spc="0" normalizeH="0" baseline="0" noProof="0" dirty="0" err="1" smtClean="0">
                <a:ln>
                  <a:noFill/>
                </a:ln>
                <a:solidFill>
                  <a:schemeClr val="tx1"/>
                </a:solidFill>
                <a:effectLst/>
                <a:uLnTx/>
                <a:uFillTx/>
                <a:latin typeface="+mn-lt"/>
                <a:ea typeface="+mn-ea"/>
                <a:cs typeface="Segoe UI Semilight" panose="020B0402040204020203" pitchFamily="34" charset="0"/>
              </a:rPr>
              <a:t>Advanced</a:t>
            </a: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 </a:t>
            </a:r>
            <a:r>
              <a:rPr kumimoji="0" lang="pt-BR" altLang="pt-BR" sz="2000" b="0" i="0" u="none" strike="noStrike" kern="1200" cap="none" spc="0" normalizeH="0" baseline="0" noProof="0" dirty="0" err="1" smtClean="0">
                <a:ln>
                  <a:noFill/>
                </a:ln>
                <a:solidFill>
                  <a:schemeClr val="tx1"/>
                </a:solidFill>
                <a:effectLst/>
                <a:uLnTx/>
                <a:uFillTx/>
                <a:latin typeface="+mn-lt"/>
                <a:ea typeface="+mn-ea"/>
                <a:cs typeface="Segoe UI Semilight" panose="020B0402040204020203" pitchFamily="34" charset="0"/>
              </a:rPr>
              <a:t>Level</a:t>
            </a: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 – </a:t>
            </a:r>
            <a:r>
              <a:rPr kumimoji="0" lang="pt-BR" altLang="pt-BR" sz="2000" b="0" i="0" u="none" strike="noStrike" kern="1200" cap="none" spc="0" normalizeH="0" baseline="0" noProof="0" dirty="0" err="1" smtClean="0">
                <a:ln>
                  <a:noFill/>
                </a:ln>
                <a:solidFill>
                  <a:schemeClr val="tx1"/>
                </a:solidFill>
                <a:effectLst/>
                <a:uLnTx/>
                <a:uFillTx/>
                <a:latin typeface="+mn-lt"/>
                <a:ea typeface="+mn-ea"/>
                <a:cs typeface="Segoe UI Semilight" panose="020B0402040204020203" pitchFamily="34" charset="0"/>
              </a:rPr>
              <a:t>Test</a:t>
            </a: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 </a:t>
            </a:r>
            <a:r>
              <a:rPr kumimoji="0" lang="pt-BR" altLang="pt-BR" sz="2000" b="0" i="0" u="none" strike="noStrike" kern="1200" cap="none" spc="0" normalizeH="0" baseline="0" noProof="0" dirty="0" err="1" smtClean="0">
                <a:ln>
                  <a:noFill/>
                </a:ln>
                <a:solidFill>
                  <a:schemeClr val="tx1"/>
                </a:solidFill>
                <a:effectLst/>
                <a:uLnTx/>
                <a:uFillTx/>
                <a:latin typeface="+mn-lt"/>
                <a:ea typeface="+mn-ea"/>
                <a:cs typeface="Segoe UI Semilight" panose="020B0402040204020203" pitchFamily="34" charset="0"/>
              </a:rPr>
              <a:t>Analyst</a:t>
            </a:r>
            <a:endPar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endParaRPr>
          </a:p>
          <a:p>
            <a:pPr marL="514350"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 </a:t>
            </a: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Ministro treinamentos de:</a:t>
            </a:r>
          </a:p>
          <a:p>
            <a:pPr marL="457200" marR="0" lvl="1" indent="0" algn="l" defTabSz="914400" rtl="0" eaLnBrk="1" fontAlgn="auto" latinLnBrk="0" hangingPunct="1">
              <a:lnSpc>
                <a:spcPct val="100000"/>
              </a:lnSpc>
              <a:spcBef>
                <a:spcPts val="0"/>
              </a:spcBef>
              <a:spcAft>
                <a:spcPts val="0"/>
              </a:spcAft>
              <a:buClrTx/>
              <a:buSzTx/>
              <a:buFont typeface="Wingdings" pitchFamily="2" charset="2"/>
              <a:buChar char="ü"/>
              <a:tabLst/>
              <a:defRPr/>
            </a:pP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 Formação</a:t>
            </a:r>
          </a:p>
          <a:p>
            <a:pPr marL="457200" marR="0" lvl="1" indent="0" algn="l" defTabSz="914400" rtl="0" eaLnBrk="1" fontAlgn="auto" latinLnBrk="0" hangingPunct="1">
              <a:lnSpc>
                <a:spcPct val="100000"/>
              </a:lnSpc>
              <a:spcBef>
                <a:spcPts val="0"/>
              </a:spcBef>
              <a:spcAft>
                <a:spcPts val="0"/>
              </a:spcAft>
              <a:buClrTx/>
              <a:buSzTx/>
              <a:buFont typeface="Wingdings" pitchFamily="2" charset="2"/>
              <a:buChar char="ü"/>
              <a:tabLst/>
              <a:defRPr/>
            </a:pP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 Gestão (Planejamento, Estimativa, Estratégias, Desenvolvimento de Equipes)</a:t>
            </a:r>
          </a:p>
          <a:p>
            <a:pPr marL="457200" marR="0" lvl="1" indent="0" algn="l" defTabSz="914400" rtl="0" eaLnBrk="1" fontAlgn="auto" latinLnBrk="0" hangingPunct="1">
              <a:lnSpc>
                <a:spcPct val="100000"/>
              </a:lnSpc>
              <a:spcBef>
                <a:spcPts val="0"/>
              </a:spcBef>
              <a:spcAft>
                <a:spcPts val="0"/>
              </a:spcAft>
              <a:buClrTx/>
              <a:buSzTx/>
              <a:buFont typeface="Wingdings" pitchFamily="2" charset="2"/>
              <a:buChar char="ü"/>
              <a:tabLst/>
              <a:defRPr/>
            </a:pP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 Ágil</a:t>
            </a:r>
          </a:p>
          <a:p>
            <a:pPr marL="457200" marR="0" lvl="1" indent="0" algn="l" defTabSz="914400" rtl="0" eaLnBrk="1" fontAlgn="auto" latinLnBrk="0" hangingPunct="1">
              <a:lnSpc>
                <a:spcPct val="100000"/>
              </a:lnSpc>
              <a:spcBef>
                <a:spcPts val="0"/>
              </a:spcBef>
              <a:spcAft>
                <a:spcPts val="0"/>
              </a:spcAft>
              <a:buClrTx/>
              <a:buSzTx/>
              <a:buFont typeface="Wingdings" pitchFamily="2" charset="2"/>
              <a:buChar char="ü"/>
              <a:tabLst/>
              <a:defRPr/>
            </a:pP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 Comportamental/Motivacional.</a:t>
            </a:r>
            <a:endParaRPr kumimoji="0" lang="pt-BR" altLang="pt-BR" sz="2000" b="0" i="0" u="none" strike="noStrike" kern="1200" cap="none" spc="0" normalizeH="0" baseline="0" noProof="0" dirty="0">
              <a:ln>
                <a:noFill/>
              </a:ln>
              <a:solidFill>
                <a:schemeClr val="tx1"/>
              </a:solidFill>
              <a:effectLst/>
              <a:uLnTx/>
              <a:uFillTx/>
              <a:latin typeface="+mn-lt"/>
              <a:ea typeface="+mn-ea"/>
              <a:cs typeface="Segoe UI Semilight" panose="020B0402040204020203" pitchFamily="34" charset="0"/>
            </a:endParaRPr>
          </a:p>
        </p:txBody>
      </p:sp>
      <p:sp>
        <p:nvSpPr>
          <p:cNvPr id="5" name="Espaço Reservado para Rodapé 6"/>
          <p:cNvSpPr>
            <a:spLocks noGrp="1"/>
          </p:cNvSpPr>
          <p:nvPr>
            <p:ph type="ftr" sz="quarter" idx="11"/>
          </p:nvPr>
        </p:nvSpPr>
        <p:spPr>
          <a:xfrm>
            <a:off x="4038601" y="6483969"/>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transition>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ítulo 11"/>
          <p:cNvSpPr>
            <a:spLocks noGrp="1"/>
          </p:cNvSpPr>
          <p:nvPr>
            <p:ph type="title"/>
          </p:nvPr>
        </p:nvSpPr>
        <p:spPr>
          <a:xfrm>
            <a:off x="639482" y="161366"/>
            <a:ext cx="9643533" cy="936625"/>
          </a:xfrm>
        </p:spPr>
        <p:txBody>
          <a:bodyPr anchor="ctr"/>
          <a:lstStyle/>
          <a:p>
            <a:pPr eaLnBrk="1" hangingPunct="1"/>
            <a:r>
              <a:rPr lang="pt-BR" altLang="pt-BR" sz="3600" b="1" dirty="0" smtClean="0"/>
              <a:t>Sobre o Curso</a:t>
            </a:r>
            <a:endParaRPr lang="pt-BR" altLang="pt-BR" sz="3600" b="1" dirty="0" smtClean="0"/>
          </a:p>
        </p:txBody>
      </p:sp>
      <p:sp>
        <p:nvSpPr>
          <p:cNvPr id="4" name="Espaço Reservado para Conteúdo 2"/>
          <p:cNvSpPr txBox="1">
            <a:spLocks/>
          </p:cNvSpPr>
          <p:nvPr/>
        </p:nvSpPr>
        <p:spPr>
          <a:xfrm>
            <a:off x="932932" y="1618167"/>
            <a:ext cx="10012974" cy="3281384"/>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 O Curso tem uma duração de 32hs</a:t>
            </a:r>
            <a:endPar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pt-BR" altLang="pt-BR" sz="2000" noProof="0" dirty="0" smtClean="0">
                <a:cs typeface="Segoe UI Semilight" panose="020B0402040204020203" pitchFamily="34" charset="0"/>
              </a:rPr>
              <a:t> Ao final do curso o aluno receberá um certificado de conclusão.</a:t>
            </a:r>
            <a:endPar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 Quem obtiver mais de 70% de frequência</a:t>
            </a:r>
            <a:r>
              <a:rPr kumimoji="0" lang="pt-BR" altLang="pt-BR" sz="2000" b="0" i="0" u="none" strike="noStrike" kern="1200" cap="none" spc="0" normalizeH="0" noProof="0" dirty="0" smtClean="0">
                <a:ln>
                  <a:noFill/>
                </a:ln>
                <a:solidFill>
                  <a:schemeClr val="tx1"/>
                </a:solidFill>
                <a:effectLst/>
                <a:uLnTx/>
                <a:uFillTx/>
                <a:latin typeface="+mn-lt"/>
                <a:ea typeface="+mn-ea"/>
                <a:cs typeface="Segoe UI Semilight" panose="020B0402040204020203" pitchFamily="34" charset="0"/>
              </a:rPr>
              <a:t> e mínimo de 80% de acertos na prova final ganhará:</a:t>
            </a:r>
          </a:p>
          <a:p>
            <a:pPr lvl="1">
              <a:buFont typeface="Wingdings" panose="05000000000000000000" pitchFamily="2" charset="2"/>
              <a:buChar char="q"/>
              <a:defRPr/>
            </a:pPr>
            <a:r>
              <a:rPr lang="pt-BR" altLang="pt-BR" sz="2000" baseline="0" dirty="0" smtClean="0">
                <a:cs typeface="Segoe UI Semilight" panose="020B0402040204020203" pitchFamily="34" charset="0"/>
              </a:rPr>
              <a:t>Consultoria</a:t>
            </a:r>
            <a:r>
              <a:rPr lang="pt-BR" altLang="pt-BR" sz="2000" dirty="0" smtClean="0">
                <a:cs typeface="Segoe UI Semilight" panose="020B0402040204020203" pitchFamily="34" charset="0"/>
              </a:rPr>
              <a:t> de Formatação do </a:t>
            </a:r>
            <a:r>
              <a:rPr lang="pt-BR" altLang="pt-BR" sz="2000" dirty="0" err="1" smtClean="0">
                <a:cs typeface="Segoe UI Semilight" panose="020B0402040204020203" pitchFamily="34" charset="0"/>
              </a:rPr>
              <a:t>Curriculo</a:t>
            </a:r>
            <a:r>
              <a:rPr lang="pt-BR" altLang="pt-BR" sz="2000" dirty="0" smtClean="0">
                <a:cs typeface="Segoe UI Semilight" panose="020B0402040204020203" pitchFamily="34" charset="0"/>
              </a:rPr>
              <a:t>.</a:t>
            </a:r>
          </a:p>
          <a:p>
            <a:pPr lvl="1">
              <a:buFont typeface="Wingdings" panose="05000000000000000000" pitchFamily="2" charset="2"/>
              <a:buChar char="q"/>
              <a:defRPr/>
            </a:pP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Será indicado formalmente para os parceiros da</a:t>
            </a:r>
            <a:r>
              <a:rPr kumimoji="0" lang="pt-BR" altLang="pt-BR" sz="2000" b="0" i="0" u="none" strike="noStrike" kern="1200" cap="none" spc="0" normalizeH="0" noProof="0" dirty="0" smtClean="0">
                <a:ln>
                  <a:noFill/>
                </a:ln>
                <a:solidFill>
                  <a:schemeClr val="tx1"/>
                </a:solidFill>
                <a:effectLst/>
                <a:uLnTx/>
                <a:uFillTx/>
                <a:latin typeface="+mn-lt"/>
                <a:ea typeface="+mn-ea"/>
                <a:cs typeface="Segoe UI Semilight" panose="020B0402040204020203" pitchFamily="34" charset="0"/>
              </a:rPr>
              <a:t> CTS para uma seleção (</a:t>
            </a:r>
            <a:r>
              <a:rPr kumimoji="0" lang="pt-BR" altLang="pt-BR" sz="1400" b="0" i="0" u="none" strike="noStrike" kern="1200" cap="none" spc="0" normalizeH="0" noProof="0" dirty="0" smtClean="0">
                <a:ln>
                  <a:noFill/>
                </a:ln>
                <a:solidFill>
                  <a:schemeClr val="tx1"/>
                </a:solidFill>
                <a:effectLst/>
                <a:uLnTx/>
                <a:uFillTx/>
                <a:latin typeface="+mn-lt"/>
                <a:ea typeface="+mn-ea"/>
                <a:cs typeface="Segoe UI Semilight" panose="020B0402040204020203" pitchFamily="34" charset="0"/>
              </a:rPr>
              <a:t>não é garantia de emprego</a:t>
            </a:r>
            <a:r>
              <a:rPr kumimoji="0" lang="pt-BR" altLang="pt-BR" sz="2000" b="0" i="0" u="none" strike="noStrike" kern="1200" cap="none" spc="0" normalizeH="0" noProof="0" dirty="0" smtClean="0">
                <a:ln>
                  <a:noFill/>
                </a:ln>
                <a:solidFill>
                  <a:schemeClr val="tx1"/>
                </a:solidFill>
                <a:effectLst/>
                <a:uLnTx/>
                <a:uFillTx/>
                <a:latin typeface="+mn-lt"/>
                <a:ea typeface="+mn-ea"/>
                <a:cs typeface="Segoe UI Semilight" panose="020B0402040204020203" pitchFamily="34" charset="0"/>
              </a:rPr>
              <a:t>).</a:t>
            </a:r>
            <a:endParaRPr lang="pt-BR" altLang="pt-BR" sz="2000" dirty="0" smtClean="0">
              <a:cs typeface="Segoe UI Semilight" panose="020B0402040204020203" pitchFamily="34" charset="0"/>
            </a:endParaRPr>
          </a:p>
          <a:p>
            <a:pPr lvl="1">
              <a:buFont typeface="Wingdings" panose="05000000000000000000" pitchFamily="2" charset="2"/>
              <a:buChar char="q"/>
              <a:defRPr/>
            </a:pPr>
            <a:endPar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endParaRPr>
          </a:p>
          <a:p>
            <a:pPr marL="0" marR="0" lvl="0" indent="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 A abordagem será expositiva e prática (com dinâmicas em sala).</a:t>
            </a:r>
            <a:endPar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endParaRPr>
          </a:p>
        </p:txBody>
      </p:sp>
      <p:sp>
        <p:nvSpPr>
          <p:cNvPr id="5" name="Espaço Reservado para Rodapé 6"/>
          <p:cNvSpPr>
            <a:spLocks noGrp="1"/>
          </p:cNvSpPr>
          <p:nvPr>
            <p:ph type="ftr" sz="quarter" idx="11"/>
          </p:nvPr>
        </p:nvSpPr>
        <p:spPr>
          <a:xfrm>
            <a:off x="4038601" y="6483969"/>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t>By </a:t>
            </a:r>
            <a:r>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t>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transition>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ítulo 11"/>
          <p:cNvSpPr>
            <a:spLocks noGrp="1"/>
          </p:cNvSpPr>
          <p:nvPr>
            <p:ph type="title"/>
          </p:nvPr>
        </p:nvSpPr>
        <p:spPr>
          <a:xfrm>
            <a:off x="639482" y="161366"/>
            <a:ext cx="9643533" cy="936625"/>
          </a:xfrm>
        </p:spPr>
        <p:txBody>
          <a:bodyPr anchor="ctr"/>
          <a:lstStyle/>
          <a:p>
            <a:pPr eaLnBrk="1" hangingPunct="1"/>
            <a:r>
              <a:rPr lang="pt-BR" altLang="pt-BR" sz="3600" b="1" dirty="0" smtClean="0"/>
              <a:t>Sobre o Curso</a:t>
            </a:r>
            <a:endParaRPr lang="pt-BR" altLang="pt-BR" sz="3600" b="1" dirty="0" smtClean="0"/>
          </a:p>
        </p:txBody>
      </p:sp>
      <p:sp>
        <p:nvSpPr>
          <p:cNvPr id="4" name="Espaço Reservado para Conteúdo 2"/>
          <p:cNvSpPr txBox="1">
            <a:spLocks/>
          </p:cNvSpPr>
          <p:nvPr/>
        </p:nvSpPr>
        <p:spPr>
          <a:xfrm>
            <a:off x="932932" y="1058599"/>
            <a:ext cx="10012974" cy="74290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rPr>
              <a:t>O curso é</a:t>
            </a:r>
            <a:r>
              <a:rPr kumimoji="0" lang="pt-BR" altLang="pt-BR" sz="2000" b="0" i="0" u="none" strike="noStrike" kern="1200" cap="none" spc="0" normalizeH="0" noProof="0" dirty="0" smtClean="0">
                <a:ln>
                  <a:noFill/>
                </a:ln>
                <a:solidFill>
                  <a:schemeClr val="tx1"/>
                </a:solidFill>
                <a:effectLst/>
                <a:uLnTx/>
                <a:uFillTx/>
                <a:latin typeface="+mn-lt"/>
                <a:ea typeface="+mn-ea"/>
                <a:cs typeface="Segoe UI Semilight" panose="020B0402040204020203" pitchFamily="34" charset="0"/>
              </a:rPr>
              <a:t> coposto por 7 capítulos:</a:t>
            </a:r>
            <a:endParaRPr kumimoji="0" lang="pt-BR" altLang="pt-BR" sz="2000" b="0" i="0" u="none" strike="noStrike" kern="1200" cap="none" spc="0" normalizeH="0" baseline="0" noProof="0" dirty="0" smtClean="0">
              <a:ln>
                <a:noFill/>
              </a:ln>
              <a:solidFill>
                <a:schemeClr val="tx1"/>
              </a:solidFill>
              <a:effectLst/>
              <a:uLnTx/>
              <a:uFillTx/>
              <a:latin typeface="+mn-lt"/>
              <a:ea typeface="+mn-ea"/>
              <a:cs typeface="Segoe UI Semilight" panose="020B0402040204020203" pitchFamily="34" charset="0"/>
            </a:endParaRPr>
          </a:p>
        </p:txBody>
      </p:sp>
      <p:sp>
        <p:nvSpPr>
          <p:cNvPr id="5" name="Espaço Reservado para Rodapé 6"/>
          <p:cNvSpPr>
            <a:spLocks noGrp="1"/>
          </p:cNvSpPr>
          <p:nvPr>
            <p:ph type="ftr" sz="quarter" idx="11"/>
          </p:nvPr>
        </p:nvSpPr>
        <p:spPr>
          <a:xfrm>
            <a:off x="4038601" y="6483969"/>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t>By </a:t>
            </a:r>
            <a:r>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t>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CaixaDeTexto 5"/>
          <p:cNvSpPr txBox="1"/>
          <p:nvPr/>
        </p:nvSpPr>
        <p:spPr>
          <a:xfrm>
            <a:off x="1760571" y="1760560"/>
            <a:ext cx="7178722" cy="3970318"/>
          </a:xfrm>
          <a:prstGeom prst="rect">
            <a:avLst/>
          </a:prstGeom>
          <a:noFill/>
        </p:spPr>
        <p:txBody>
          <a:bodyPr wrap="square" rtlCol="0">
            <a:spAutoFit/>
          </a:bodyPr>
          <a:lstStyle/>
          <a:p>
            <a:pPr marL="0" lvl="1">
              <a:buFont typeface="Wingdings" pitchFamily="2" charset="2"/>
              <a:buChar char="ü"/>
              <a:defRPr/>
            </a:pPr>
            <a:r>
              <a:rPr lang="pt-BR" b="1" dirty="0" smtClean="0"/>
              <a:t>Capítulo 1 - Introdução à Engenharia de </a:t>
            </a:r>
            <a:r>
              <a:rPr lang="pt-BR" b="1" dirty="0" smtClean="0"/>
              <a:t>Requisitos</a:t>
            </a:r>
          </a:p>
          <a:p>
            <a:pPr marL="0" lvl="1">
              <a:buFont typeface="Wingdings" pitchFamily="2" charset="2"/>
              <a:buChar char="ü"/>
              <a:defRPr/>
            </a:pPr>
            <a:endParaRPr lang="pt-BR" b="1" dirty="0" smtClean="0"/>
          </a:p>
          <a:p>
            <a:pPr marL="0" lvl="1">
              <a:buFont typeface="Wingdings" pitchFamily="2" charset="2"/>
              <a:buChar char="ü"/>
              <a:defRPr/>
            </a:pPr>
            <a:r>
              <a:rPr lang="pt-BR" b="1" dirty="0" smtClean="0"/>
              <a:t>Capítulo 2 - Desenvolvimento de Software</a:t>
            </a:r>
            <a:endParaRPr lang="pt-BR" dirty="0" smtClean="0"/>
          </a:p>
          <a:p>
            <a:pPr marL="0" lvl="1">
              <a:buFont typeface="Wingdings" pitchFamily="2" charset="2"/>
              <a:buChar char="ü"/>
              <a:defRPr/>
            </a:pPr>
            <a:endParaRPr lang="pt-BR" b="1" dirty="0" smtClean="0"/>
          </a:p>
          <a:p>
            <a:pPr marL="0" lvl="1">
              <a:buFont typeface="Wingdings" pitchFamily="2" charset="2"/>
              <a:buChar char="ü"/>
              <a:defRPr/>
            </a:pPr>
            <a:r>
              <a:rPr lang="pt-BR" b="1" dirty="0" smtClean="0"/>
              <a:t>Capítulo </a:t>
            </a:r>
            <a:r>
              <a:rPr lang="pt-BR" b="1" dirty="0" smtClean="0"/>
              <a:t>3 - Teste de Software </a:t>
            </a:r>
            <a:r>
              <a:rPr lang="pt-BR" b="1" dirty="0" smtClean="0"/>
              <a:t>– Conceitos</a:t>
            </a:r>
          </a:p>
          <a:p>
            <a:pPr marL="0" lvl="1">
              <a:buFont typeface="Wingdings" pitchFamily="2" charset="2"/>
              <a:buChar char="ü"/>
              <a:defRPr/>
            </a:pPr>
            <a:endParaRPr lang="pt-BR" b="1" dirty="0" smtClean="0"/>
          </a:p>
          <a:p>
            <a:pPr marL="0" lvl="1">
              <a:buFont typeface="Wingdings" pitchFamily="2" charset="2"/>
              <a:buChar char="ü"/>
              <a:defRPr/>
            </a:pPr>
            <a:r>
              <a:rPr lang="pt-BR" b="1" dirty="0" smtClean="0"/>
              <a:t>Capítulo </a:t>
            </a:r>
            <a:r>
              <a:rPr lang="pt-BR" b="1" dirty="0" smtClean="0"/>
              <a:t>4 - Estruturando o </a:t>
            </a:r>
            <a:r>
              <a:rPr lang="pt-BR" b="1" dirty="0" smtClean="0"/>
              <a:t>Teste</a:t>
            </a:r>
          </a:p>
          <a:p>
            <a:pPr marL="0" lvl="1">
              <a:buFont typeface="Wingdings" pitchFamily="2" charset="2"/>
              <a:buChar char="ü"/>
              <a:defRPr/>
            </a:pPr>
            <a:endParaRPr lang="pt-BR" b="1" dirty="0" smtClean="0"/>
          </a:p>
          <a:p>
            <a:pPr marL="0" lvl="1">
              <a:buFont typeface="Wingdings" pitchFamily="2" charset="2"/>
              <a:buChar char="ü"/>
              <a:defRPr/>
            </a:pPr>
            <a:r>
              <a:rPr lang="pt-BR" b="1" dirty="0" smtClean="0"/>
              <a:t>Capítulo </a:t>
            </a:r>
            <a:r>
              <a:rPr lang="pt-BR" b="1" dirty="0" smtClean="0"/>
              <a:t>5 - Técnicas de Modelagem de Teste</a:t>
            </a:r>
            <a:endParaRPr lang="pt-BR" dirty="0" smtClean="0"/>
          </a:p>
          <a:p>
            <a:pPr marL="0" lvl="1">
              <a:buFont typeface="Wingdings" pitchFamily="2" charset="2"/>
              <a:buChar char="ü"/>
              <a:defRPr/>
            </a:pPr>
            <a:endParaRPr lang="pt-BR" b="1" dirty="0" smtClean="0"/>
          </a:p>
          <a:p>
            <a:pPr marL="0" lvl="1">
              <a:buFont typeface="Wingdings" pitchFamily="2" charset="2"/>
              <a:buChar char="ü"/>
              <a:defRPr/>
            </a:pPr>
            <a:r>
              <a:rPr lang="pt-BR" b="1" dirty="0" smtClean="0"/>
              <a:t>Capítulo </a:t>
            </a:r>
            <a:r>
              <a:rPr lang="pt-BR" b="1" dirty="0" smtClean="0"/>
              <a:t>6 - Ferramentas de Teste</a:t>
            </a:r>
            <a:endParaRPr lang="pt-BR" dirty="0" smtClean="0"/>
          </a:p>
          <a:p>
            <a:pPr marL="0" lvl="1">
              <a:buFont typeface="Wingdings" pitchFamily="2" charset="2"/>
              <a:buChar char="ü"/>
              <a:defRPr/>
            </a:pPr>
            <a:endParaRPr lang="pt-BR" b="1" dirty="0" smtClean="0"/>
          </a:p>
          <a:p>
            <a:pPr marL="0" lvl="1">
              <a:buFont typeface="Wingdings" pitchFamily="2" charset="2"/>
              <a:buChar char="ü"/>
              <a:defRPr/>
            </a:pPr>
            <a:r>
              <a:rPr lang="pt-BR" b="1" dirty="0" smtClean="0"/>
              <a:t>Capítulo </a:t>
            </a:r>
            <a:r>
              <a:rPr lang="pt-BR" b="1" dirty="0" smtClean="0"/>
              <a:t>7 - Produção de Status </a:t>
            </a:r>
            <a:r>
              <a:rPr lang="pt-BR" b="1" dirty="0" err="1" smtClean="0"/>
              <a:t>Report</a:t>
            </a:r>
            <a:endParaRPr lang="pt-BR" dirty="0" smtClean="0"/>
          </a:p>
          <a:p>
            <a:pPr marL="0" lvl="1">
              <a:buFont typeface="Wingdings" pitchFamily="2" charset="2"/>
              <a:buChar char="ü"/>
              <a:defRPr/>
            </a:pPr>
            <a:endParaRPr lang="pt-BR" dirty="0" smtClean="0"/>
          </a:p>
        </p:txBody>
      </p:sp>
    </p:spTree>
  </p:cSld>
  <p:clrMapOvr>
    <a:masterClrMapping/>
  </p:clrMapOvr>
  <p:transition>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p:cNvSpPr txBox="1"/>
          <p:nvPr/>
        </p:nvSpPr>
        <p:spPr>
          <a:xfrm>
            <a:off x="300565" y="934818"/>
            <a:ext cx="11586635" cy="126188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Capítulo</a:t>
            </a:r>
            <a:r>
              <a:rPr kumimoji="0" lang="pt-BR" sz="4400" b="1" i="0" u="none" strike="noStrike" kern="1200" cap="none" spc="0" normalizeH="0" noProof="0" dirty="0" smtClean="0">
                <a:ln>
                  <a:noFill/>
                </a:ln>
                <a:solidFill>
                  <a:prstClr val="black"/>
                </a:solidFill>
                <a:effectLst/>
                <a:uLnTx/>
                <a:uFillTx/>
                <a:latin typeface="Gill Sans MT" charset="0"/>
                <a:ea typeface="Gill Sans MT" charset="0"/>
                <a:cs typeface="Gill Sans MT" charset="0"/>
              </a:rPr>
              <a:t> 1 – Engenharia de Requisitos</a:t>
            </a:r>
          </a:p>
          <a:p>
            <a:pPr marL="0" marR="0" lvl="0" indent="0" algn="ctr" defTabSz="914400" rtl="0" eaLnBrk="1" fontAlgn="auto" latinLnBrk="0" hangingPunct="1">
              <a:lnSpc>
                <a:spcPct val="100000"/>
              </a:lnSpc>
              <a:spcBef>
                <a:spcPts val="0"/>
              </a:spcBef>
              <a:spcAft>
                <a:spcPts val="0"/>
              </a:spcAft>
              <a:buClrTx/>
              <a:buSzTx/>
              <a:buFontTx/>
              <a:buNone/>
              <a:tabLst/>
              <a:defRPr/>
            </a:pPr>
            <a:r>
              <a:rPr lang="pt-BR" sz="3200" b="1" dirty="0" smtClean="0">
                <a:solidFill>
                  <a:prstClr val="black"/>
                </a:solidFill>
                <a:latin typeface="Gill Sans MT" charset="0"/>
                <a:ea typeface="Gill Sans MT" charset="0"/>
                <a:cs typeface="Gill Sans MT" charset="0"/>
              </a:rPr>
              <a:t>(Introdução)</a:t>
            </a:r>
            <a:r>
              <a:rPr kumimoji="0" lang="pt-BR" sz="3200" b="1" i="0" u="none" strike="noStrike" kern="1200" cap="none" spc="0" normalizeH="0" noProof="0" dirty="0" smtClean="0">
                <a:ln>
                  <a:noFill/>
                </a:ln>
                <a:solidFill>
                  <a:prstClr val="black"/>
                </a:solidFill>
                <a:effectLst/>
                <a:uLnTx/>
                <a:uFillTx/>
                <a:latin typeface="Gill Sans MT" charset="0"/>
                <a:ea typeface="Gill Sans MT" charset="0"/>
                <a:cs typeface="Gill Sans MT" charset="0"/>
              </a:rPr>
              <a:t> </a:t>
            </a:r>
            <a:endParaRPr kumimoji="0" lang="pt-BR" sz="32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pic>
        <p:nvPicPr>
          <p:cNvPr id="1026" name="Picture 2"/>
          <p:cNvPicPr>
            <a:picLocks noChangeAspect="1" noChangeArrowheads="1"/>
          </p:cNvPicPr>
          <p:nvPr/>
        </p:nvPicPr>
        <p:blipFill>
          <a:blip r:embed="rId2" cstate="print"/>
          <a:srcRect b="2825"/>
          <a:stretch>
            <a:fillRect/>
          </a:stretch>
        </p:blipFill>
        <p:spPr bwMode="auto">
          <a:xfrm>
            <a:off x="2128430" y="2418561"/>
            <a:ext cx="7916908" cy="3540497"/>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63" name="CaixaDeTexto 62"/>
          <p:cNvSpPr txBox="1"/>
          <p:nvPr/>
        </p:nvSpPr>
        <p:spPr>
          <a:xfrm>
            <a:off x="235251" y="1126100"/>
            <a:ext cx="4417556"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Índice</a:t>
            </a:r>
            <a:endParaRPr kumimoji="0" lang="pt-BR" sz="44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7" name="Espaço Reservado para Rodapé 6"/>
          <p:cNvSpPr>
            <a:spLocks noGrp="1"/>
          </p:cNvSpPr>
          <p:nvPr>
            <p:ph type="ftr" sz="quarter" idx="11"/>
          </p:nvPr>
        </p:nvSpPr>
        <p:spPr>
          <a:xfrm>
            <a:off x="4038601" y="6483969"/>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Espaço Reservado para Número de Slide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B08DBC-7CE1-4917-8697-D7D5E25F18EC}" type="slidenum">
              <a:rPr kumimoji="0" lang="pt-B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pt-B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10" name="Tabela 9"/>
          <p:cNvGraphicFramePr>
            <a:graphicFrameLocks noGrp="1"/>
          </p:cNvGraphicFramePr>
          <p:nvPr>
            <p:extLst/>
          </p:nvPr>
        </p:nvGraphicFramePr>
        <p:xfrm>
          <a:off x="641423" y="2594228"/>
          <a:ext cx="8584441" cy="2001005"/>
        </p:xfrm>
        <a:graphic>
          <a:graphicData uri="http://schemas.openxmlformats.org/drawingml/2006/table">
            <a:tbl>
              <a:tblPr firstRow="1" bandRow="1">
                <a:tableStyleId>{2D5ABB26-0587-4C30-8999-92F81FD0307C}</a:tableStyleId>
              </a:tblPr>
              <a:tblGrid>
                <a:gridCol w="8584441">
                  <a:extLst>
                    <a:ext uri="{9D8B030D-6E8A-4147-A177-3AD203B41FA5}">
                      <a16:colId xmlns:a16="http://schemas.microsoft.com/office/drawing/2014/main" xmlns="" val="20000"/>
                    </a:ext>
                  </a:extLst>
                </a:gridCol>
              </a:tblGrid>
              <a:tr h="400201">
                <a:tc>
                  <a:txBody>
                    <a:bodyPr/>
                    <a:lstStyle/>
                    <a:p>
                      <a:pPr marL="531813" indent="-531813">
                        <a:buFont typeface="Wingdings" panose="05000000000000000000" pitchFamily="2" charset="2"/>
                        <a:buChar char="v"/>
                      </a:pPr>
                      <a:r>
                        <a:rPr lang="pt-BR" sz="2000" dirty="0" smtClean="0">
                          <a:latin typeface="+mn-lt"/>
                        </a:rPr>
                        <a:t>Engenharia</a:t>
                      </a:r>
                      <a:r>
                        <a:rPr lang="pt-BR" sz="2000" baseline="0" dirty="0" smtClean="0">
                          <a:latin typeface="+mn-lt"/>
                        </a:rPr>
                        <a:t> de Requisitos</a:t>
                      </a:r>
                      <a:endParaRPr lang="pt-BR" sz="2000" dirty="0">
                        <a:latin typeface="+mn-lt"/>
                      </a:endParaRPr>
                    </a:p>
                  </a:txBody>
                  <a:tcPr/>
                </a:tc>
                <a:extLst>
                  <a:ext uri="{0D108BD9-81ED-4DB2-BD59-A6C34878D82A}">
                    <a16:rowId xmlns:a16="http://schemas.microsoft.com/office/drawing/2014/main" xmlns="" val="10000"/>
                  </a:ext>
                </a:extLst>
              </a:tr>
              <a:tr h="400201">
                <a:tc>
                  <a:txBody>
                    <a:bodyPr/>
                    <a:lstStyle/>
                    <a:p>
                      <a:pPr marL="531813" indent="-531813">
                        <a:buFont typeface="Wingdings" panose="05000000000000000000" pitchFamily="2" charset="2"/>
                        <a:buChar char="v"/>
                      </a:pPr>
                      <a:r>
                        <a:rPr lang="pt-BR" sz="2000" dirty="0" smtClean="0">
                          <a:latin typeface="+mn-lt"/>
                        </a:rPr>
                        <a:t>O que é um documento de requisito?</a:t>
                      </a:r>
                      <a:endParaRPr lang="pt-BR" sz="2000" dirty="0">
                        <a:latin typeface="+mn-lt"/>
                      </a:endParaRPr>
                    </a:p>
                  </a:txBody>
                  <a:tcPr/>
                </a:tc>
                <a:extLst>
                  <a:ext uri="{0D108BD9-81ED-4DB2-BD59-A6C34878D82A}">
                    <a16:rowId xmlns:a16="http://schemas.microsoft.com/office/drawing/2014/main" xmlns="" val="10001"/>
                  </a:ext>
                </a:extLst>
              </a:tr>
              <a:tr h="400201">
                <a:tc>
                  <a:txBody>
                    <a:bodyPr/>
                    <a:lstStyle/>
                    <a:p>
                      <a:pPr marL="531813" marR="0" lvl="0" indent="-531813"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pt-BR" sz="2000" dirty="0" smtClean="0">
                          <a:latin typeface="+mn-lt"/>
                        </a:rPr>
                        <a:t>O que é um documento funcional?</a:t>
                      </a:r>
                      <a:endParaRPr lang="pt-BR" sz="2000" dirty="0">
                        <a:latin typeface="+mn-lt"/>
                      </a:endParaRPr>
                    </a:p>
                  </a:txBody>
                  <a:tcPr/>
                </a:tc>
                <a:extLst>
                  <a:ext uri="{0D108BD9-81ED-4DB2-BD59-A6C34878D82A}">
                    <a16:rowId xmlns:a16="http://schemas.microsoft.com/office/drawing/2014/main" xmlns="" val="10002"/>
                  </a:ext>
                </a:extLst>
              </a:tr>
              <a:tr h="400201">
                <a:tc>
                  <a:txBody>
                    <a:bodyPr/>
                    <a:lstStyle/>
                    <a:p>
                      <a:pPr marL="531813" indent="-531813">
                        <a:buFont typeface="Wingdings" panose="05000000000000000000" pitchFamily="2" charset="2"/>
                        <a:buChar char="v"/>
                      </a:pPr>
                      <a:r>
                        <a:rPr lang="pt-BR" sz="2000" dirty="0" smtClean="0">
                          <a:latin typeface="+mn-lt"/>
                        </a:rPr>
                        <a:t>O que é um caso de uso?</a:t>
                      </a:r>
                      <a:endParaRPr lang="pt-BR" sz="2000" dirty="0">
                        <a:latin typeface="+mn-lt"/>
                      </a:endParaRPr>
                    </a:p>
                  </a:txBody>
                  <a:tcPr/>
                </a:tc>
                <a:extLst>
                  <a:ext uri="{0D108BD9-81ED-4DB2-BD59-A6C34878D82A}">
                    <a16:rowId xmlns:a16="http://schemas.microsoft.com/office/drawing/2014/main" xmlns="" val="10003"/>
                  </a:ext>
                </a:extLst>
              </a:tr>
              <a:tr h="400201">
                <a:tc>
                  <a:txBody>
                    <a:bodyPr/>
                    <a:lstStyle/>
                    <a:p>
                      <a:pPr marL="531813" marR="0" lvl="0" indent="-531813"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pt-BR" sz="2000" dirty="0" smtClean="0">
                          <a:latin typeface="+mn-lt"/>
                        </a:rPr>
                        <a:t>O que é um Diagrama</a:t>
                      </a:r>
                      <a:r>
                        <a:rPr lang="pt-BR" sz="2000" baseline="0" dirty="0" smtClean="0">
                          <a:latin typeface="+mn-lt"/>
                        </a:rPr>
                        <a:t> de Caso de Uso?</a:t>
                      </a:r>
                      <a:endParaRPr lang="pt-BR" sz="2000" dirty="0">
                        <a:latin typeface="+mn-lt"/>
                      </a:endParaRPr>
                    </a:p>
                  </a:txBody>
                  <a:tcPr/>
                </a:tc>
                <a:extLst>
                  <a:ext uri="{0D108BD9-81ED-4DB2-BD59-A6C34878D82A}">
                    <a16:rowId xmlns:a16="http://schemas.microsoft.com/office/drawing/2014/main" xmlns="" val="10004"/>
                  </a:ext>
                </a:extLst>
              </a:tr>
            </a:tbl>
          </a:graphicData>
        </a:graphic>
      </p:graphicFrame>
      <p:pic>
        <p:nvPicPr>
          <p:cNvPr id="11" name="Picture 2"/>
          <p:cNvPicPr>
            <a:picLocks noChangeAspect="1" noChangeArrowheads="1"/>
          </p:cNvPicPr>
          <p:nvPr/>
        </p:nvPicPr>
        <p:blipFill>
          <a:blip r:embed="rId3" cstate="print"/>
          <a:srcRect b="2825"/>
          <a:stretch>
            <a:fillRect/>
          </a:stretch>
        </p:blipFill>
        <p:spPr bwMode="auto">
          <a:xfrm>
            <a:off x="7301552" y="2486800"/>
            <a:ext cx="4890448" cy="2187043"/>
          </a:xfrm>
          <a:prstGeom prst="rect">
            <a:avLst/>
          </a:prstGeom>
          <a:noFill/>
          <a:ln w="9525">
            <a:noFill/>
            <a:miter lim="800000"/>
            <a:headEnd/>
            <a:tailEnd/>
          </a:ln>
        </p:spPr>
      </p:pic>
    </p:spTree>
    <p:extLst>
      <p:ext uri="{BB962C8B-B14F-4D97-AF65-F5344CB8AC3E}">
        <p14:creationId xmlns:p14="http://schemas.microsoft.com/office/powerpoint/2010/main" xmlns="" val="27270243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574765" y="1894116"/>
            <a:ext cx="11001103" cy="2873828"/>
          </a:xfrm>
        </p:spPr>
        <p:txBody>
          <a:bodyPr/>
          <a:lstStyle/>
          <a:p>
            <a:pPr>
              <a:buNone/>
            </a:pPr>
            <a:r>
              <a:rPr lang="pt-BR" dirty="0" smtClean="0"/>
              <a:t>O que é?</a:t>
            </a:r>
          </a:p>
          <a:p>
            <a:pPr>
              <a:buNone/>
            </a:pPr>
            <a:endParaRPr lang="pt-BR" dirty="0" smtClean="0"/>
          </a:p>
          <a:p>
            <a:pPr>
              <a:buNone/>
            </a:pPr>
            <a:r>
              <a:rPr lang="pt-BR" dirty="0" smtClean="0"/>
              <a:t>A </a:t>
            </a:r>
            <a:r>
              <a:rPr lang="pt-BR" b="1" dirty="0" smtClean="0"/>
              <a:t>engenharia de requisitos</a:t>
            </a:r>
            <a:r>
              <a:rPr lang="pt-BR" dirty="0" smtClean="0"/>
              <a:t> é um processo que engloba todas as atividades que contribuem para a produção de um documento de </a:t>
            </a:r>
            <a:r>
              <a:rPr lang="pt-BR" b="1" dirty="0" smtClean="0"/>
              <a:t>requisitos</a:t>
            </a:r>
            <a:r>
              <a:rPr lang="pt-BR" dirty="0" smtClean="0"/>
              <a:t> e sua manutenção ao longo do tempo.</a:t>
            </a:r>
            <a:endParaRPr lang="pt-BR" dirty="0" smtClean="0"/>
          </a:p>
        </p:txBody>
      </p:sp>
      <p:sp>
        <p:nvSpPr>
          <p:cNvPr id="5" name="CaixaDeTexto 4"/>
          <p:cNvSpPr txBox="1"/>
          <p:nvPr/>
        </p:nvSpPr>
        <p:spPr>
          <a:xfrm>
            <a:off x="640203" y="104504"/>
            <a:ext cx="1158663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Capítulo</a:t>
            </a:r>
            <a:r>
              <a:rPr kumimoji="0" lang="pt-BR" sz="4400" b="1" i="0" u="none" strike="noStrike" kern="1200" cap="none" spc="0" normalizeH="0" noProof="0" dirty="0" smtClean="0">
                <a:ln>
                  <a:noFill/>
                </a:ln>
                <a:solidFill>
                  <a:prstClr val="black"/>
                </a:solidFill>
                <a:effectLst/>
                <a:uLnTx/>
                <a:uFillTx/>
                <a:latin typeface="Gill Sans MT" charset="0"/>
                <a:ea typeface="Gill Sans MT" charset="0"/>
                <a:cs typeface="Gill Sans MT" charset="0"/>
              </a:rPr>
              <a:t> 1 – Engenharia de Requisitos </a:t>
            </a:r>
            <a:endParaRPr kumimoji="0" lang="pt-BR" sz="44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6" name="Espaço Reservado para Rodapé 6"/>
          <p:cNvSpPr>
            <a:spLocks noGrp="1"/>
          </p:cNvSpPr>
          <p:nvPr>
            <p:ph type="ftr" sz="quarter" idx="4294967295"/>
          </p:nvPr>
        </p:nvSpPr>
        <p:spPr>
          <a:xfrm>
            <a:off x="4038601" y="6483969"/>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444137" y="1825625"/>
            <a:ext cx="11247120" cy="551815"/>
          </a:xfrm>
        </p:spPr>
        <p:txBody>
          <a:bodyPr/>
          <a:lstStyle/>
          <a:p>
            <a:pPr marL="514350" indent="-514350">
              <a:buFont typeface="+mj-lt"/>
              <a:buAutoNum type="arabicPeriod"/>
            </a:pPr>
            <a:r>
              <a:rPr lang="pt-BR" dirty="0" smtClean="0"/>
              <a:t>Tudo começa quando há uma necessidade que precisa ser atendida...</a:t>
            </a:r>
            <a:endParaRPr lang="pt-BR" dirty="0"/>
          </a:p>
        </p:txBody>
      </p:sp>
      <p:sp>
        <p:nvSpPr>
          <p:cNvPr id="4" name="CaixaDeTexto 3"/>
          <p:cNvSpPr txBox="1"/>
          <p:nvPr/>
        </p:nvSpPr>
        <p:spPr>
          <a:xfrm>
            <a:off x="640203" y="104504"/>
            <a:ext cx="1158663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Capítulo</a:t>
            </a:r>
            <a:r>
              <a:rPr kumimoji="0" lang="pt-BR" sz="4400" b="1" i="0" u="none" strike="noStrike" kern="1200" cap="none" spc="0" normalizeH="0" noProof="0" dirty="0" smtClean="0">
                <a:ln>
                  <a:noFill/>
                </a:ln>
                <a:solidFill>
                  <a:prstClr val="black"/>
                </a:solidFill>
                <a:effectLst/>
                <a:uLnTx/>
                <a:uFillTx/>
                <a:latin typeface="Gill Sans MT" charset="0"/>
                <a:ea typeface="Gill Sans MT" charset="0"/>
                <a:cs typeface="Gill Sans MT" charset="0"/>
              </a:rPr>
              <a:t> 1 – Engenharia de Requisitos </a:t>
            </a:r>
            <a:endParaRPr kumimoji="0" lang="pt-BR" sz="44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5" name="Retângulo de cantos arredondados 4"/>
          <p:cNvSpPr/>
          <p:nvPr/>
        </p:nvSpPr>
        <p:spPr>
          <a:xfrm>
            <a:off x="1280166" y="3223607"/>
            <a:ext cx="2704012" cy="12017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Alguém precisa de algo novo...</a:t>
            </a:r>
            <a:endParaRPr lang="pt-BR" dirty="0"/>
          </a:p>
        </p:txBody>
      </p:sp>
      <p:sp>
        <p:nvSpPr>
          <p:cNvPr id="6" name="Retângulo de cantos arredondados 5"/>
          <p:cNvSpPr/>
          <p:nvPr/>
        </p:nvSpPr>
        <p:spPr>
          <a:xfrm>
            <a:off x="7768051" y="3193127"/>
            <a:ext cx="2704012" cy="12017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Sistemas precisam de modificações...</a:t>
            </a:r>
            <a:endParaRPr lang="pt-BR" dirty="0"/>
          </a:p>
        </p:txBody>
      </p:sp>
      <p:sp>
        <p:nvSpPr>
          <p:cNvPr id="7" name="Retângulo de cantos arredondados 6"/>
          <p:cNvSpPr/>
          <p:nvPr/>
        </p:nvSpPr>
        <p:spPr>
          <a:xfrm>
            <a:off x="4680863" y="5213516"/>
            <a:ext cx="2704012" cy="12017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As tecnologias evoluem, ficam obsoletas...</a:t>
            </a:r>
            <a:endParaRPr lang="pt-BR" dirty="0"/>
          </a:p>
        </p:txBody>
      </p:sp>
      <p:sp>
        <p:nvSpPr>
          <p:cNvPr id="8" name="Elipse 7"/>
          <p:cNvSpPr/>
          <p:nvPr/>
        </p:nvSpPr>
        <p:spPr>
          <a:xfrm>
            <a:off x="5538651" y="2923160"/>
            <a:ext cx="653143" cy="52251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2" name="Conector reto 11"/>
          <p:cNvCxnSpPr>
            <a:stCxn id="8" idx="4"/>
          </p:cNvCxnSpPr>
          <p:nvPr/>
        </p:nvCxnSpPr>
        <p:spPr>
          <a:xfrm>
            <a:off x="5865223" y="3445675"/>
            <a:ext cx="0" cy="1097279"/>
          </a:xfrm>
          <a:prstGeom prst="line">
            <a:avLst/>
          </a:prstGeom>
        </p:spPr>
        <p:style>
          <a:lnRef idx="1">
            <a:schemeClr val="accent1"/>
          </a:lnRef>
          <a:fillRef idx="0">
            <a:schemeClr val="accent1"/>
          </a:fillRef>
          <a:effectRef idx="0">
            <a:schemeClr val="accent1"/>
          </a:effectRef>
          <a:fontRef idx="minor">
            <a:schemeClr val="tx1"/>
          </a:fontRef>
        </p:style>
      </p:cxnSp>
      <p:sp>
        <p:nvSpPr>
          <p:cNvPr id="13" name="Arco 12"/>
          <p:cNvSpPr/>
          <p:nvPr/>
        </p:nvSpPr>
        <p:spPr>
          <a:xfrm>
            <a:off x="5185953" y="4529632"/>
            <a:ext cx="1423853" cy="352956"/>
          </a:xfrm>
          <a:prstGeom prst="arc">
            <a:avLst>
              <a:gd name="adj1" fmla="val 10756527"/>
              <a:gd name="adj2"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cxnSp>
        <p:nvCxnSpPr>
          <p:cNvPr id="15" name="Conector reto 14"/>
          <p:cNvCxnSpPr/>
          <p:nvPr/>
        </p:nvCxnSpPr>
        <p:spPr>
          <a:xfrm flipV="1">
            <a:off x="5264331" y="3471800"/>
            <a:ext cx="1188720" cy="457200"/>
          </a:xfrm>
          <a:prstGeom prst="line">
            <a:avLst/>
          </a:prstGeom>
        </p:spPr>
        <p:style>
          <a:lnRef idx="1">
            <a:schemeClr val="accent1"/>
          </a:lnRef>
          <a:fillRef idx="0">
            <a:schemeClr val="accent1"/>
          </a:fillRef>
          <a:effectRef idx="0">
            <a:schemeClr val="accent1"/>
          </a:effectRef>
          <a:fontRef idx="minor">
            <a:schemeClr val="tx1"/>
          </a:fontRef>
        </p:style>
      </p:cxnSp>
      <p:sp>
        <p:nvSpPr>
          <p:cNvPr id="18" name="CaixaDeTexto 17"/>
          <p:cNvSpPr txBox="1"/>
          <p:nvPr/>
        </p:nvSpPr>
        <p:spPr>
          <a:xfrm>
            <a:off x="4493618" y="2374514"/>
            <a:ext cx="2625635" cy="369332"/>
          </a:xfrm>
          <a:prstGeom prst="rect">
            <a:avLst/>
          </a:prstGeom>
          <a:noFill/>
        </p:spPr>
        <p:txBody>
          <a:bodyPr wrap="square" rtlCol="0">
            <a:spAutoFit/>
          </a:bodyPr>
          <a:lstStyle/>
          <a:p>
            <a:pPr algn="ctr"/>
            <a:r>
              <a:rPr lang="pt-BR" dirty="0" smtClean="0"/>
              <a:t>Analista de Requisitos</a:t>
            </a:r>
            <a:endParaRPr lang="pt-BR" dirty="0"/>
          </a:p>
        </p:txBody>
      </p:sp>
      <p:sp>
        <p:nvSpPr>
          <p:cNvPr id="19" name="Espaço Reservado para Rodapé 6"/>
          <p:cNvSpPr>
            <a:spLocks noGrp="1"/>
          </p:cNvSpPr>
          <p:nvPr>
            <p:ph type="ftr" sz="quarter" idx="4294967295"/>
          </p:nvPr>
        </p:nvSpPr>
        <p:spPr>
          <a:xfrm>
            <a:off x="4038601" y="6483969"/>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444137" y="1539017"/>
            <a:ext cx="11247120" cy="551815"/>
          </a:xfrm>
        </p:spPr>
        <p:txBody>
          <a:bodyPr/>
          <a:lstStyle/>
          <a:p>
            <a:pPr marL="514350" indent="-514350">
              <a:buFont typeface="+mj-lt"/>
              <a:buAutoNum type="arabicPeriod" startAt="2"/>
            </a:pPr>
            <a:r>
              <a:rPr lang="pt-BR" dirty="0" smtClean="0"/>
              <a:t>O Analista de Requisitos ouve e anota as necessidades....</a:t>
            </a:r>
            <a:endParaRPr lang="pt-BR" dirty="0"/>
          </a:p>
        </p:txBody>
      </p:sp>
      <p:sp>
        <p:nvSpPr>
          <p:cNvPr id="4" name="CaixaDeTexto 3"/>
          <p:cNvSpPr txBox="1"/>
          <p:nvPr/>
        </p:nvSpPr>
        <p:spPr>
          <a:xfrm>
            <a:off x="640203" y="104504"/>
            <a:ext cx="1158663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Capítulo</a:t>
            </a:r>
            <a:r>
              <a:rPr kumimoji="0" lang="pt-BR" sz="4400" b="1" i="0" u="none" strike="noStrike" kern="1200" cap="none" spc="0" normalizeH="0" noProof="0" dirty="0" smtClean="0">
                <a:ln>
                  <a:noFill/>
                </a:ln>
                <a:solidFill>
                  <a:prstClr val="black"/>
                </a:solidFill>
                <a:effectLst/>
                <a:uLnTx/>
                <a:uFillTx/>
                <a:latin typeface="Gill Sans MT" charset="0"/>
                <a:ea typeface="Gill Sans MT" charset="0"/>
                <a:cs typeface="Gill Sans MT" charset="0"/>
              </a:rPr>
              <a:t> 1 – Engenharia de Requisitos </a:t>
            </a:r>
            <a:endParaRPr kumimoji="0" lang="pt-BR" sz="44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5" name="Retângulo de cantos arredondados 4"/>
          <p:cNvSpPr/>
          <p:nvPr/>
        </p:nvSpPr>
        <p:spPr>
          <a:xfrm>
            <a:off x="731526" y="2339034"/>
            <a:ext cx="2704012" cy="12017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Esta atividade é chamada de Levantamento de Requisitos.</a:t>
            </a:r>
            <a:endParaRPr lang="pt-BR" dirty="0"/>
          </a:p>
        </p:txBody>
      </p:sp>
      <p:sp>
        <p:nvSpPr>
          <p:cNvPr id="6" name="Retângulo de cantos arredondados 5"/>
          <p:cNvSpPr/>
          <p:nvPr/>
        </p:nvSpPr>
        <p:spPr>
          <a:xfrm>
            <a:off x="8016245" y="2269366"/>
            <a:ext cx="2704012" cy="12017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Normalmente esse levantamento acontece por meio de entrevistas</a:t>
            </a:r>
            <a:endParaRPr lang="pt-BR" dirty="0"/>
          </a:p>
        </p:txBody>
      </p:sp>
      <p:sp>
        <p:nvSpPr>
          <p:cNvPr id="7" name="Retângulo de cantos arredondados 6"/>
          <p:cNvSpPr/>
          <p:nvPr/>
        </p:nvSpPr>
        <p:spPr>
          <a:xfrm>
            <a:off x="4550234" y="5112714"/>
            <a:ext cx="2704012" cy="12017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Esta atividade resulta em um documento com as necessidades do usuário estruturada.</a:t>
            </a:r>
            <a:endParaRPr lang="pt-BR" dirty="0"/>
          </a:p>
        </p:txBody>
      </p:sp>
      <p:sp>
        <p:nvSpPr>
          <p:cNvPr id="8" name="Elipse 7"/>
          <p:cNvSpPr/>
          <p:nvPr/>
        </p:nvSpPr>
        <p:spPr>
          <a:xfrm>
            <a:off x="5538651" y="2704792"/>
            <a:ext cx="653143" cy="52251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2" name="Conector reto 11"/>
          <p:cNvCxnSpPr>
            <a:stCxn id="8" idx="4"/>
          </p:cNvCxnSpPr>
          <p:nvPr/>
        </p:nvCxnSpPr>
        <p:spPr>
          <a:xfrm>
            <a:off x="5865223" y="3227307"/>
            <a:ext cx="0" cy="1097279"/>
          </a:xfrm>
          <a:prstGeom prst="line">
            <a:avLst/>
          </a:prstGeom>
        </p:spPr>
        <p:style>
          <a:lnRef idx="1">
            <a:schemeClr val="accent1"/>
          </a:lnRef>
          <a:fillRef idx="0">
            <a:schemeClr val="accent1"/>
          </a:fillRef>
          <a:effectRef idx="0">
            <a:schemeClr val="accent1"/>
          </a:effectRef>
          <a:fontRef idx="minor">
            <a:schemeClr val="tx1"/>
          </a:fontRef>
        </p:style>
      </p:cxnSp>
      <p:sp>
        <p:nvSpPr>
          <p:cNvPr id="13" name="Arco 12"/>
          <p:cNvSpPr/>
          <p:nvPr/>
        </p:nvSpPr>
        <p:spPr>
          <a:xfrm>
            <a:off x="5185953" y="4311264"/>
            <a:ext cx="1423853" cy="352956"/>
          </a:xfrm>
          <a:prstGeom prst="arc">
            <a:avLst>
              <a:gd name="adj1" fmla="val 10756527"/>
              <a:gd name="adj2"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cxnSp>
        <p:nvCxnSpPr>
          <p:cNvPr id="15" name="Conector reto 14"/>
          <p:cNvCxnSpPr/>
          <p:nvPr/>
        </p:nvCxnSpPr>
        <p:spPr>
          <a:xfrm flipV="1">
            <a:off x="5264331" y="3253432"/>
            <a:ext cx="1188720" cy="457200"/>
          </a:xfrm>
          <a:prstGeom prst="line">
            <a:avLst/>
          </a:prstGeom>
        </p:spPr>
        <p:style>
          <a:lnRef idx="1">
            <a:schemeClr val="accent1"/>
          </a:lnRef>
          <a:fillRef idx="0">
            <a:schemeClr val="accent1"/>
          </a:fillRef>
          <a:effectRef idx="0">
            <a:schemeClr val="accent1"/>
          </a:effectRef>
          <a:fontRef idx="minor">
            <a:schemeClr val="tx1"/>
          </a:fontRef>
        </p:style>
      </p:cxnSp>
      <p:sp>
        <p:nvSpPr>
          <p:cNvPr id="18" name="CaixaDeTexto 17"/>
          <p:cNvSpPr txBox="1"/>
          <p:nvPr/>
        </p:nvSpPr>
        <p:spPr>
          <a:xfrm>
            <a:off x="4493618" y="2156146"/>
            <a:ext cx="2625635" cy="369332"/>
          </a:xfrm>
          <a:prstGeom prst="rect">
            <a:avLst/>
          </a:prstGeom>
          <a:noFill/>
        </p:spPr>
        <p:txBody>
          <a:bodyPr wrap="square" rtlCol="0">
            <a:spAutoFit/>
          </a:bodyPr>
          <a:lstStyle/>
          <a:p>
            <a:pPr algn="ctr"/>
            <a:r>
              <a:rPr lang="pt-BR" dirty="0" smtClean="0"/>
              <a:t>Analista de Requisitos</a:t>
            </a:r>
            <a:endParaRPr lang="pt-B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444137" y="1185538"/>
            <a:ext cx="11247120" cy="826141"/>
          </a:xfrm>
        </p:spPr>
        <p:txBody>
          <a:bodyPr/>
          <a:lstStyle/>
          <a:p>
            <a:pPr marL="514350" indent="-514350">
              <a:buFont typeface="+mj-lt"/>
              <a:buAutoNum type="arabicPeriod" startAt="3"/>
            </a:pPr>
            <a:r>
              <a:rPr lang="pt-BR" dirty="0" smtClean="0"/>
              <a:t>Depois de levantado, agora é preciso analisar, estruturar, dar respostas e soluções sistêmicas para esses requisitos....</a:t>
            </a:r>
            <a:endParaRPr lang="pt-BR" dirty="0"/>
          </a:p>
        </p:txBody>
      </p:sp>
      <p:sp>
        <p:nvSpPr>
          <p:cNvPr id="4" name="CaixaDeTexto 3"/>
          <p:cNvSpPr txBox="1"/>
          <p:nvPr/>
        </p:nvSpPr>
        <p:spPr>
          <a:xfrm>
            <a:off x="640203" y="104504"/>
            <a:ext cx="1158663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Capítulo</a:t>
            </a:r>
            <a:r>
              <a:rPr kumimoji="0" lang="pt-BR" sz="4400" b="1" i="0" u="none" strike="noStrike" kern="1200" cap="none" spc="0" normalizeH="0" noProof="0" dirty="0" smtClean="0">
                <a:ln>
                  <a:noFill/>
                </a:ln>
                <a:solidFill>
                  <a:prstClr val="black"/>
                </a:solidFill>
                <a:effectLst/>
                <a:uLnTx/>
                <a:uFillTx/>
                <a:latin typeface="Gill Sans MT" charset="0"/>
                <a:ea typeface="Gill Sans MT" charset="0"/>
                <a:cs typeface="Gill Sans MT" charset="0"/>
              </a:rPr>
              <a:t> 1 – Engenharia de Requisitos </a:t>
            </a:r>
            <a:endParaRPr kumimoji="0" lang="pt-BR" sz="44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5" name="Retângulo de cantos arredondados 4"/>
          <p:cNvSpPr/>
          <p:nvPr/>
        </p:nvSpPr>
        <p:spPr>
          <a:xfrm>
            <a:off x="352703" y="3095914"/>
            <a:ext cx="2272931" cy="236436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CaixaDeTexto 13"/>
          <p:cNvSpPr txBox="1"/>
          <p:nvPr/>
        </p:nvSpPr>
        <p:spPr>
          <a:xfrm>
            <a:off x="561701" y="3161220"/>
            <a:ext cx="1776548" cy="369332"/>
          </a:xfrm>
          <a:prstGeom prst="rect">
            <a:avLst/>
          </a:prstGeom>
          <a:noFill/>
        </p:spPr>
        <p:txBody>
          <a:bodyPr wrap="square" rtlCol="0">
            <a:spAutoFit/>
          </a:bodyPr>
          <a:lstStyle/>
          <a:p>
            <a:pPr algn="ctr"/>
            <a:r>
              <a:rPr lang="pt-BR" dirty="0" smtClean="0"/>
              <a:t>Requisitos</a:t>
            </a:r>
            <a:endParaRPr lang="pt-BR" dirty="0"/>
          </a:p>
        </p:txBody>
      </p:sp>
      <p:sp>
        <p:nvSpPr>
          <p:cNvPr id="17" name="CaixaDeTexto 16"/>
          <p:cNvSpPr txBox="1"/>
          <p:nvPr/>
        </p:nvSpPr>
        <p:spPr>
          <a:xfrm>
            <a:off x="535577" y="3683731"/>
            <a:ext cx="1489166" cy="369332"/>
          </a:xfrm>
          <a:prstGeom prst="rect">
            <a:avLst/>
          </a:prstGeom>
          <a:noFill/>
        </p:spPr>
        <p:txBody>
          <a:bodyPr wrap="square" rtlCol="0">
            <a:spAutoFit/>
          </a:bodyPr>
          <a:lstStyle/>
          <a:p>
            <a:r>
              <a:rPr lang="pt-BR" dirty="0" smtClean="0"/>
              <a:t>Requisito 1</a:t>
            </a:r>
            <a:endParaRPr lang="pt-BR" dirty="0"/>
          </a:p>
        </p:txBody>
      </p:sp>
      <p:sp>
        <p:nvSpPr>
          <p:cNvPr id="19" name="CaixaDeTexto 18"/>
          <p:cNvSpPr txBox="1"/>
          <p:nvPr/>
        </p:nvSpPr>
        <p:spPr>
          <a:xfrm>
            <a:off x="544284" y="4005950"/>
            <a:ext cx="1489166" cy="369332"/>
          </a:xfrm>
          <a:prstGeom prst="rect">
            <a:avLst/>
          </a:prstGeom>
          <a:noFill/>
        </p:spPr>
        <p:txBody>
          <a:bodyPr wrap="square" rtlCol="0">
            <a:spAutoFit/>
          </a:bodyPr>
          <a:lstStyle/>
          <a:p>
            <a:r>
              <a:rPr lang="pt-BR" dirty="0" smtClean="0"/>
              <a:t>Requisito 2</a:t>
            </a:r>
            <a:endParaRPr lang="pt-BR" dirty="0"/>
          </a:p>
        </p:txBody>
      </p:sp>
      <p:sp>
        <p:nvSpPr>
          <p:cNvPr id="20" name="CaixaDeTexto 19"/>
          <p:cNvSpPr txBox="1"/>
          <p:nvPr/>
        </p:nvSpPr>
        <p:spPr>
          <a:xfrm>
            <a:off x="552991" y="4341232"/>
            <a:ext cx="1489166" cy="369332"/>
          </a:xfrm>
          <a:prstGeom prst="rect">
            <a:avLst/>
          </a:prstGeom>
          <a:noFill/>
        </p:spPr>
        <p:txBody>
          <a:bodyPr wrap="square" rtlCol="0">
            <a:spAutoFit/>
          </a:bodyPr>
          <a:lstStyle/>
          <a:p>
            <a:r>
              <a:rPr lang="pt-BR" dirty="0" smtClean="0"/>
              <a:t>Requisito 3</a:t>
            </a:r>
            <a:endParaRPr lang="pt-BR" dirty="0"/>
          </a:p>
        </p:txBody>
      </p:sp>
      <p:sp>
        <p:nvSpPr>
          <p:cNvPr id="21" name="CaixaDeTexto 20"/>
          <p:cNvSpPr txBox="1"/>
          <p:nvPr/>
        </p:nvSpPr>
        <p:spPr>
          <a:xfrm>
            <a:off x="548635" y="4637325"/>
            <a:ext cx="1489166" cy="369332"/>
          </a:xfrm>
          <a:prstGeom prst="rect">
            <a:avLst/>
          </a:prstGeom>
          <a:noFill/>
        </p:spPr>
        <p:txBody>
          <a:bodyPr wrap="square" rtlCol="0">
            <a:spAutoFit/>
          </a:bodyPr>
          <a:lstStyle/>
          <a:p>
            <a:r>
              <a:rPr lang="pt-BR" dirty="0" smtClean="0"/>
              <a:t>Requisito 4</a:t>
            </a:r>
            <a:endParaRPr lang="pt-BR" dirty="0"/>
          </a:p>
        </p:txBody>
      </p:sp>
      <p:sp>
        <p:nvSpPr>
          <p:cNvPr id="22" name="Retângulo de cantos arredondados 21"/>
          <p:cNvSpPr/>
          <p:nvPr/>
        </p:nvSpPr>
        <p:spPr>
          <a:xfrm>
            <a:off x="4045137" y="2203286"/>
            <a:ext cx="2055217" cy="192457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CaixaDeTexto 22"/>
          <p:cNvSpPr txBox="1"/>
          <p:nvPr/>
        </p:nvSpPr>
        <p:spPr>
          <a:xfrm>
            <a:off x="4140926" y="2268591"/>
            <a:ext cx="2011680" cy="646331"/>
          </a:xfrm>
          <a:prstGeom prst="rect">
            <a:avLst/>
          </a:prstGeom>
          <a:noFill/>
        </p:spPr>
        <p:txBody>
          <a:bodyPr wrap="square" rtlCol="0">
            <a:spAutoFit/>
          </a:bodyPr>
          <a:lstStyle/>
          <a:p>
            <a:pPr algn="ctr"/>
            <a:r>
              <a:rPr lang="pt-BR" dirty="0" smtClean="0"/>
              <a:t>Especificação Funcional</a:t>
            </a:r>
            <a:endParaRPr lang="pt-BR" dirty="0"/>
          </a:p>
        </p:txBody>
      </p:sp>
      <p:sp>
        <p:nvSpPr>
          <p:cNvPr id="24" name="CaixaDeTexto 23"/>
          <p:cNvSpPr txBox="1"/>
          <p:nvPr/>
        </p:nvSpPr>
        <p:spPr>
          <a:xfrm>
            <a:off x="4228011" y="2960921"/>
            <a:ext cx="2042160" cy="369332"/>
          </a:xfrm>
          <a:prstGeom prst="rect">
            <a:avLst/>
          </a:prstGeom>
          <a:noFill/>
        </p:spPr>
        <p:txBody>
          <a:bodyPr wrap="square" rtlCol="0">
            <a:spAutoFit/>
          </a:bodyPr>
          <a:lstStyle/>
          <a:p>
            <a:r>
              <a:rPr lang="pt-BR" dirty="0" smtClean="0"/>
              <a:t>Funcionalidade 1</a:t>
            </a:r>
            <a:endParaRPr lang="pt-BR" dirty="0"/>
          </a:p>
        </p:txBody>
      </p:sp>
      <p:sp>
        <p:nvSpPr>
          <p:cNvPr id="28" name="CaixaDeTexto 27"/>
          <p:cNvSpPr txBox="1"/>
          <p:nvPr/>
        </p:nvSpPr>
        <p:spPr>
          <a:xfrm>
            <a:off x="4236720" y="3257014"/>
            <a:ext cx="2042160" cy="369332"/>
          </a:xfrm>
          <a:prstGeom prst="rect">
            <a:avLst/>
          </a:prstGeom>
          <a:noFill/>
        </p:spPr>
        <p:txBody>
          <a:bodyPr wrap="square" rtlCol="0">
            <a:spAutoFit/>
          </a:bodyPr>
          <a:lstStyle/>
          <a:p>
            <a:r>
              <a:rPr lang="pt-BR" dirty="0" smtClean="0"/>
              <a:t>Funcionalidade 2</a:t>
            </a:r>
            <a:endParaRPr lang="pt-BR" dirty="0"/>
          </a:p>
        </p:txBody>
      </p:sp>
      <p:sp>
        <p:nvSpPr>
          <p:cNvPr id="29" name="CaixaDeTexto 28"/>
          <p:cNvSpPr txBox="1"/>
          <p:nvPr/>
        </p:nvSpPr>
        <p:spPr>
          <a:xfrm>
            <a:off x="4232366" y="3579234"/>
            <a:ext cx="2042160" cy="369332"/>
          </a:xfrm>
          <a:prstGeom prst="rect">
            <a:avLst/>
          </a:prstGeom>
          <a:noFill/>
        </p:spPr>
        <p:txBody>
          <a:bodyPr wrap="square" rtlCol="0">
            <a:spAutoFit/>
          </a:bodyPr>
          <a:lstStyle/>
          <a:p>
            <a:r>
              <a:rPr lang="pt-BR" dirty="0" smtClean="0"/>
              <a:t>Funcionalidade 3</a:t>
            </a:r>
            <a:endParaRPr lang="pt-BR" dirty="0"/>
          </a:p>
        </p:txBody>
      </p:sp>
      <p:cxnSp>
        <p:nvCxnSpPr>
          <p:cNvPr id="31" name="Conector de seta reta 30"/>
          <p:cNvCxnSpPr>
            <a:stCxn id="17" idx="3"/>
            <a:endCxn id="24" idx="1"/>
          </p:cNvCxnSpPr>
          <p:nvPr/>
        </p:nvCxnSpPr>
        <p:spPr>
          <a:xfrm flipV="1">
            <a:off x="2024743" y="3145587"/>
            <a:ext cx="2203268" cy="72281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Conector de seta reta 31"/>
          <p:cNvCxnSpPr>
            <a:stCxn id="17" idx="3"/>
            <a:endCxn id="28" idx="1"/>
          </p:cNvCxnSpPr>
          <p:nvPr/>
        </p:nvCxnSpPr>
        <p:spPr>
          <a:xfrm flipV="1">
            <a:off x="2024743" y="3441680"/>
            <a:ext cx="2211977" cy="42671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5" name="Retângulo de cantos arredondados 34"/>
          <p:cNvSpPr/>
          <p:nvPr/>
        </p:nvSpPr>
        <p:spPr>
          <a:xfrm>
            <a:off x="4053846" y="4484946"/>
            <a:ext cx="2111824" cy="19289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6" name="CaixaDeTexto 35"/>
          <p:cNvSpPr txBox="1"/>
          <p:nvPr/>
        </p:nvSpPr>
        <p:spPr>
          <a:xfrm>
            <a:off x="4149634" y="4550252"/>
            <a:ext cx="2011680" cy="646331"/>
          </a:xfrm>
          <a:prstGeom prst="rect">
            <a:avLst/>
          </a:prstGeom>
          <a:noFill/>
        </p:spPr>
        <p:txBody>
          <a:bodyPr wrap="square" rtlCol="0">
            <a:spAutoFit/>
          </a:bodyPr>
          <a:lstStyle/>
          <a:p>
            <a:pPr algn="ctr"/>
            <a:r>
              <a:rPr lang="pt-BR" dirty="0" smtClean="0"/>
              <a:t>Especificação Técnica</a:t>
            </a:r>
            <a:endParaRPr lang="pt-BR" dirty="0"/>
          </a:p>
        </p:txBody>
      </p:sp>
      <p:sp>
        <p:nvSpPr>
          <p:cNvPr id="37" name="CaixaDeTexto 36"/>
          <p:cNvSpPr txBox="1"/>
          <p:nvPr/>
        </p:nvSpPr>
        <p:spPr>
          <a:xfrm>
            <a:off x="4236719" y="5242582"/>
            <a:ext cx="2042160" cy="369332"/>
          </a:xfrm>
          <a:prstGeom prst="rect">
            <a:avLst/>
          </a:prstGeom>
          <a:noFill/>
        </p:spPr>
        <p:txBody>
          <a:bodyPr wrap="square" rtlCol="0">
            <a:spAutoFit/>
          </a:bodyPr>
          <a:lstStyle/>
          <a:p>
            <a:r>
              <a:rPr lang="pt-BR" dirty="0" smtClean="0"/>
              <a:t>Característica 1</a:t>
            </a:r>
            <a:endParaRPr lang="pt-BR" dirty="0"/>
          </a:p>
        </p:txBody>
      </p:sp>
      <p:sp>
        <p:nvSpPr>
          <p:cNvPr id="38" name="CaixaDeTexto 37"/>
          <p:cNvSpPr txBox="1"/>
          <p:nvPr/>
        </p:nvSpPr>
        <p:spPr>
          <a:xfrm>
            <a:off x="4245428" y="5538675"/>
            <a:ext cx="2042160" cy="369332"/>
          </a:xfrm>
          <a:prstGeom prst="rect">
            <a:avLst/>
          </a:prstGeom>
          <a:noFill/>
        </p:spPr>
        <p:txBody>
          <a:bodyPr wrap="square" rtlCol="0">
            <a:spAutoFit/>
          </a:bodyPr>
          <a:lstStyle/>
          <a:p>
            <a:r>
              <a:rPr lang="pt-BR" dirty="0" smtClean="0"/>
              <a:t>Funcionalidade 2</a:t>
            </a:r>
            <a:endParaRPr lang="pt-BR" dirty="0"/>
          </a:p>
        </p:txBody>
      </p:sp>
      <p:sp>
        <p:nvSpPr>
          <p:cNvPr id="39" name="CaixaDeTexto 38"/>
          <p:cNvSpPr txBox="1"/>
          <p:nvPr/>
        </p:nvSpPr>
        <p:spPr>
          <a:xfrm>
            <a:off x="4241074" y="5860895"/>
            <a:ext cx="2042160" cy="369332"/>
          </a:xfrm>
          <a:prstGeom prst="rect">
            <a:avLst/>
          </a:prstGeom>
          <a:noFill/>
        </p:spPr>
        <p:txBody>
          <a:bodyPr wrap="square" rtlCol="0">
            <a:spAutoFit/>
          </a:bodyPr>
          <a:lstStyle/>
          <a:p>
            <a:r>
              <a:rPr lang="pt-BR" dirty="0" smtClean="0"/>
              <a:t>Funcionalidade 3</a:t>
            </a:r>
            <a:endParaRPr lang="pt-BR" dirty="0"/>
          </a:p>
        </p:txBody>
      </p:sp>
      <p:cxnSp>
        <p:nvCxnSpPr>
          <p:cNvPr id="41" name="Conector angulado 40"/>
          <p:cNvCxnSpPr>
            <a:stCxn id="29" idx="1"/>
            <a:endCxn id="37" idx="1"/>
          </p:cNvCxnSpPr>
          <p:nvPr/>
        </p:nvCxnSpPr>
        <p:spPr>
          <a:xfrm rot="10800000" flipH="1" flipV="1">
            <a:off x="4232365" y="3763900"/>
            <a:ext cx="4353" cy="1663348"/>
          </a:xfrm>
          <a:prstGeom prst="bentConnector3">
            <a:avLst>
              <a:gd name="adj1" fmla="val -10653139"/>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7" name="Retângulo de cantos arredondados 46"/>
          <p:cNvSpPr/>
          <p:nvPr/>
        </p:nvSpPr>
        <p:spPr>
          <a:xfrm>
            <a:off x="7593880" y="2460189"/>
            <a:ext cx="2712714" cy="37185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8" name="CaixaDeTexto 47"/>
          <p:cNvSpPr txBox="1"/>
          <p:nvPr/>
        </p:nvSpPr>
        <p:spPr>
          <a:xfrm>
            <a:off x="7689669" y="2525494"/>
            <a:ext cx="2407920" cy="369332"/>
          </a:xfrm>
          <a:prstGeom prst="rect">
            <a:avLst/>
          </a:prstGeom>
          <a:noFill/>
        </p:spPr>
        <p:txBody>
          <a:bodyPr wrap="square" rtlCol="0">
            <a:spAutoFit/>
          </a:bodyPr>
          <a:lstStyle/>
          <a:p>
            <a:pPr algn="ctr"/>
            <a:r>
              <a:rPr lang="pt-BR" dirty="0" smtClean="0"/>
              <a:t>Caso de Uso</a:t>
            </a:r>
            <a:endParaRPr lang="pt-BR" dirty="0"/>
          </a:p>
        </p:txBody>
      </p:sp>
      <p:sp>
        <p:nvSpPr>
          <p:cNvPr id="49" name="CaixaDeTexto 48"/>
          <p:cNvSpPr txBox="1"/>
          <p:nvPr/>
        </p:nvSpPr>
        <p:spPr>
          <a:xfrm>
            <a:off x="7776754" y="3026752"/>
            <a:ext cx="2042160" cy="369332"/>
          </a:xfrm>
          <a:prstGeom prst="rect">
            <a:avLst/>
          </a:prstGeom>
          <a:noFill/>
        </p:spPr>
        <p:txBody>
          <a:bodyPr wrap="square" rtlCol="0">
            <a:spAutoFit/>
          </a:bodyPr>
          <a:lstStyle/>
          <a:p>
            <a:r>
              <a:rPr lang="pt-BR" dirty="0" smtClean="0"/>
              <a:t>Ator:</a:t>
            </a:r>
            <a:endParaRPr lang="pt-BR" dirty="0"/>
          </a:p>
        </p:txBody>
      </p:sp>
      <p:sp>
        <p:nvSpPr>
          <p:cNvPr id="50" name="CaixaDeTexto 49"/>
          <p:cNvSpPr txBox="1"/>
          <p:nvPr/>
        </p:nvSpPr>
        <p:spPr>
          <a:xfrm>
            <a:off x="7785463" y="3336496"/>
            <a:ext cx="2042160" cy="369332"/>
          </a:xfrm>
          <a:prstGeom prst="rect">
            <a:avLst/>
          </a:prstGeom>
          <a:noFill/>
        </p:spPr>
        <p:txBody>
          <a:bodyPr wrap="square" rtlCol="0">
            <a:spAutoFit/>
          </a:bodyPr>
          <a:lstStyle/>
          <a:p>
            <a:r>
              <a:rPr lang="pt-BR" dirty="0" smtClean="0"/>
              <a:t>Pré-Condição:</a:t>
            </a:r>
            <a:endParaRPr lang="pt-BR" dirty="0"/>
          </a:p>
        </p:txBody>
      </p:sp>
      <p:sp>
        <p:nvSpPr>
          <p:cNvPr id="51" name="CaixaDeTexto 50"/>
          <p:cNvSpPr txBox="1"/>
          <p:nvPr/>
        </p:nvSpPr>
        <p:spPr>
          <a:xfrm>
            <a:off x="7781109" y="3836137"/>
            <a:ext cx="2042160" cy="369332"/>
          </a:xfrm>
          <a:prstGeom prst="rect">
            <a:avLst/>
          </a:prstGeom>
          <a:noFill/>
        </p:spPr>
        <p:txBody>
          <a:bodyPr wrap="square" rtlCol="0">
            <a:spAutoFit/>
          </a:bodyPr>
          <a:lstStyle/>
          <a:p>
            <a:pPr>
              <a:buFont typeface="Wingdings" pitchFamily="2" charset="2"/>
              <a:buChar char="Ø"/>
            </a:pPr>
            <a:r>
              <a:rPr lang="pt-BR" dirty="0" smtClean="0"/>
              <a:t> Fluxo Básico</a:t>
            </a:r>
            <a:endParaRPr lang="pt-BR" dirty="0"/>
          </a:p>
        </p:txBody>
      </p:sp>
      <p:sp>
        <p:nvSpPr>
          <p:cNvPr id="57" name="CaixaDeTexto 56"/>
          <p:cNvSpPr txBox="1"/>
          <p:nvPr/>
        </p:nvSpPr>
        <p:spPr>
          <a:xfrm>
            <a:off x="7797029" y="4111369"/>
            <a:ext cx="2042160" cy="369332"/>
          </a:xfrm>
          <a:prstGeom prst="rect">
            <a:avLst/>
          </a:prstGeom>
          <a:noFill/>
        </p:spPr>
        <p:txBody>
          <a:bodyPr wrap="square" rtlCol="0">
            <a:spAutoFit/>
          </a:bodyPr>
          <a:lstStyle/>
          <a:p>
            <a:pPr>
              <a:buFont typeface="Wingdings" pitchFamily="2" charset="2"/>
              <a:buChar char="Ø"/>
            </a:pPr>
            <a:r>
              <a:rPr lang="pt-BR" dirty="0" smtClean="0"/>
              <a:t> Fluxo Alternativo </a:t>
            </a:r>
            <a:endParaRPr lang="pt-BR" dirty="0"/>
          </a:p>
        </p:txBody>
      </p:sp>
      <p:sp>
        <p:nvSpPr>
          <p:cNvPr id="58" name="CaixaDeTexto 57"/>
          <p:cNvSpPr txBox="1"/>
          <p:nvPr/>
        </p:nvSpPr>
        <p:spPr>
          <a:xfrm>
            <a:off x="7799301" y="4441193"/>
            <a:ext cx="2042160" cy="369332"/>
          </a:xfrm>
          <a:prstGeom prst="rect">
            <a:avLst/>
          </a:prstGeom>
          <a:noFill/>
        </p:spPr>
        <p:txBody>
          <a:bodyPr wrap="square" rtlCol="0">
            <a:spAutoFit/>
          </a:bodyPr>
          <a:lstStyle/>
          <a:p>
            <a:pPr>
              <a:buFont typeface="Wingdings" pitchFamily="2" charset="2"/>
              <a:buChar char="Ø"/>
            </a:pPr>
            <a:r>
              <a:rPr lang="pt-BR" dirty="0" smtClean="0"/>
              <a:t> Fluxo Exceção </a:t>
            </a:r>
            <a:endParaRPr lang="pt-BR" dirty="0"/>
          </a:p>
        </p:txBody>
      </p:sp>
      <p:cxnSp>
        <p:nvCxnSpPr>
          <p:cNvPr id="60" name="Conector de seta reta 59"/>
          <p:cNvCxnSpPr>
            <a:stCxn id="37" idx="3"/>
            <a:endCxn id="47" idx="1"/>
          </p:cNvCxnSpPr>
          <p:nvPr/>
        </p:nvCxnSpPr>
        <p:spPr>
          <a:xfrm flipV="1">
            <a:off x="6278879" y="4319460"/>
            <a:ext cx="1315001" cy="11077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2" name="Conector de seta reta 61"/>
          <p:cNvCxnSpPr>
            <a:endCxn id="47" idx="1"/>
          </p:cNvCxnSpPr>
          <p:nvPr/>
        </p:nvCxnSpPr>
        <p:spPr>
          <a:xfrm>
            <a:off x="6059606" y="3193576"/>
            <a:ext cx="1534274" cy="112588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p:cNvSpPr txBox="1"/>
          <p:nvPr/>
        </p:nvSpPr>
        <p:spPr>
          <a:xfrm>
            <a:off x="640203" y="104504"/>
            <a:ext cx="1158663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Capítulo</a:t>
            </a:r>
            <a:r>
              <a:rPr kumimoji="0" lang="pt-BR" sz="4400" b="1" i="0" u="none" strike="noStrike" kern="1200" cap="none" spc="0" normalizeH="0" noProof="0" dirty="0" smtClean="0">
                <a:ln>
                  <a:noFill/>
                </a:ln>
                <a:solidFill>
                  <a:prstClr val="black"/>
                </a:solidFill>
                <a:effectLst/>
                <a:uLnTx/>
                <a:uFillTx/>
                <a:latin typeface="Gill Sans MT" charset="0"/>
                <a:ea typeface="Gill Sans MT" charset="0"/>
                <a:cs typeface="Gill Sans MT" charset="0"/>
              </a:rPr>
              <a:t> 1 – Engenharia de Requisitos </a:t>
            </a:r>
            <a:endParaRPr kumimoji="0" lang="pt-BR" sz="44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7" name="CaixaDeTexto 6"/>
          <p:cNvSpPr txBox="1"/>
          <p:nvPr/>
        </p:nvSpPr>
        <p:spPr>
          <a:xfrm>
            <a:off x="627797" y="982640"/>
            <a:ext cx="7083188" cy="584775"/>
          </a:xfrm>
          <a:prstGeom prst="rect">
            <a:avLst/>
          </a:prstGeom>
          <a:noFill/>
        </p:spPr>
        <p:txBody>
          <a:bodyPr wrap="square" rtlCol="0">
            <a:spAutoFit/>
          </a:bodyPr>
          <a:lstStyle/>
          <a:p>
            <a:r>
              <a:rPr lang="pt-BR" sz="3200" b="1" dirty="0" smtClean="0"/>
              <a:t>Requisitos do Usuário</a:t>
            </a:r>
            <a:endParaRPr lang="pt-BR" sz="3200" b="1" dirty="0"/>
          </a:p>
        </p:txBody>
      </p:sp>
      <p:sp>
        <p:nvSpPr>
          <p:cNvPr id="11" name="CaixaDeTexto 10"/>
          <p:cNvSpPr txBox="1"/>
          <p:nvPr/>
        </p:nvSpPr>
        <p:spPr>
          <a:xfrm>
            <a:off x="395786" y="1528545"/>
            <a:ext cx="11341289" cy="1200329"/>
          </a:xfrm>
          <a:prstGeom prst="rect">
            <a:avLst/>
          </a:prstGeom>
          <a:noFill/>
        </p:spPr>
        <p:txBody>
          <a:bodyPr wrap="square" rtlCol="0">
            <a:spAutoFit/>
          </a:bodyPr>
          <a:lstStyle/>
          <a:p>
            <a:r>
              <a:rPr lang="pt-BR" sz="2400" dirty="0" smtClean="0"/>
              <a:t>Os requisitos de usuários descrevem os requisitos funcionais e não funcionais de forma compreensível pelos usuários do sistema que não têm conhecimentos técnicos detalhados.</a:t>
            </a:r>
            <a:endParaRPr lang="pt-BR" sz="2200" dirty="0" smtClean="0"/>
          </a:p>
        </p:txBody>
      </p:sp>
      <p:sp>
        <p:nvSpPr>
          <p:cNvPr id="12" name="Seta para a direita 11"/>
          <p:cNvSpPr/>
          <p:nvPr/>
        </p:nvSpPr>
        <p:spPr>
          <a:xfrm>
            <a:off x="382134" y="3439235"/>
            <a:ext cx="1978926" cy="7915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smtClean="0"/>
              <a:t>Estudo de Viabilidade</a:t>
            </a:r>
            <a:endParaRPr lang="pt-BR" sz="1400" dirty="0"/>
          </a:p>
        </p:txBody>
      </p:sp>
      <p:sp>
        <p:nvSpPr>
          <p:cNvPr id="13" name="Seta para a direita 12"/>
          <p:cNvSpPr/>
          <p:nvPr/>
        </p:nvSpPr>
        <p:spPr>
          <a:xfrm>
            <a:off x="793872" y="4274029"/>
            <a:ext cx="1978926" cy="7915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smtClean="0"/>
              <a:t>Identificação</a:t>
            </a:r>
            <a:endParaRPr lang="pt-BR" sz="1400" dirty="0"/>
          </a:p>
        </p:txBody>
      </p:sp>
      <p:sp>
        <p:nvSpPr>
          <p:cNvPr id="14" name="Seta para a direita 13"/>
          <p:cNvSpPr/>
          <p:nvPr/>
        </p:nvSpPr>
        <p:spPr>
          <a:xfrm>
            <a:off x="1273849" y="5081527"/>
            <a:ext cx="1978926" cy="7915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smtClean="0"/>
              <a:t>Análise e Negociação</a:t>
            </a:r>
            <a:endParaRPr lang="pt-BR" sz="1400" dirty="0"/>
          </a:p>
        </p:txBody>
      </p:sp>
      <p:sp>
        <p:nvSpPr>
          <p:cNvPr id="16" name="Seta para a direita 15"/>
          <p:cNvSpPr/>
          <p:nvPr/>
        </p:nvSpPr>
        <p:spPr>
          <a:xfrm>
            <a:off x="1671940" y="5820786"/>
            <a:ext cx="1978926" cy="7915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smtClean="0"/>
              <a:t>Especificação e Documentação</a:t>
            </a:r>
            <a:endParaRPr lang="pt-BR" sz="1400" dirty="0"/>
          </a:p>
        </p:txBody>
      </p:sp>
      <p:sp>
        <p:nvSpPr>
          <p:cNvPr id="17" name="CaixaDeTexto 16"/>
          <p:cNvSpPr txBox="1"/>
          <p:nvPr/>
        </p:nvSpPr>
        <p:spPr>
          <a:xfrm>
            <a:off x="2620362" y="3452889"/>
            <a:ext cx="8625391" cy="646331"/>
          </a:xfrm>
          <a:prstGeom prst="rect">
            <a:avLst/>
          </a:prstGeom>
          <a:noFill/>
        </p:spPr>
        <p:txBody>
          <a:bodyPr wrap="square" rtlCol="0">
            <a:spAutoFit/>
          </a:bodyPr>
          <a:lstStyle/>
          <a:p>
            <a:r>
              <a:rPr lang="pt-BR" dirty="0" smtClean="0"/>
              <a:t>As partes interessadas (</a:t>
            </a:r>
            <a:r>
              <a:rPr lang="pt-BR" b="1" u="sng" dirty="0" err="1" smtClean="0"/>
              <a:t>Stakeholder</a:t>
            </a:r>
            <a:r>
              <a:rPr lang="pt-BR" dirty="0" smtClean="0"/>
              <a:t>) fazem um estudo de viabilidade da real necessidade antes de virar projeto.</a:t>
            </a:r>
            <a:endParaRPr lang="pt-BR" dirty="0"/>
          </a:p>
        </p:txBody>
      </p:sp>
      <p:sp>
        <p:nvSpPr>
          <p:cNvPr id="18" name="CaixaDeTexto 17"/>
          <p:cNvSpPr txBox="1"/>
          <p:nvPr/>
        </p:nvSpPr>
        <p:spPr>
          <a:xfrm>
            <a:off x="2936538" y="4314985"/>
            <a:ext cx="8625391" cy="646331"/>
          </a:xfrm>
          <a:prstGeom prst="rect">
            <a:avLst/>
          </a:prstGeom>
          <a:noFill/>
        </p:spPr>
        <p:txBody>
          <a:bodyPr wrap="square" rtlCol="0">
            <a:spAutoFit/>
          </a:bodyPr>
          <a:lstStyle/>
          <a:p>
            <a:r>
              <a:rPr lang="pt-BR" dirty="0" smtClean="0"/>
              <a:t>Aqui já virou projeto, um Analista de Requisitos</a:t>
            </a:r>
            <a:r>
              <a:rPr lang="pt-BR" dirty="0" smtClean="0"/>
              <a:t> </a:t>
            </a:r>
            <a:r>
              <a:rPr lang="pt-BR" dirty="0" smtClean="0"/>
              <a:t>é envolvido para levantar os requisitos do usuário.</a:t>
            </a:r>
            <a:endParaRPr lang="pt-BR" dirty="0"/>
          </a:p>
        </p:txBody>
      </p:sp>
      <p:sp>
        <p:nvSpPr>
          <p:cNvPr id="19" name="CaixaDeTexto 18"/>
          <p:cNvSpPr txBox="1"/>
          <p:nvPr/>
        </p:nvSpPr>
        <p:spPr>
          <a:xfrm>
            <a:off x="3443786" y="5149785"/>
            <a:ext cx="8402469" cy="646331"/>
          </a:xfrm>
          <a:prstGeom prst="rect">
            <a:avLst/>
          </a:prstGeom>
          <a:noFill/>
        </p:spPr>
        <p:txBody>
          <a:bodyPr wrap="square" rtlCol="0">
            <a:spAutoFit/>
          </a:bodyPr>
          <a:lstStyle/>
          <a:p>
            <a:r>
              <a:rPr lang="pt-BR" dirty="0" smtClean="0"/>
              <a:t>Nesta fase o Analista apresenta para os usuários os requisitos para cada necessidades afim de Priorizar, discutir soluções.</a:t>
            </a:r>
            <a:endParaRPr lang="pt-BR" dirty="0"/>
          </a:p>
        </p:txBody>
      </p:sp>
      <p:sp>
        <p:nvSpPr>
          <p:cNvPr id="20" name="CaixaDeTexto 19"/>
          <p:cNvSpPr txBox="1"/>
          <p:nvPr/>
        </p:nvSpPr>
        <p:spPr>
          <a:xfrm>
            <a:off x="3800907" y="5902697"/>
            <a:ext cx="8086292" cy="646331"/>
          </a:xfrm>
          <a:prstGeom prst="rect">
            <a:avLst/>
          </a:prstGeom>
          <a:noFill/>
        </p:spPr>
        <p:txBody>
          <a:bodyPr wrap="square" rtlCol="0">
            <a:spAutoFit/>
          </a:bodyPr>
          <a:lstStyle/>
          <a:p>
            <a:r>
              <a:rPr lang="pt-BR" dirty="0" smtClean="0"/>
              <a:t>Nesta etapa o Analista descreve a solução sistêmica para cada requisito e documenta esta solução.</a:t>
            </a:r>
            <a:endParaRPr lang="pt-BR" dirty="0"/>
          </a:p>
        </p:txBody>
      </p:sp>
      <p:sp>
        <p:nvSpPr>
          <p:cNvPr id="21" name="CaixaDeTexto 20"/>
          <p:cNvSpPr txBox="1"/>
          <p:nvPr/>
        </p:nvSpPr>
        <p:spPr>
          <a:xfrm>
            <a:off x="2499815" y="2649943"/>
            <a:ext cx="7083188" cy="461665"/>
          </a:xfrm>
          <a:prstGeom prst="rect">
            <a:avLst/>
          </a:prstGeom>
          <a:noFill/>
        </p:spPr>
        <p:txBody>
          <a:bodyPr wrap="square" rtlCol="0">
            <a:spAutoFit/>
          </a:bodyPr>
          <a:lstStyle/>
          <a:p>
            <a:r>
              <a:rPr lang="pt-BR" sz="2400" b="1" dirty="0" smtClean="0"/>
              <a:t>Fases do Processo de Levantamento de Requisitos</a:t>
            </a:r>
            <a:endParaRPr lang="pt-BR" sz="24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p:cNvSpPr txBox="1"/>
          <p:nvPr/>
        </p:nvSpPr>
        <p:spPr>
          <a:xfrm>
            <a:off x="640203" y="104504"/>
            <a:ext cx="1158663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Capítulo</a:t>
            </a:r>
            <a:r>
              <a:rPr kumimoji="0" lang="pt-BR" sz="4400" b="1" i="0" u="none" strike="noStrike" kern="1200" cap="none" spc="0" normalizeH="0" noProof="0" dirty="0" smtClean="0">
                <a:ln>
                  <a:noFill/>
                </a:ln>
                <a:solidFill>
                  <a:prstClr val="black"/>
                </a:solidFill>
                <a:effectLst/>
                <a:uLnTx/>
                <a:uFillTx/>
                <a:latin typeface="Gill Sans MT" charset="0"/>
                <a:ea typeface="Gill Sans MT" charset="0"/>
                <a:cs typeface="Gill Sans MT" charset="0"/>
              </a:rPr>
              <a:t> 1 – Engenharia de Requisitos </a:t>
            </a:r>
            <a:endParaRPr kumimoji="0" lang="pt-BR" sz="44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7" name="CaixaDeTexto 6"/>
          <p:cNvSpPr txBox="1"/>
          <p:nvPr/>
        </p:nvSpPr>
        <p:spPr>
          <a:xfrm>
            <a:off x="627796" y="982640"/>
            <a:ext cx="8420669" cy="584775"/>
          </a:xfrm>
          <a:prstGeom prst="rect">
            <a:avLst/>
          </a:prstGeom>
          <a:noFill/>
        </p:spPr>
        <p:txBody>
          <a:bodyPr wrap="square" rtlCol="0">
            <a:spAutoFit/>
          </a:bodyPr>
          <a:lstStyle/>
          <a:p>
            <a:r>
              <a:rPr lang="pt-BR" sz="3200" b="1" dirty="0" smtClean="0"/>
              <a:t>Requisitos do Usuário – </a:t>
            </a:r>
            <a:r>
              <a:rPr lang="pt-BR" sz="3200" b="1" u="sng" dirty="0" smtClean="0"/>
              <a:t>Estudo de Viabilidade</a:t>
            </a:r>
            <a:endParaRPr lang="pt-BR" sz="3200" b="1" u="sng" dirty="0"/>
          </a:p>
        </p:txBody>
      </p:sp>
      <p:sp>
        <p:nvSpPr>
          <p:cNvPr id="15" name="CaixaDeTexto 14"/>
          <p:cNvSpPr txBox="1"/>
          <p:nvPr/>
        </p:nvSpPr>
        <p:spPr>
          <a:xfrm>
            <a:off x="272955" y="1924322"/>
            <a:ext cx="11682484" cy="3785652"/>
          </a:xfrm>
          <a:prstGeom prst="rect">
            <a:avLst/>
          </a:prstGeom>
          <a:noFill/>
        </p:spPr>
        <p:txBody>
          <a:bodyPr wrap="square" rtlCol="0">
            <a:spAutoFit/>
          </a:bodyPr>
          <a:lstStyle/>
          <a:p>
            <a:r>
              <a:rPr lang="pt-BR" sz="2000" dirty="0" smtClean="0"/>
              <a:t>Antes de se avançar com uma análise mais detalhada dos requisitos de um projeto, deve ser feito um estudo de viabilidade.</a:t>
            </a:r>
          </a:p>
          <a:p>
            <a:r>
              <a:rPr lang="pt-BR" sz="2000" dirty="0" smtClean="0"/>
              <a:t>Tal como o nome sugere, pretende-se com este estudo avaliar sob o ponto de vista tecnológico e organizacional se o projeto é viável.</a:t>
            </a:r>
          </a:p>
          <a:p>
            <a:endParaRPr lang="pt-BR" sz="2000" dirty="0" smtClean="0"/>
          </a:p>
          <a:p>
            <a:r>
              <a:rPr lang="pt-BR" sz="2000" dirty="0" smtClean="0"/>
              <a:t>Algumas das questões que podem ser postas nesta coleta de informações são, por exemplo</a:t>
            </a:r>
            <a:r>
              <a:rPr lang="pt-BR" sz="2000" dirty="0" smtClean="0"/>
              <a:t>:</a:t>
            </a:r>
          </a:p>
          <a:p>
            <a:endParaRPr lang="pt-BR" sz="2000" dirty="0" smtClean="0"/>
          </a:p>
          <a:p>
            <a:pPr>
              <a:buFont typeface="Wingdings" pitchFamily="2" charset="2"/>
              <a:buChar char="ü"/>
            </a:pPr>
            <a:r>
              <a:rPr lang="pt-BR" sz="2000" dirty="0" smtClean="0"/>
              <a:t>Se o novo sistema não fosse implementado, quais seriam as alternativas para a organização</a:t>
            </a:r>
            <a:r>
              <a:rPr lang="pt-BR" sz="2000" dirty="0" smtClean="0"/>
              <a:t>?</a:t>
            </a:r>
          </a:p>
          <a:p>
            <a:pPr>
              <a:buFont typeface="Wingdings" pitchFamily="2" charset="2"/>
              <a:buChar char="ü"/>
            </a:pPr>
            <a:endParaRPr lang="pt-BR" sz="2000" dirty="0" smtClean="0"/>
          </a:p>
          <a:p>
            <a:pPr>
              <a:buFont typeface="Wingdings" pitchFamily="2" charset="2"/>
              <a:buChar char="ü"/>
            </a:pPr>
            <a:r>
              <a:rPr lang="pt-BR" sz="2000" dirty="0" smtClean="0"/>
              <a:t>Quais são os problemas que os sistemas atuais apresentam e como é que um sistema novo irá resolver estas falhas</a:t>
            </a:r>
            <a:r>
              <a:rPr lang="pt-BR" sz="2000" dirty="0" smtClean="0"/>
              <a:t>?</a:t>
            </a:r>
          </a:p>
          <a:p>
            <a:pPr>
              <a:buFont typeface="Wingdings" pitchFamily="2" charset="2"/>
              <a:buChar char="ü"/>
            </a:pPr>
            <a:endParaRPr lang="pt-BR" sz="2000" dirty="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p:cNvSpPr txBox="1"/>
          <p:nvPr/>
        </p:nvSpPr>
        <p:spPr>
          <a:xfrm>
            <a:off x="640203" y="104504"/>
            <a:ext cx="1158663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Capítulo</a:t>
            </a:r>
            <a:r>
              <a:rPr kumimoji="0" lang="pt-BR" sz="4400" b="1" i="0" u="none" strike="noStrike" kern="1200" cap="none" spc="0" normalizeH="0" noProof="0" dirty="0" smtClean="0">
                <a:ln>
                  <a:noFill/>
                </a:ln>
                <a:solidFill>
                  <a:prstClr val="black"/>
                </a:solidFill>
                <a:effectLst/>
                <a:uLnTx/>
                <a:uFillTx/>
                <a:latin typeface="Gill Sans MT" charset="0"/>
                <a:ea typeface="Gill Sans MT" charset="0"/>
                <a:cs typeface="Gill Sans MT" charset="0"/>
              </a:rPr>
              <a:t> 1 – Engenharia de Requisitos </a:t>
            </a:r>
            <a:endParaRPr kumimoji="0" lang="pt-BR" sz="44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7" name="CaixaDeTexto 6"/>
          <p:cNvSpPr txBox="1"/>
          <p:nvPr/>
        </p:nvSpPr>
        <p:spPr>
          <a:xfrm>
            <a:off x="627796" y="982640"/>
            <a:ext cx="8420669" cy="584775"/>
          </a:xfrm>
          <a:prstGeom prst="rect">
            <a:avLst/>
          </a:prstGeom>
          <a:noFill/>
        </p:spPr>
        <p:txBody>
          <a:bodyPr wrap="square" rtlCol="0">
            <a:spAutoFit/>
          </a:bodyPr>
          <a:lstStyle/>
          <a:p>
            <a:r>
              <a:rPr lang="pt-BR" sz="3200" b="1" dirty="0" smtClean="0"/>
              <a:t>Requisitos do Usuário – </a:t>
            </a:r>
            <a:r>
              <a:rPr lang="pt-BR" sz="3200" b="1" u="sng" dirty="0" smtClean="0"/>
              <a:t>Estudo de Viabilidade</a:t>
            </a:r>
            <a:endParaRPr lang="pt-BR" sz="3200" b="1" u="sng" dirty="0"/>
          </a:p>
        </p:txBody>
      </p:sp>
      <p:sp>
        <p:nvSpPr>
          <p:cNvPr id="15" name="CaixaDeTexto 14"/>
          <p:cNvSpPr txBox="1"/>
          <p:nvPr/>
        </p:nvSpPr>
        <p:spPr>
          <a:xfrm>
            <a:off x="272955" y="1883377"/>
            <a:ext cx="11682484" cy="1938992"/>
          </a:xfrm>
          <a:prstGeom prst="rect">
            <a:avLst/>
          </a:prstGeom>
          <a:noFill/>
        </p:spPr>
        <p:txBody>
          <a:bodyPr wrap="square" rtlCol="0">
            <a:spAutoFit/>
          </a:bodyPr>
          <a:lstStyle/>
          <a:p>
            <a:pPr>
              <a:buFont typeface="Wingdings" pitchFamily="2" charset="2"/>
              <a:buChar char="ü"/>
            </a:pPr>
            <a:endParaRPr lang="pt-BR" sz="2000" dirty="0" smtClean="0"/>
          </a:p>
          <a:p>
            <a:pPr>
              <a:buFont typeface="Wingdings" pitchFamily="2" charset="2"/>
              <a:buChar char="ü"/>
            </a:pPr>
            <a:r>
              <a:rPr lang="pt-BR" sz="2000" dirty="0" smtClean="0"/>
              <a:t>De que forma é que o sistema irá contribuir diretamente para os objetivos da organização</a:t>
            </a:r>
            <a:r>
              <a:rPr lang="pt-BR" sz="2000" dirty="0" smtClean="0"/>
              <a:t>?</a:t>
            </a:r>
          </a:p>
          <a:p>
            <a:pPr>
              <a:buFont typeface="Wingdings" pitchFamily="2" charset="2"/>
              <a:buChar char="ü"/>
            </a:pPr>
            <a:endParaRPr lang="pt-BR" sz="2000" dirty="0" smtClean="0"/>
          </a:p>
          <a:p>
            <a:pPr>
              <a:buFont typeface="Wingdings" pitchFamily="2" charset="2"/>
              <a:buChar char="ü"/>
            </a:pPr>
            <a:r>
              <a:rPr lang="pt-BR" sz="2000" dirty="0" smtClean="0"/>
              <a:t>É possível a integração com os outros sistemas da organização (de um ponto de vista tecnológico)? Com que facilidade é que se consegue partilhar informação entre estes sistemas?</a:t>
            </a:r>
          </a:p>
          <a:p>
            <a:endParaRPr lang="pt-BR" sz="2000" dirty="0"/>
          </a:p>
        </p:txBody>
      </p:sp>
      <p:sp>
        <p:nvSpPr>
          <p:cNvPr id="22" name="CaixaDeTexto 21"/>
          <p:cNvSpPr txBox="1"/>
          <p:nvPr/>
        </p:nvSpPr>
        <p:spPr>
          <a:xfrm>
            <a:off x="327546" y="4421872"/>
            <a:ext cx="11191164" cy="707886"/>
          </a:xfrm>
          <a:prstGeom prst="rect">
            <a:avLst/>
          </a:prstGeom>
          <a:noFill/>
        </p:spPr>
        <p:txBody>
          <a:bodyPr wrap="square" rtlCol="0">
            <a:spAutoFit/>
          </a:bodyPr>
          <a:lstStyle/>
          <a:p>
            <a:r>
              <a:rPr lang="pt-BR" sz="2000" i="1" dirty="0" smtClean="0"/>
              <a:t>No estudo de viabilidade quem </a:t>
            </a:r>
            <a:r>
              <a:rPr lang="pt-BR" sz="2000" i="1" dirty="0" smtClean="0"/>
              <a:t>tem a competência de responder se o projeto vale ou não o investimento é o responsável </a:t>
            </a:r>
            <a:r>
              <a:rPr lang="pt-BR" sz="2000" i="1" dirty="0" smtClean="0"/>
              <a:t>pela área de </a:t>
            </a:r>
            <a:r>
              <a:rPr lang="pt-BR" sz="2000" i="1" dirty="0" smtClean="0"/>
              <a:t>negócio.</a:t>
            </a:r>
            <a:endParaRPr lang="pt-BR" sz="2000" i="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p:cNvSpPr txBox="1"/>
          <p:nvPr/>
        </p:nvSpPr>
        <p:spPr>
          <a:xfrm>
            <a:off x="640203" y="104504"/>
            <a:ext cx="1158663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Capítulo</a:t>
            </a:r>
            <a:r>
              <a:rPr kumimoji="0" lang="pt-BR" sz="4400" b="1" i="0" u="none" strike="noStrike" kern="1200" cap="none" spc="0" normalizeH="0" noProof="0" dirty="0" smtClean="0">
                <a:ln>
                  <a:noFill/>
                </a:ln>
                <a:solidFill>
                  <a:prstClr val="black"/>
                </a:solidFill>
                <a:effectLst/>
                <a:uLnTx/>
                <a:uFillTx/>
                <a:latin typeface="Gill Sans MT" charset="0"/>
                <a:ea typeface="Gill Sans MT" charset="0"/>
                <a:cs typeface="Gill Sans MT" charset="0"/>
              </a:rPr>
              <a:t> 1 – Engenharia de Requisitos </a:t>
            </a:r>
            <a:endParaRPr kumimoji="0" lang="pt-BR" sz="44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7" name="CaixaDeTexto 6"/>
          <p:cNvSpPr txBox="1"/>
          <p:nvPr/>
        </p:nvSpPr>
        <p:spPr>
          <a:xfrm>
            <a:off x="627797" y="982640"/>
            <a:ext cx="10631606" cy="584775"/>
          </a:xfrm>
          <a:prstGeom prst="rect">
            <a:avLst/>
          </a:prstGeom>
          <a:noFill/>
        </p:spPr>
        <p:txBody>
          <a:bodyPr wrap="square" rtlCol="0">
            <a:spAutoFit/>
          </a:bodyPr>
          <a:lstStyle/>
          <a:p>
            <a:r>
              <a:rPr lang="pt-BR" sz="3200" b="1" dirty="0" smtClean="0"/>
              <a:t>Requisitos do Usuário – Identificação de Requisitos</a:t>
            </a:r>
            <a:endParaRPr lang="pt-BR" sz="3200" b="1" dirty="0"/>
          </a:p>
        </p:txBody>
      </p:sp>
      <p:sp>
        <p:nvSpPr>
          <p:cNvPr id="11" name="CaixaDeTexto 10"/>
          <p:cNvSpPr txBox="1"/>
          <p:nvPr/>
        </p:nvSpPr>
        <p:spPr>
          <a:xfrm>
            <a:off x="395786" y="1883393"/>
            <a:ext cx="11341289" cy="1015663"/>
          </a:xfrm>
          <a:prstGeom prst="rect">
            <a:avLst/>
          </a:prstGeom>
          <a:noFill/>
        </p:spPr>
        <p:txBody>
          <a:bodyPr wrap="square" rtlCol="0">
            <a:spAutoFit/>
          </a:bodyPr>
          <a:lstStyle/>
          <a:p>
            <a:r>
              <a:rPr lang="pt-BR" sz="2000" dirty="0" smtClean="0"/>
              <a:t>Caso se determine que o projeto é viável, o passo seguinte é a identificação dos requisitos</a:t>
            </a:r>
            <a:r>
              <a:rPr lang="pt-BR" sz="2000" dirty="0" smtClean="0"/>
              <a:t>.</a:t>
            </a:r>
          </a:p>
          <a:p>
            <a:r>
              <a:rPr lang="pt-BR" sz="2000" dirty="0" smtClean="0"/>
              <a:t>Existem </a:t>
            </a:r>
            <a:r>
              <a:rPr lang="pt-BR" sz="2000" dirty="0" smtClean="0"/>
              <a:t>diversas técnicas de identificação de requisitos, e que são adequadas a diferentes situações, entre as quais podemos citar:</a:t>
            </a:r>
          </a:p>
        </p:txBody>
      </p:sp>
      <p:sp>
        <p:nvSpPr>
          <p:cNvPr id="15" name="Retângulo 14"/>
          <p:cNvSpPr/>
          <p:nvPr/>
        </p:nvSpPr>
        <p:spPr>
          <a:xfrm>
            <a:off x="427630" y="3388391"/>
            <a:ext cx="11118376" cy="2554545"/>
          </a:xfrm>
          <a:prstGeom prst="rect">
            <a:avLst/>
          </a:prstGeom>
        </p:spPr>
        <p:txBody>
          <a:bodyPr wrap="square">
            <a:spAutoFit/>
          </a:bodyPr>
          <a:lstStyle/>
          <a:p>
            <a:pPr>
              <a:buFont typeface="Wingdings" pitchFamily="2" charset="2"/>
              <a:buChar char="Ø"/>
            </a:pPr>
            <a:r>
              <a:rPr lang="pt-BR" sz="2000" dirty="0" smtClean="0"/>
              <a:t> </a:t>
            </a:r>
            <a:r>
              <a:rPr lang="pt-BR" sz="2000" dirty="0" smtClean="0"/>
              <a:t> </a:t>
            </a:r>
            <a:r>
              <a:rPr lang="pt-BR" sz="2000" b="1" dirty="0" smtClean="0">
                <a:solidFill>
                  <a:schemeClr val="tx1">
                    <a:lumMod val="95000"/>
                    <a:lumOff val="5000"/>
                  </a:schemeClr>
                </a:solidFill>
              </a:rPr>
              <a:t>Workshop de Requisitos</a:t>
            </a:r>
            <a:r>
              <a:rPr lang="pt-BR" sz="2000" dirty="0" smtClean="0"/>
              <a:t> </a:t>
            </a:r>
            <a:r>
              <a:rPr lang="pt-BR" sz="2000" dirty="0" smtClean="0"/>
              <a:t>- consiste </a:t>
            </a:r>
            <a:r>
              <a:rPr lang="pt-BR" sz="2000" dirty="0" smtClean="0"/>
              <a:t>numa técnica usada através de uma reunião estruturada, da qual devem fazer parte um grupo de analistas e um grupo representando o </a:t>
            </a:r>
            <a:r>
              <a:rPr lang="pt-BR" sz="2000" dirty="0" smtClean="0"/>
              <a:t>cliente, </a:t>
            </a:r>
            <a:r>
              <a:rPr lang="pt-BR" sz="2000" dirty="0" smtClean="0"/>
              <a:t>para então obter um conjunto de requisitos bem definidos</a:t>
            </a:r>
            <a:r>
              <a:rPr lang="pt-BR" sz="2000" dirty="0" smtClean="0"/>
              <a:t>.</a:t>
            </a:r>
          </a:p>
          <a:p>
            <a:endParaRPr lang="pt-BR" sz="2000" dirty="0" smtClean="0"/>
          </a:p>
          <a:p>
            <a:r>
              <a:rPr lang="pt-BR" sz="2000" dirty="0" smtClean="0"/>
              <a:t>Uma técnica que é também útil em workshops é o uso de </a:t>
            </a:r>
            <a:r>
              <a:rPr lang="pt-BR" sz="2000" b="1" i="1" dirty="0" smtClean="0">
                <a:solidFill>
                  <a:schemeClr val="tx1">
                    <a:lumMod val="95000"/>
                    <a:lumOff val="5000"/>
                  </a:schemeClr>
                </a:solidFill>
              </a:rPr>
              <a:t>brainstorming</a:t>
            </a:r>
            <a:r>
              <a:rPr lang="pt-BR" sz="2000" dirty="0" smtClean="0"/>
              <a:t> (tempestade de </a:t>
            </a:r>
            <a:r>
              <a:rPr lang="pt-BR" sz="2000" dirty="0" err="1" smtClean="0"/>
              <a:t>idéias</a:t>
            </a:r>
            <a:r>
              <a:rPr lang="pt-BR" sz="2000" dirty="0" smtClean="0"/>
              <a:t>) como forma de gerar um elevado número de ideias numa pequena quantidade de tempo. Como resultado dos workshops deve ser produzida documentação que reflita os requisitos e decisões tomadas sobre o sistema a implementar</a:t>
            </a:r>
            <a:endParaRPr lang="pt-BR"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p:cNvSpPr txBox="1"/>
          <p:nvPr/>
        </p:nvSpPr>
        <p:spPr>
          <a:xfrm>
            <a:off x="640203" y="104504"/>
            <a:ext cx="1158663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Capítulo</a:t>
            </a:r>
            <a:r>
              <a:rPr kumimoji="0" lang="pt-BR" sz="4400" b="1" i="0" u="none" strike="noStrike" kern="1200" cap="none" spc="0" normalizeH="0" noProof="0" dirty="0" smtClean="0">
                <a:ln>
                  <a:noFill/>
                </a:ln>
                <a:solidFill>
                  <a:prstClr val="black"/>
                </a:solidFill>
                <a:effectLst/>
                <a:uLnTx/>
                <a:uFillTx/>
                <a:latin typeface="Gill Sans MT" charset="0"/>
                <a:ea typeface="Gill Sans MT" charset="0"/>
                <a:cs typeface="Gill Sans MT" charset="0"/>
              </a:rPr>
              <a:t> 1 – Engenharia de Requisitos </a:t>
            </a:r>
            <a:endParaRPr kumimoji="0" lang="pt-BR" sz="44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7" name="CaixaDeTexto 6"/>
          <p:cNvSpPr txBox="1"/>
          <p:nvPr/>
        </p:nvSpPr>
        <p:spPr>
          <a:xfrm>
            <a:off x="627797" y="982640"/>
            <a:ext cx="10631606" cy="584775"/>
          </a:xfrm>
          <a:prstGeom prst="rect">
            <a:avLst/>
          </a:prstGeom>
          <a:noFill/>
        </p:spPr>
        <p:txBody>
          <a:bodyPr wrap="square" rtlCol="0">
            <a:spAutoFit/>
          </a:bodyPr>
          <a:lstStyle/>
          <a:p>
            <a:r>
              <a:rPr lang="pt-BR" sz="3200" b="1" dirty="0" smtClean="0"/>
              <a:t>Requisitos do Usuário – Identificação de Requisitos</a:t>
            </a:r>
            <a:endParaRPr lang="pt-BR" sz="3200" b="1" dirty="0"/>
          </a:p>
        </p:txBody>
      </p:sp>
      <p:sp>
        <p:nvSpPr>
          <p:cNvPr id="11" name="CaixaDeTexto 10"/>
          <p:cNvSpPr txBox="1"/>
          <p:nvPr/>
        </p:nvSpPr>
        <p:spPr>
          <a:xfrm>
            <a:off x="395786" y="2101761"/>
            <a:ext cx="11341289" cy="3785652"/>
          </a:xfrm>
          <a:prstGeom prst="rect">
            <a:avLst/>
          </a:prstGeom>
          <a:noFill/>
        </p:spPr>
        <p:txBody>
          <a:bodyPr wrap="square" rtlCol="0">
            <a:spAutoFit/>
          </a:bodyPr>
          <a:lstStyle/>
          <a:p>
            <a:pPr>
              <a:buFont typeface="Wingdings" pitchFamily="2" charset="2"/>
              <a:buChar char="Ø"/>
            </a:pPr>
            <a:r>
              <a:rPr lang="pt-BR" sz="2000" b="1" dirty="0" smtClean="0"/>
              <a:t> Cenários </a:t>
            </a:r>
            <a:r>
              <a:rPr lang="pt-BR" sz="2000" b="1" dirty="0" smtClean="0"/>
              <a:t>(Série de Eventos Hipotéticos</a:t>
            </a:r>
            <a:r>
              <a:rPr lang="pt-BR" sz="2000" b="1" dirty="0" smtClean="0"/>
              <a:t>) - </a:t>
            </a:r>
            <a:r>
              <a:rPr lang="pt-BR" sz="2000" dirty="0" smtClean="0"/>
              <a:t>Uma </a:t>
            </a:r>
            <a:r>
              <a:rPr lang="pt-BR" sz="2000" dirty="0" smtClean="0"/>
              <a:t>forma de levar as pessoas a imaginarem o comportamento de um sistema é o uso de cenários. Através de exemplos práticos descritivos do comportamento de um sistema, os seus usuários podem comentar acerca do seu comportamento e da interação que esperam ter com ele. Trata-se de uma abordagem informal, prática e aplicável a qualquer tipo de sistema. De um modo geral, os cenários devem incluir os seguintes elementos</a:t>
            </a:r>
            <a:r>
              <a:rPr lang="pt-BR" sz="2000" dirty="0" smtClean="0"/>
              <a:t>:</a:t>
            </a:r>
          </a:p>
          <a:p>
            <a:pPr>
              <a:buFont typeface="Wingdings" pitchFamily="2" charset="2"/>
              <a:buChar char="Ø"/>
            </a:pPr>
            <a:endParaRPr lang="pt-BR" sz="2000" dirty="0" smtClean="0"/>
          </a:p>
          <a:p>
            <a:pPr>
              <a:buFont typeface="Wingdings" pitchFamily="2" charset="2"/>
              <a:buChar char="q"/>
            </a:pPr>
            <a:r>
              <a:rPr lang="pt-BR" sz="2000" dirty="0" smtClean="0"/>
              <a:t>estado do sistema no início do cenário;</a:t>
            </a:r>
          </a:p>
          <a:p>
            <a:pPr>
              <a:buFont typeface="Wingdings" pitchFamily="2" charset="2"/>
              <a:buChar char="q"/>
            </a:pPr>
            <a:r>
              <a:rPr lang="pt-BR" sz="2000" dirty="0" smtClean="0"/>
              <a:t>sequência de eventos esperada (na ausência de erros) no cenário;</a:t>
            </a:r>
          </a:p>
          <a:p>
            <a:pPr>
              <a:buFont typeface="Wingdings" pitchFamily="2" charset="2"/>
              <a:buChar char="q"/>
            </a:pPr>
            <a:r>
              <a:rPr lang="pt-BR" sz="2000" dirty="0" smtClean="0"/>
              <a:t>listagem de erros que podem ocorrer no decorrer dos eventos do cenário e de como estes erros serão tratados;</a:t>
            </a:r>
          </a:p>
          <a:p>
            <a:pPr>
              <a:buFont typeface="Wingdings" pitchFamily="2" charset="2"/>
              <a:buChar char="q"/>
            </a:pPr>
            <a:r>
              <a:rPr lang="pt-BR" sz="2000" dirty="0" smtClean="0"/>
              <a:t>outras atividades que podem ser executadas ao mesmo tempo que as deste cenário;</a:t>
            </a:r>
          </a:p>
          <a:p>
            <a:pPr>
              <a:buFont typeface="Wingdings" pitchFamily="2" charset="2"/>
              <a:buChar char="q"/>
            </a:pPr>
            <a:r>
              <a:rPr lang="pt-BR" sz="2000" dirty="0" smtClean="0"/>
              <a:t>estado do sistema depois de o cenário terminar.</a:t>
            </a:r>
            <a:endParaRPr lang="pt-BR"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p:cNvSpPr txBox="1"/>
          <p:nvPr/>
        </p:nvSpPr>
        <p:spPr>
          <a:xfrm>
            <a:off x="640203" y="104504"/>
            <a:ext cx="1158663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Capítulo</a:t>
            </a:r>
            <a:r>
              <a:rPr kumimoji="0" lang="pt-BR" sz="4400" b="1" i="0" u="none" strike="noStrike" kern="1200" cap="none" spc="0" normalizeH="0" noProof="0" dirty="0" smtClean="0">
                <a:ln>
                  <a:noFill/>
                </a:ln>
                <a:solidFill>
                  <a:prstClr val="black"/>
                </a:solidFill>
                <a:effectLst/>
                <a:uLnTx/>
                <a:uFillTx/>
                <a:latin typeface="Gill Sans MT" charset="0"/>
                <a:ea typeface="Gill Sans MT" charset="0"/>
                <a:cs typeface="Gill Sans MT" charset="0"/>
              </a:rPr>
              <a:t> 1 – Engenharia de Requisitos </a:t>
            </a:r>
            <a:endParaRPr kumimoji="0" lang="pt-BR" sz="44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7" name="CaixaDeTexto 6"/>
          <p:cNvSpPr txBox="1"/>
          <p:nvPr/>
        </p:nvSpPr>
        <p:spPr>
          <a:xfrm>
            <a:off x="627797" y="982640"/>
            <a:ext cx="10631606" cy="584775"/>
          </a:xfrm>
          <a:prstGeom prst="rect">
            <a:avLst/>
          </a:prstGeom>
          <a:noFill/>
        </p:spPr>
        <p:txBody>
          <a:bodyPr wrap="square" rtlCol="0">
            <a:spAutoFit/>
          </a:bodyPr>
          <a:lstStyle/>
          <a:p>
            <a:r>
              <a:rPr lang="pt-BR" sz="3200" b="1" dirty="0" smtClean="0"/>
              <a:t>Requisitos do Usuário – Identificação de Requisitos</a:t>
            </a:r>
            <a:endParaRPr lang="pt-BR" sz="3200" b="1" dirty="0"/>
          </a:p>
        </p:txBody>
      </p:sp>
      <p:sp>
        <p:nvSpPr>
          <p:cNvPr id="11" name="CaixaDeTexto 10"/>
          <p:cNvSpPr txBox="1"/>
          <p:nvPr/>
        </p:nvSpPr>
        <p:spPr>
          <a:xfrm>
            <a:off x="395786" y="1869745"/>
            <a:ext cx="11341289" cy="3785652"/>
          </a:xfrm>
          <a:prstGeom prst="rect">
            <a:avLst/>
          </a:prstGeom>
          <a:noFill/>
        </p:spPr>
        <p:txBody>
          <a:bodyPr wrap="square" rtlCol="0">
            <a:spAutoFit/>
          </a:bodyPr>
          <a:lstStyle/>
          <a:p>
            <a:pPr>
              <a:buFont typeface="Wingdings" pitchFamily="2" charset="2"/>
              <a:buChar char="Ø"/>
            </a:pPr>
            <a:r>
              <a:rPr lang="pt-BR" sz="2000" b="1" dirty="0" smtClean="0"/>
              <a:t>  Prototipagem -  </a:t>
            </a:r>
            <a:r>
              <a:rPr lang="pt-BR" sz="2000" dirty="0" smtClean="0"/>
              <a:t>O </a:t>
            </a:r>
            <a:r>
              <a:rPr lang="pt-BR" sz="2000" dirty="0" smtClean="0"/>
              <a:t>uso de prototipagem é feito em diversas fases do processo de engenharia de requisitos (por exemplo na identificação, análise e validação). Trata-se de uma versão inicial do sistema, baseada em requisitos ainda pouco definidos, mas que pode ajudar a encontrar desde cedo falhas que através da comunicação verbal não são tão facilmente identificáveis. </a:t>
            </a:r>
            <a:endParaRPr lang="pt-BR" sz="2000" dirty="0" smtClean="0"/>
          </a:p>
          <a:p>
            <a:endParaRPr lang="pt-BR" sz="2000" dirty="0" smtClean="0"/>
          </a:p>
          <a:p>
            <a:r>
              <a:rPr lang="pt-BR" sz="2000" dirty="0" smtClean="0"/>
              <a:t>Neste </a:t>
            </a:r>
            <a:r>
              <a:rPr lang="pt-BR" sz="2000" dirty="0" smtClean="0"/>
              <a:t>tipo de abordagem apenas são desenvolvidas algumas funcionalidades sendo normalmente desenvolvidas primeiro aquelas que são mais fáceis de compreender por parte do utilizador e que lhe podem trazer maior valor acrescentado (principalmente na prototipagem evolutiva, isto é, aquela que mais tarde é evoluída para a fase de desenvolvimento). O uso de protótipos deve ser considerado apenas mediante uma análise custo-benefício, já que os custos de desenvolvimento de um protótipo podem facilmente crescer, sendo particularmente úteis em situações em que a interface com os usuários é, para eles, um aspecto crítico.</a:t>
            </a:r>
            <a:endParaRPr lang="pt-BR"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p:cNvSpPr txBox="1"/>
          <p:nvPr/>
        </p:nvSpPr>
        <p:spPr>
          <a:xfrm>
            <a:off x="640203" y="104504"/>
            <a:ext cx="1158663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Capítulo</a:t>
            </a:r>
            <a:r>
              <a:rPr kumimoji="0" lang="pt-BR" sz="4400" b="1" i="0" u="none" strike="noStrike" kern="1200" cap="none" spc="0" normalizeH="0" noProof="0" dirty="0" smtClean="0">
                <a:ln>
                  <a:noFill/>
                </a:ln>
                <a:solidFill>
                  <a:prstClr val="black"/>
                </a:solidFill>
                <a:effectLst/>
                <a:uLnTx/>
                <a:uFillTx/>
                <a:latin typeface="Gill Sans MT" charset="0"/>
                <a:ea typeface="Gill Sans MT" charset="0"/>
                <a:cs typeface="Gill Sans MT" charset="0"/>
              </a:rPr>
              <a:t> 1 – Engenharia de Requisitos </a:t>
            </a:r>
            <a:endParaRPr kumimoji="0" lang="pt-BR" sz="44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7" name="CaixaDeTexto 6"/>
          <p:cNvSpPr txBox="1"/>
          <p:nvPr/>
        </p:nvSpPr>
        <p:spPr>
          <a:xfrm>
            <a:off x="627797" y="982640"/>
            <a:ext cx="10631606" cy="584775"/>
          </a:xfrm>
          <a:prstGeom prst="rect">
            <a:avLst/>
          </a:prstGeom>
          <a:noFill/>
        </p:spPr>
        <p:txBody>
          <a:bodyPr wrap="square" rtlCol="0">
            <a:spAutoFit/>
          </a:bodyPr>
          <a:lstStyle/>
          <a:p>
            <a:r>
              <a:rPr lang="pt-BR" sz="3200" b="1" dirty="0" smtClean="0"/>
              <a:t>Requisitos do Usuário – Identificação de Requisitos</a:t>
            </a:r>
            <a:endParaRPr lang="pt-BR" sz="3200" b="1" dirty="0"/>
          </a:p>
        </p:txBody>
      </p:sp>
      <p:sp>
        <p:nvSpPr>
          <p:cNvPr id="11" name="CaixaDeTexto 10"/>
          <p:cNvSpPr txBox="1"/>
          <p:nvPr/>
        </p:nvSpPr>
        <p:spPr>
          <a:xfrm>
            <a:off x="395786" y="1869745"/>
            <a:ext cx="11341289" cy="3785652"/>
          </a:xfrm>
          <a:prstGeom prst="rect">
            <a:avLst/>
          </a:prstGeom>
          <a:noFill/>
        </p:spPr>
        <p:txBody>
          <a:bodyPr wrap="square" rtlCol="0">
            <a:spAutoFit/>
          </a:bodyPr>
          <a:lstStyle/>
          <a:p>
            <a:r>
              <a:rPr lang="pt-BR" sz="2000" b="1" dirty="0" smtClean="0"/>
              <a:t> </a:t>
            </a:r>
            <a:r>
              <a:rPr lang="pt-BR" sz="2000" b="1" dirty="0" smtClean="0"/>
              <a:t>Estudo </a:t>
            </a:r>
            <a:r>
              <a:rPr lang="pt-BR" sz="2000" b="1" dirty="0" smtClean="0"/>
              <a:t>etnográfico</a:t>
            </a:r>
            <a:r>
              <a:rPr lang="pt-BR" sz="2000" dirty="0" smtClean="0"/>
              <a:t> </a:t>
            </a:r>
            <a:r>
              <a:rPr lang="pt-BR" sz="2000" dirty="0" smtClean="0"/>
              <a:t>- Os</a:t>
            </a:r>
            <a:r>
              <a:rPr lang="pt-BR" sz="2000" dirty="0" smtClean="0"/>
              <a:t> Estudos Etnográficos são uma análise de componente social das tarefas desempenhadas numa dada organização. Quando um dado conjunto de tarefas se torna rotineiro para uma pessoa, é de se esperar que esta sinta dificuldade em articular todos os passos que segue ou todas as pessoas com as quais interage para as levar a cabo</a:t>
            </a:r>
            <a:r>
              <a:rPr lang="pt-BR" sz="2000" dirty="0" smtClean="0"/>
              <a:t>.</a:t>
            </a:r>
          </a:p>
          <a:p>
            <a:endParaRPr lang="pt-BR" sz="2000" dirty="0" smtClean="0"/>
          </a:p>
          <a:p>
            <a:r>
              <a:rPr lang="pt-BR" sz="2000" dirty="0" smtClean="0"/>
              <a:t>Através </a:t>
            </a:r>
            <a:r>
              <a:rPr lang="pt-BR" sz="2000" dirty="0" smtClean="0"/>
              <a:t>de uma observação direta das atividades realizadas durante um período de trabalho de um funcionário é possível encontrar requisitos que não seriam observáveis usando técnicas convencionais. Esta observação pode ser acompanhada de registros áudio/vídeo, porém não convém usá-los em demasia visto que o tempo necessário para os processar pode ser demasiado. Nesta técnica assume-se que o representante do cliente observado desempenha as suas funções "corretamente", pelo que convém ter algum cuidado na escolha do mesmo.</a:t>
            </a:r>
          </a:p>
          <a:p>
            <a:pPr>
              <a:buFont typeface="Wingdings" pitchFamily="2" charset="2"/>
              <a:buChar char="Ø"/>
            </a:pPr>
            <a:endParaRPr lang="pt-BR"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p:cNvSpPr txBox="1"/>
          <p:nvPr/>
        </p:nvSpPr>
        <p:spPr>
          <a:xfrm>
            <a:off x="640203" y="104504"/>
            <a:ext cx="1158663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Capítulo</a:t>
            </a:r>
            <a:r>
              <a:rPr kumimoji="0" lang="pt-BR" sz="4400" b="1" i="0" u="none" strike="noStrike" kern="1200" cap="none" spc="0" normalizeH="0" noProof="0" dirty="0" smtClean="0">
                <a:ln>
                  <a:noFill/>
                </a:ln>
                <a:solidFill>
                  <a:prstClr val="black"/>
                </a:solidFill>
                <a:effectLst/>
                <a:uLnTx/>
                <a:uFillTx/>
                <a:latin typeface="Gill Sans MT" charset="0"/>
                <a:ea typeface="Gill Sans MT" charset="0"/>
                <a:cs typeface="Gill Sans MT" charset="0"/>
              </a:rPr>
              <a:t> 1 – Engenharia de Requisitos </a:t>
            </a:r>
            <a:endParaRPr kumimoji="0" lang="pt-BR" sz="44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7" name="CaixaDeTexto 6"/>
          <p:cNvSpPr txBox="1"/>
          <p:nvPr/>
        </p:nvSpPr>
        <p:spPr>
          <a:xfrm>
            <a:off x="627797" y="982640"/>
            <a:ext cx="10631606" cy="584775"/>
          </a:xfrm>
          <a:prstGeom prst="rect">
            <a:avLst/>
          </a:prstGeom>
          <a:noFill/>
        </p:spPr>
        <p:txBody>
          <a:bodyPr wrap="square" rtlCol="0">
            <a:spAutoFit/>
          </a:bodyPr>
          <a:lstStyle/>
          <a:p>
            <a:r>
              <a:rPr lang="pt-BR" sz="3200" b="1" dirty="0" smtClean="0"/>
              <a:t>Requisitos do Usuário – Análise e Negociação</a:t>
            </a:r>
            <a:endParaRPr lang="pt-BR" sz="3200" b="1" dirty="0"/>
          </a:p>
        </p:txBody>
      </p:sp>
      <p:sp>
        <p:nvSpPr>
          <p:cNvPr id="11" name="CaixaDeTexto 10"/>
          <p:cNvSpPr txBox="1"/>
          <p:nvPr/>
        </p:nvSpPr>
        <p:spPr>
          <a:xfrm>
            <a:off x="395786" y="1869745"/>
            <a:ext cx="11341289" cy="4708981"/>
          </a:xfrm>
          <a:prstGeom prst="rect">
            <a:avLst/>
          </a:prstGeom>
          <a:noFill/>
        </p:spPr>
        <p:txBody>
          <a:bodyPr wrap="square" rtlCol="0">
            <a:spAutoFit/>
          </a:bodyPr>
          <a:lstStyle/>
          <a:p>
            <a:r>
              <a:rPr lang="pt-BR" sz="2000" b="1" dirty="0" smtClean="0"/>
              <a:t> </a:t>
            </a:r>
            <a:r>
              <a:rPr lang="pt-BR" sz="2000" dirty="0" smtClean="0"/>
              <a:t>Algumas das atividades envolvidas na análise de requisitos incluem</a:t>
            </a:r>
            <a:r>
              <a:rPr lang="pt-BR" sz="2000" dirty="0" smtClean="0"/>
              <a:t>:</a:t>
            </a:r>
          </a:p>
          <a:p>
            <a:endParaRPr lang="pt-BR" sz="2000" dirty="0" smtClean="0"/>
          </a:p>
          <a:p>
            <a:pPr>
              <a:buFont typeface="Wingdings" pitchFamily="2" charset="2"/>
              <a:buChar char="q"/>
            </a:pPr>
            <a:r>
              <a:rPr lang="pt-BR" sz="2000" dirty="0" smtClean="0"/>
              <a:t>classificação: agrupamento de requisitos em "módulos" para facilitar a visão global do funcionamento pretendido para o sistema</a:t>
            </a:r>
            <a:r>
              <a:rPr lang="pt-BR" sz="2000" dirty="0" smtClean="0"/>
              <a:t>;</a:t>
            </a:r>
          </a:p>
          <a:p>
            <a:endParaRPr lang="pt-BR" sz="2000" dirty="0" smtClean="0"/>
          </a:p>
          <a:p>
            <a:pPr>
              <a:buFont typeface="Wingdings" pitchFamily="2" charset="2"/>
              <a:buChar char="q"/>
            </a:pPr>
            <a:r>
              <a:rPr lang="pt-BR" sz="2000" dirty="0" smtClean="0"/>
              <a:t>resolução de conflitos: dada a multiplicidade e diversidade de papéis das partes interessadas envolvidas na captura e análise de requisitos, é inevitável a existência de conflitos nos requisitos identificados; é importante resolver estes conflitos o mais breve possível</a:t>
            </a:r>
            <a:r>
              <a:rPr lang="pt-BR" sz="2000" dirty="0" smtClean="0"/>
              <a:t>;</a:t>
            </a:r>
          </a:p>
          <a:p>
            <a:endParaRPr lang="pt-BR" sz="2000" dirty="0" smtClean="0"/>
          </a:p>
          <a:p>
            <a:pPr>
              <a:buFont typeface="Wingdings" pitchFamily="2" charset="2"/>
              <a:buChar char="q"/>
            </a:pPr>
            <a:r>
              <a:rPr lang="pt-BR" sz="2000" dirty="0" smtClean="0"/>
              <a:t>priorização: consiste na atribuição de uma "prioridade" a cada requisito (por exemplo elevada/média/baixa); obviamente, este pode ser um fator gerador de conflitos</a:t>
            </a:r>
            <a:r>
              <a:rPr lang="pt-BR" sz="2000" dirty="0" smtClean="0"/>
              <a:t>;</a:t>
            </a:r>
          </a:p>
          <a:p>
            <a:endParaRPr lang="pt-BR" sz="2000" dirty="0" smtClean="0"/>
          </a:p>
          <a:p>
            <a:pPr>
              <a:buFont typeface="Wingdings" pitchFamily="2" charset="2"/>
              <a:buChar char="q"/>
            </a:pPr>
            <a:r>
              <a:rPr lang="pt-BR" sz="2000" dirty="0" smtClean="0"/>
              <a:t>confirmação: é confirmada com as partes interessadas a completude dos requisitos, sua consistência e validade (de acordo com o que se pretende do sistema).</a:t>
            </a:r>
          </a:p>
          <a:p>
            <a:pPr>
              <a:buFont typeface="Wingdings" pitchFamily="2" charset="2"/>
              <a:buChar char="Ø"/>
            </a:pPr>
            <a:endParaRPr lang="pt-BR"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p:cNvSpPr txBox="1"/>
          <p:nvPr/>
        </p:nvSpPr>
        <p:spPr>
          <a:xfrm>
            <a:off x="640203" y="104504"/>
            <a:ext cx="1158663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Capítulo</a:t>
            </a:r>
            <a:r>
              <a:rPr kumimoji="0" lang="pt-BR" sz="4400" b="1" i="0" u="none" strike="noStrike" kern="1200" cap="none" spc="0" normalizeH="0" noProof="0" dirty="0" smtClean="0">
                <a:ln>
                  <a:noFill/>
                </a:ln>
                <a:solidFill>
                  <a:prstClr val="black"/>
                </a:solidFill>
                <a:effectLst/>
                <a:uLnTx/>
                <a:uFillTx/>
                <a:latin typeface="Gill Sans MT" charset="0"/>
                <a:ea typeface="Gill Sans MT" charset="0"/>
                <a:cs typeface="Gill Sans MT" charset="0"/>
              </a:rPr>
              <a:t> 1 – Engenharia de Requisitos </a:t>
            </a:r>
            <a:endParaRPr kumimoji="0" lang="pt-BR" sz="44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7" name="CaixaDeTexto 6"/>
          <p:cNvSpPr txBox="1"/>
          <p:nvPr/>
        </p:nvSpPr>
        <p:spPr>
          <a:xfrm>
            <a:off x="627797" y="982640"/>
            <a:ext cx="10631606" cy="584775"/>
          </a:xfrm>
          <a:prstGeom prst="rect">
            <a:avLst/>
          </a:prstGeom>
          <a:noFill/>
        </p:spPr>
        <p:txBody>
          <a:bodyPr wrap="square" rtlCol="0">
            <a:spAutoFit/>
          </a:bodyPr>
          <a:lstStyle/>
          <a:p>
            <a:r>
              <a:rPr lang="pt-BR" sz="3200" b="1" dirty="0" smtClean="0"/>
              <a:t>Requisitos do Usuário – Especificação e Documentação</a:t>
            </a:r>
            <a:endParaRPr lang="pt-BR" sz="3200" b="1" dirty="0"/>
          </a:p>
        </p:txBody>
      </p:sp>
      <p:sp>
        <p:nvSpPr>
          <p:cNvPr id="11" name="CaixaDeTexto 10"/>
          <p:cNvSpPr txBox="1"/>
          <p:nvPr/>
        </p:nvSpPr>
        <p:spPr>
          <a:xfrm>
            <a:off x="395786" y="1869745"/>
            <a:ext cx="11341289" cy="3477875"/>
          </a:xfrm>
          <a:prstGeom prst="rect">
            <a:avLst/>
          </a:prstGeom>
          <a:noFill/>
        </p:spPr>
        <p:txBody>
          <a:bodyPr wrap="square" rtlCol="0">
            <a:spAutoFit/>
          </a:bodyPr>
          <a:lstStyle/>
          <a:p>
            <a:r>
              <a:rPr lang="pt-BR" sz="2000" dirty="0" smtClean="0"/>
              <a:t>É </a:t>
            </a:r>
            <a:r>
              <a:rPr lang="pt-BR" sz="2000" dirty="0" smtClean="0"/>
              <a:t>nesta fase que se dá a produção propriamente dita do </a:t>
            </a:r>
            <a:r>
              <a:rPr lang="pt-BR" sz="2000" b="1" dirty="0" smtClean="0"/>
              <a:t>Documento de Especificação de Requisitos</a:t>
            </a:r>
            <a:r>
              <a:rPr lang="pt-BR" sz="2000" dirty="0" smtClean="0"/>
              <a:t>.</a:t>
            </a:r>
          </a:p>
          <a:p>
            <a:r>
              <a:rPr lang="pt-BR" sz="2000" dirty="0" smtClean="0"/>
              <a:t>Em todos os tipos de especificação há 2 tipos de requisitos a considerar</a:t>
            </a:r>
            <a:r>
              <a:rPr lang="pt-BR" sz="2000" dirty="0" smtClean="0"/>
              <a:t>:</a:t>
            </a:r>
          </a:p>
          <a:p>
            <a:endParaRPr lang="pt-BR" sz="2000" dirty="0" smtClean="0"/>
          </a:p>
          <a:p>
            <a:pPr>
              <a:buFont typeface="Wingdings" pitchFamily="2" charset="2"/>
              <a:buChar char="q"/>
            </a:pPr>
            <a:r>
              <a:rPr lang="pt-BR" sz="2000" b="1" dirty="0" smtClean="0"/>
              <a:t>Requisitos funcionais: </a:t>
            </a:r>
            <a:r>
              <a:rPr lang="pt-BR" sz="2000" dirty="0" smtClean="0"/>
              <a:t>descrevem as funcionalidades que se espera que o sistema disponibilize, de uma forma completa e consistente. É aquilo que o utilizador espera que o sistema ofereça, atendendo aos propósitos para qual o sistema será desenvolvido</a:t>
            </a:r>
            <a:r>
              <a:rPr lang="pt-BR" sz="2000" dirty="0" smtClean="0"/>
              <a:t>.</a:t>
            </a:r>
          </a:p>
          <a:p>
            <a:pPr>
              <a:buFont typeface="Wingdings" pitchFamily="2" charset="2"/>
              <a:buChar char="q"/>
            </a:pPr>
            <a:endParaRPr lang="pt-BR" sz="2000" dirty="0" smtClean="0"/>
          </a:p>
          <a:p>
            <a:pPr>
              <a:buFont typeface="Wingdings" pitchFamily="2" charset="2"/>
              <a:buChar char="q"/>
            </a:pPr>
            <a:r>
              <a:rPr lang="pt-BR" sz="2000" b="1" dirty="0" smtClean="0"/>
              <a:t>Requisitos </a:t>
            </a:r>
            <a:r>
              <a:rPr lang="pt-BR" sz="2000" b="1" dirty="0" err="1" smtClean="0"/>
              <a:t>não-funcionais</a:t>
            </a:r>
            <a:r>
              <a:rPr lang="pt-BR" sz="2000" b="1" dirty="0" smtClean="0"/>
              <a:t>: </a:t>
            </a:r>
            <a:r>
              <a:rPr lang="pt-BR" sz="2000" dirty="0" smtClean="0"/>
              <a:t>referem-se a aspectos </a:t>
            </a:r>
            <a:r>
              <a:rPr lang="pt-BR" sz="2000" dirty="0" err="1" smtClean="0"/>
              <a:t>não-funcionais</a:t>
            </a:r>
            <a:r>
              <a:rPr lang="pt-BR" sz="2000" dirty="0" smtClean="0"/>
              <a:t> do sistema, como restrições nas quais o sistema deve operar ou propriedades emergentes do sistema. Costumam ser divididos em Requisitos </a:t>
            </a:r>
            <a:r>
              <a:rPr lang="pt-BR" sz="2000" dirty="0" err="1" smtClean="0"/>
              <a:t>não-funcionais</a:t>
            </a:r>
            <a:r>
              <a:rPr lang="pt-BR" sz="2000" dirty="0" smtClean="0"/>
              <a:t> de: Utilidade, Confiança, Desempenho, Suporte e </a:t>
            </a:r>
            <a:r>
              <a:rPr lang="pt-BR" sz="2000" dirty="0" err="1" smtClean="0"/>
              <a:t>Escalabilidade</a:t>
            </a:r>
            <a:r>
              <a:rPr lang="pt-BR" sz="2000" dirty="0" smtClean="0"/>
              <a:t>.</a:t>
            </a:r>
          </a:p>
          <a:p>
            <a:pPr>
              <a:buFont typeface="Wingdings" pitchFamily="2" charset="2"/>
              <a:buChar char="Ø"/>
            </a:pPr>
            <a:endParaRPr lang="pt-BR" sz="2000" dirty="0"/>
          </a:p>
        </p:txBody>
      </p:sp>
      <p:sp>
        <p:nvSpPr>
          <p:cNvPr id="5" name="CaixaDeTexto 4"/>
          <p:cNvSpPr txBox="1"/>
          <p:nvPr/>
        </p:nvSpPr>
        <p:spPr>
          <a:xfrm>
            <a:off x="491319" y="5322636"/>
            <a:ext cx="11081982" cy="1015663"/>
          </a:xfrm>
          <a:prstGeom prst="rect">
            <a:avLst/>
          </a:prstGeom>
          <a:noFill/>
        </p:spPr>
        <p:txBody>
          <a:bodyPr wrap="square" rtlCol="0">
            <a:spAutoFit/>
          </a:bodyPr>
          <a:lstStyle/>
          <a:p>
            <a:r>
              <a:rPr lang="pt-BR" sz="2000" dirty="0" smtClean="0"/>
              <a:t>Os </a:t>
            </a:r>
            <a:r>
              <a:rPr lang="pt-BR" sz="2000" b="1" dirty="0" smtClean="0"/>
              <a:t>requisitos do usuário</a:t>
            </a:r>
            <a:r>
              <a:rPr lang="pt-BR" sz="2000" dirty="0" smtClean="0"/>
              <a:t> destinam-se portanto aos vários níveis hierárquicos da organização na qual o sistema será implementado (desde gestores a usuários), pelo que são descritos usando apenas (conforme já foi referido) linguagem natural, formulários e diagramas muito simples. </a:t>
            </a:r>
            <a:endParaRPr lang="pt-BR"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p:cNvSpPr txBox="1"/>
          <p:nvPr/>
        </p:nvSpPr>
        <p:spPr>
          <a:xfrm>
            <a:off x="640203" y="104504"/>
            <a:ext cx="1158663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Capítulo</a:t>
            </a:r>
            <a:r>
              <a:rPr kumimoji="0" lang="pt-BR" sz="4400" b="1" i="0" u="none" strike="noStrike" kern="1200" cap="none" spc="0" normalizeH="0" noProof="0" dirty="0" smtClean="0">
                <a:ln>
                  <a:noFill/>
                </a:ln>
                <a:solidFill>
                  <a:prstClr val="black"/>
                </a:solidFill>
                <a:effectLst/>
                <a:uLnTx/>
                <a:uFillTx/>
                <a:latin typeface="Gill Sans MT" charset="0"/>
                <a:ea typeface="Gill Sans MT" charset="0"/>
                <a:cs typeface="Gill Sans MT" charset="0"/>
              </a:rPr>
              <a:t> 1 – Engenharia de Requisitos </a:t>
            </a:r>
            <a:endParaRPr kumimoji="0" lang="pt-BR" sz="44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7" name="CaixaDeTexto 6"/>
          <p:cNvSpPr txBox="1"/>
          <p:nvPr/>
        </p:nvSpPr>
        <p:spPr>
          <a:xfrm>
            <a:off x="627797" y="1132768"/>
            <a:ext cx="7083188" cy="584775"/>
          </a:xfrm>
          <a:prstGeom prst="rect">
            <a:avLst/>
          </a:prstGeom>
          <a:noFill/>
        </p:spPr>
        <p:txBody>
          <a:bodyPr wrap="square" rtlCol="0">
            <a:spAutoFit/>
          </a:bodyPr>
          <a:lstStyle/>
          <a:p>
            <a:r>
              <a:rPr lang="pt-BR" sz="3200" b="1" dirty="0" smtClean="0"/>
              <a:t>Especificação Funcional</a:t>
            </a:r>
            <a:endParaRPr lang="pt-BR" sz="3200" b="1" dirty="0"/>
          </a:p>
        </p:txBody>
      </p:sp>
      <p:sp>
        <p:nvSpPr>
          <p:cNvPr id="10" name="CaixaDeTexto 9"/>
          <p:cNvSpPr txBox="1"/>
          <p:nvPr/>
        </p:nvSpPr>
        <p:spPr>
          <a:xfrm>
            <a:off x="3848669" y="3111682"/>
            <a:ext cx="4572000" cy="3139321"/>
          </a:xfrm>
          <a:prstGeom prst="rect">
            <a:avLst/>
          </a:prstGeom>
          <a:noFill/>
        </p:spPr>
        <p:txBody>
          <a:bodyPr wrap="square" rtlCol="0">
            <a:spAutoFit/>
          </a:bodyPr>
          <a:lstStyle/>
          <a:p>
            <a:pPr algn="ctr"/>
            <a:r>
              <a:rPr lang="pt-BR" sz="2200" b="1" dirty="0" smtClean="0"/>
              <a:t>Estrutura</a:t>
            </a:r>
          </a:p>
          <a:p>
            <a:pPr>
              <a:buFont typeface="Wingdings" pitchFamily="2" charset="2"/>
              <a:buChar char="ü"/>
            </a:pPr>
            <a:endParaRPr lang="pt-BR" sz="2200" dirty="0" smtClean="0"/>
          </a:p>
          <a:p>
            <a:pPr marL="457200" indent="-457200">
              <a:buFont typeface="+mj-lt"/>
              <a:buAutoNum type="arabicPeriod"/>
            </a:pPr>
            <a:r>
              <a:rPr lang="pt-BR" sz="2200" dirty="0" smtClean="0"/>
              <a:t> Capa.</a:t>
            </a:r>
            <a:endParaRPr lang="pt-BR" sz="2200" dirty="0" smtClean="0"/>
          </a:p>
          <a:p>
            <a:pPr marL="457200" indent="-457200">
              <a:buFont typeface="+mj-lt"/>
              <a:buAutoNum type="arabicPeriod"/>
            </a:pPr>
            <a:r>
              <a:rPr lang="pt-BR" sz="2200" dirty="0" smtClean="0"/>
              <a:t> Índice.</a:t>
            </a:r>
            <a:endParaRPr lang="pt-BR" sz="2200" dirty="0" smtClean="0"/>
          </a:p>
          <a:p>
            <a:pPr marL="457200" indent="-457200">
              <a:buFont typeface="+mj-lt"/>
              <a:buAutoNum type="arabicPeriod"/>
            </a:pPr>
            <a:r>
              <a:rPr lang="pt-BR" sz="2200" dirty="0" smtClean="0"/>
              <a:t> Controle de Versão.</a:t>
            </a:r>
            <a:endParaRPr lang="pt-BR" sz="2200" dirty="0" smtClean="0"/>
          </a:p>
          <a:p>
            <a:pPr marL="457200" indent="-457200">
              <a:buFont typeface="+mj-lt"/>
              <a:buAutoNum type="arabicPeriod"/>
            </a:pPr>
            <a:r>
              <a:rPr lang="pt-BR" sz="2200" dirty="0" smtClean="0"/>
              <a:t> Descrição da Solução.</a:t>
            </a:r>
            <a:endParaRPr lang="pt-BR" sz="2200" dirty="0" smtClean="0"/>
          </a:p>
          <a:p>
            <a:pPr marL="457200" indent="-457200">
              <a:buFont typeface="+mj-lt"/>
              <a:buAutoNum type="arabicPeriod"/>
            </a:pPr>
            <a:r>
              <a:rPr lang="pt-BR" sz="2200" dirty="0" smtClean="0"/>
              <a:t> Quadro de Referência.</a:t>
            </a:r>
            <a:endParaRPr lang="pt-BR" sz="2200" dirty="0" smtClean="0"/>
          </a:p>
          <a:p>
            <a:pPr marL="457200" indent="-457200">
              <a:buFont typeface="+mj-lt"/>
              <a:buAutoNum type="arabicPeriod"/>
            </a:pPr>
            <a:r>
              <a:rPr lang="pt-BR" sz="2200" dirty="0" smtClean="0"/>
              <a:t> Anexos</a:t>
            </a:r>
            <a:endParaRPr lang="pt-BR" sz="2200" dirty="0" smtClean="0"/>
          </a:p>
          <a:p>
            <a:pPr marL="457200" indent="-457200">
              <a:buFont typeface="+mj-lt"/>
              <a:buAutoNum type="arabicPeriod"/>
            </a:pPr>
            <a:r>
              <a:rPr lang="pt-BR" sz="2200" dirty="0" smtClean="0"/>
              <a:t> Aceite.</a:t>
            </a:r>
            <a:endParaRPr lang="pt-BR" sz="2200" dirty="0" smtClean="0"/>
          </a:p>
        </p:txBody>
      </p:sp>
      <p:sp>
        <p:nvSpPr>
          <p:cNvPr id="11" name="CaixaDeTexto 10"/>
          <p:cNvSpPr txBox="1"/>
          <p:nvPr/>
        </p:nvSpPr>
        <p:spPr>
          <a:xfrm>
            <a:off x="395786" y="1815153"/>
            <a:ext cx="11341289" cy="1200329"/>
          </a:xfrm>
          <a:prstGeom prst="rect">
            <a:avLst/>
          </a:prstGeom>
          <a:noFill/>
        </p:spPr>
        <p:txBody>
          <a:bodyPr wrap="square" rtlCol="0">
            <a:spAutoFit/>
          </a:bodyPr>
          <a:lstStyle/>
          <a:p>
            <a:r>
              <a:rPr lang="pt-BR" sz="2400" i="1" dirty="0" smtClean="0"/>
              <a:t>A </a:t>
            </a:r>
            <a:r>
              <a:rPr lang="pt-BR" sz="2400" b="1" i="1" dirty="0" smtClean="0"/>
              <a:t>especificação funcional</a:t>
            </a:r>
            <a:r>
              <a:rPr lang="pt-BR" sz="2400" i="1" dirty="0" smtClean="0"/>
              <a:t> é o documento que contém o que o sistema deverá processar quando da sua entrega. Ele é um contrato contendo o que deve ser feito pelo prestador e o que será entregue ao cliente. Este documento é o coração do projeto.</a:t>
            </a:r>
            <a:endParaRPr lang="pt-BR" sz="2200"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p:cNvSpPr txBox="1"/>
          <p:nvPr/>
        </p:nvSpPr>
        <p:spPr>
          <a:xfrm>
            <a:off x="640203" y="104504"/>
            <a:ext cx="1158663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Capítulo</a:t>
            </a:r>
            <a:r>
              <a:rPr kumimoji="0" lang="pt-BR" sz="4400" b="1" i="0" u="none" strike="noStrike" kern="1200" cap="none" spc="0" normalizeH="0" noProof="0" dirty="0" smtClean="0">
                <a:ln>
                  <a:noFill/>
                </a:ln>
                <a:solidFill>
                  <a:prstClr val="black"/>
                </a:solidFill>
                <a:effectLst/>
                <a:uLnTx/>
                <a:uFillTx/>
                <a:latin typeface="Gill Sans MT" charset="0"/>
                <a:ea typeface="Gill Sans MT" charset="0"/>
                <a:cs typeface="Gill Sans MT" charset="0"/>
              </a:rPr>
              <a:t> 1 – Engenharia de Requisitos </a:t>
            </a:r>
            <a:endParaRPr kumimoji="0" lang="pt-BR" sz="44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7" name="CaixaDeTexto 6"/>
          <p:cNvSpPr txBox="1"/>
          <p:nvPr/>
        </p:nvSpPr>
        <p:spPr>
          <a:xfrm>
            <a:off x="627797" y="1132768"/>
            <a:ext cx="7083188" cy="584775"/>
          </a:xfrm>
          <a:prstGeom prst="rect">
            <a:avLst/>
          </a:prstGeom>
          <a:noFill/>
        </p:spPr>
        <p:txBody>
          <a:bodyPr wrap="square" rtlCol="0">
            <a:spAutoFit/>
          </a:bodyPr>
          <a:lstStyle/>
          <a:p>
            <a:r>
              <a:rPr lang="pt-BR" sz="3200" b="1" dirty="0" smtClean="0"/>
              <a:t>Especificação Funcional</a:t>
            </a:r>
            <a:endParaRPr lang="pt-BR" sz="3200" b="1" dirty="0"/>
          </a:p>
        </p:txBody>
      </p:sp>
      <p:sp>
        <p:nvSpPr>
          <p:cNvPr id="11" name="CaixaDeTexto 10"/>
          <p:cNvSpPr txBox="1"/>
          <p:nvPr/>
        </p:nvSpPr>
        <p:spPr>
          <a:xfrm>
            <a:off x="395786" y="1815153"/>
            <a:ext cx="11341289" cy="3477875"/>
          </a:xfrm>
          <a:prstGeom prst="rect">
            <a:avLst/>
          </a:prstGeom>
          <a:noFill/>
        </p:spPr>
        <p:txBody>
          <a:bodyPr wrap="square" rtlCol="0">
            <a:spAutoFit/>
          </a:bodyPr>
          <a:lstStyle/>
          <a:p>
            <a:pPr fontAlgn="base"/>
            <a:r>
              <a:rPr lang="pt-BR" sz="2000" b="1" dirty="0" smtClean="0"/>
              <a:t>A capa</a:t>
            </a:r>
            <a:r>
              <a:rPr lang="pt-BR" sz="2000" dirty="0" smtClean="0"/>
              <a:t>: Ela deve conter as identificações básicas, porém importantes para o documento, que são: nome e/ou logo da sua empresa, o título do documento: “Especificação funcional”, descrição do projeto, se houver divisão do projeto por partes da solução deve-se colocar a descrição da parte da solução (Exemplo: Projeto: Controle de Locadora, Frente: Controle de estoque), Autor(</a:t>
            </a:r>
            <a:r>
              <a:rPr lang="pt-BR" sz="2000" dirty="0" err="1" smtClean="0"/>
              <a:t>es</a:t>
            </a:r>
            <a:r>
              <a:rPr lang="pt-BR" sz="2000" dirty="0" smtClean="0"/>
              <a:t>) do documento</a:t>
            </a:r>
            <a:r>
              <a:rPr lang="pt-BR" sz="2000" dirty="0" smtClean="0"/>
              <a:t>.</a:t>
            </a:r>
          </a:p>
          <a:p>
            <a:pPr fontAlgn="base"/>
            <a:endParaRPr lang="pt-BR" sz="2000" dirty="0" smtClean="0"/>
          </a:p>
          <a:p>
            <a:pPr fontAlgn="base"/>
            <a:r>
              <a:rPr lang="pt-BR" sz="2000" b="1" dirty="0" smtClean="0"/>
              <a:t>Índice</a:t>
            </a:r>
            <a:r>
              <a:rPr lang="pt-BR" sz="2000" dirty="0" smtClean="0"/>
              <a:t>: básico</a:t>
            </a:r>
            <a:r>
              <a:rPr lang="pt-BR" sz="2000" dirty="0" smtClean="0"/>
              <a:t>.</a:t>
            </a:r>
          </a:p>
          <a:p>
            <a:pPr fontAlgn="base"/>
            <a:endParaRPr lang="pt-BR" sz="2000" dirty="0" smtClean="0"/>
          </a:p>
          <a:p>
            <a:pPr fontAlgn="base"/>
            <a:r>
              <a:rPr lang="pt-BR" sz="2000" b="1" dirty="0" smtClean="0"/>
              <a:t>Controle de versão</a:t>
            </a:r>
            <a:r>
              <a:rPr lang="pt-BR" sz="2000" dirty="0" smtClean="0"/>
              <a:t>: deverá iniciar em 0 ou 1, com o nome do autor da versão, data de atualização da versão e motivo da atualização. Cada mudança na especificação funcional deverá conter o registro de versões para nortear as mudanças de escopo dentro do documento de especificação funcional.</a:t>
            </a:r>
          </a:p>
          <a:p>
            <a:endParaRPr lang="pt-BR" sz="2000" dirty="0" smtClean="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p:cNvSpPr txBox="1"/>
          <p:nvPr/>
        </p:nvSpPr>
        <p:spPr>
          <a:xfrm>
            <a:off x="640203" y="104504"/>
            <a:ext cx="1158663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Capítulo</a:t>
            </a:r>
            <a:r>
              <a:rPr kumimoji="0" lang="pt-BR" sz="4400" b="1" i="0" u="none" strike="noStrike" kern="1200" cap="none" spc="0" normalizeH="0" noProof="0" dirty="0" smtClean="0">
                <a:ln>
                  <a:noFill/>
                </a:ln>
                <a:solidFill>
                  <a:prstClr val="black"/>
                </a:solidFill>
                <a:effectLst/>
                <a:uLnTx/>
                <a:uFillTx/>
                <a:latin typeface="Gill Sans MT" charset="0"/>
                <a:ea typeface="Gill Sans MT" charset="0"/>
                <a:cs typeface="Gill Sans MT" charset="0"/>
              </a:rPr>
              <a:t> 1 – Engenharia de Requisitos </a:t>
            </a:r>
            <a:endParaRPr kumimoji="0" lang="pt-BR" sz="44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7" name="CaixaDeTexto 6"/>
          <p:cNvSpPr txBox="1"/>
          <p:nvPr/>
        </p:nvSpPr>
        <p:spPr>
          <a:xfrm>
            <a:off x="627797" y="1132768"/>
            <a:ext cx="7083188" cy="584775"/>
          </a:xfrm>
          <a:prstGeom prst="rect">
            <a:avLst/>
          </a:prstGeom>
          <a:noFill/>
        </p:spPr>
        <p:txBody>
          <a:bodyPr wrap="square" rtlCol="0">
            <a:spAutoFit/>
          </a:bodyPr>
          <a:lstStyle/>
          <a:p>
            <a:r>
              <a:rPr lang="pt-BR" sz="3200" b="1" dirty="0" smtClean="0"/>
              <a:t>Especificação Funcional</a:t>
            </a:r>
            <a:endParaRPr lang="pt-BR" sz="3200" b="1" dirty="0"/>
          </a:p>
        </p:txBody>
      </p:sp>
      <p:sp>
        <p:nvSpPr>
          <p:cNvPr id="11" name="CaixaDeTexto 10"/>
          <p:cNvSpPr txBox="1"/>
          <p:nvPr/>
        </p:nvSpPr>
        <p:spPr>
          <a:xfrm>
            <a:off x="395786" y="2074465"/>
            <a:ext cx="11341289" cy="2246769"/>
          </a:xfrm>
          <a:prstGeom prst="rect">
            <a:avLst/>
          </a:prstGeom>
          <a:noFill/>
        </p:spPr>
        <p:txBody>
          <a:bodyPr wrap="square" rtlCol="0">
            <a:spAutoFit/>
          </a:bodyPr>
          <a:lstStyle/>
          <a:p>
            <a:pPr fontAlgn="base"/>
            <a:r>
              <a:rPr lang="pt-BR" sz="2000" b="1" dirty="0" smtClean="0"/>
              <a:t>Descrição da solução</a:t>
            </a:r>
            <a:r>
              <a:rPr lang="pt-BR" sz="2000" dirty="0" smtClean="0"/>
              <a:t>: este é a parte principal do documento, é onde será solucionado o diagnóstico do cliente, nos ateremos em breve a este conteúdo</a:t>
            </a:r>
            <a:r>
              <a:rPr lang="pt-BR" sz="2000" dirty="0" smtClean="0"/>
              <a:t>.</a:t>
            </a:r>
          </a:p>
          <a:p>
            <a:pPr fontAlgn="base"/>
            <a:endParaRPr lang="pt-BR" sz="2000" dirty="0" smtClean="0"/>
          </a:p>
          <a:p>
            <a:pPr fontAlgn="base"/>
            <a:r>
              <a:rPr lang="pt-BR" sz="2000" b="1" dirty="0" smtClean="0"/>
              <a:t>Quadro de referências</a:t>
            </a:r>
            <a:r>
              <a:rPr lang="pt-BR" sz="2000" dirty="0" smtClean="0"/>
              <a:t>: contém as palavras ou termos utilizados no documento que não são de conhecimento do cliente. Como o cliente deverá assinar este documento ele deverá também entender os termos descritos neste.</a:t>
            </a:r>
          </a:p>
          <a:p>
            <a:endParaRPr lang="pt-BR" sz="2000" dirty="0"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p:cNvSpPr txBox="1"/>
          <p:nvPr/>
        </p:nvSpPr>
        <p:spPr>
          <a:xfrm>
            <a:off x="640203" y="104504"/>
            <a:ext cx="1158663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Capítulo</a:t>
            </a:r>
            <a:r>
              <a:rPr kumimoji="0" lang="pt-BR" sz="4400" b="1" i="0" u="none" strike="noStrike" kern="1200" cap="none" spc="0" normalizeH="0" noProof="0" dirty="0" smtClean="0">
                <a:ln>
                  <a:noFill/>
                </a:ln>
                <a:solidFill>
                  <a:prstClr val="black"/>
                </a:solidFill>
                <a:effectLst/>
                <a:uLnTx/>
                <a:uFillTx/>
                <a:latin typeface="Gill Sans MT" charset="0"/>
                <a:ea typeface="Gill Sans MT" charset="0"/>
                <a:cs typeface="Gill Sans MT" charset="0"/>
              </a:rPr>
              <a:t> 1 – Engenharia de Requisitos </a:t>
            </a:r>
            <a:endParaRPr kumimoji="0" lang="pt-BR" sz="44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7" name="CaixaDeTexto 6"/>
          <p:cNvSpPr txBox="1"/>
          <p:nvPr/>
        </p:nvSpPr>
        <p:spPr>
          <a:xfrm>
            <a:off x="627797" y="1132768"/>
            <a:ext cx="7083188" cy="584775"/>
          </a:xfrm>
          <a:prstGeom prst="rect">
            <a:avLst/>
          </a:prstGeom>
          <a:noFill/>
        </p:spPr>
        <p:txBody>
          <a:bodyPr wrap="square" rtlCol="0">
            <a:spAutoFit/>
          </a:bodyPr>
          <a:lstStyle/>
          <a:p>
            <a:r>
              <a:rPr lang="pt-BR" sz="3200" b="1" dirty="0" smtClean="0"/>
              <a:t>Especificação Funcional</a:t>
            </a:r>
            <a:endParaRPr lang="pt-BR" sz="3200" b="1" dirty="0"/>
          </a:p>
        </p:txBody>
      </p:sp>
      <p:sp>
        <p:nvSpPr>
          <p:cNvPr id="11" name="CaixaDeTexto 10"/>
          <p:cNvSpPr txBox="1"/>
          <p:nvPr/>
        </p:nvSpPr>
        <p:spPr>
          <a:xfrm>
            <a:off x="395786" y="1978929"/>
            <a:ext cx="11341289" cy="3170099"/>
          </a:xfrm>
          <a:prstGeom prst="rect">
            <a:avLst/>
          </a:prstGeom>
          <a:noFill/>
        </p:spPr>
        <p:txBody>
          <a:bodyPr wrap="square" rtlCol="0">
            <a:spAutoFit/>
          </a:bodyPr>
          <a:lstStyle/>
          <a:p>
            <a:pPr fontAlgn="base"/>
            <a:r>
              <a:rPr lang="pt-BR" sz="2000" b="1" dirty="0" smtClean="0"/>
              <a:t>Anexos</a:t>
            </a:r>
            <a:r>
              <a:rPr lang="pt-BR" sz="2000" dirty="0" smtClean="0"/>
              <a:t>: Algumas vezes utilizamos de outros documentos para diagnosticar e especificar a solução, portanto estes documentos são as bases desta análise. É importante anexar estes documentos nesta sessão para talvez justificar posteriormente alguma lógica de solução. Recomendo o anexo das atas das reuniões no projeto</a:t>
            </a:r>
            <a:r>
              <a:rPr lang="pt-BR" sz="2000" dirty="0" smtClean="0"/>
              <a:t>.</a:t>
            </a:r>
          </a:p>
          <a:p>
            <a:pPr fontAlgn="base"/>
            <a:endParaRPr lang="pt-BR" sz="2000" dirty="0" smtClean="0"/>
          </a:p>
          <a:p>
            <a:pPr fontAlgn="base"/>
            <a:r>
              <a:rPr lang="pt-BR" sz="2000" b="1" dirty="0" smtClean="0"/>
              <a:t>Aceite</a:t>
            </a:r>
            <a:r>
              <a:rPr lang="pt-BR" sz="2000" dirty="0" smtClean="0"/>
              <a:t>: É o local onde será selado o pacto entre cliente e desenvolvedor.</a:t>
            </a:r>
          </a:p>
          <a:p>
            <a:pPr fontAlgn="base"/>
            <a:r>
              <a:rPr lang="pt-BR" sz="2000" dirty="0" smtClean="0"/>
              <a:t>É a assinatura de ambos que significa: O cliente entendeu o documento e concorda que </a:t>
            </a:r>
            <a:r>
              <a:rPr lang="pt-BR" sz="2000" b="1" dirty="0" smtClean="0"/>
              <a:t>o quê está escrito</a:t>
            </a:r>
            <a:r>
              <a:rPr lang="pt-BR" sz="2000" dirty="0" smtClean="0"/>
              <a:t> resolve seu problema e que </a:t>
            </a:r>
            <a:r>
              <a:rPr lang="pt-BR" sz="2000" b="1" dirty="0" smtClean="0"/>
              <a:t>o desenvolvedor terá que lhe entregar tudo o que está descrito</a:t>
            </a:r>
            <a:r>
              <a:rPr lang="pt-BR" sz="2000" dirty="0" smtClean="0"/>
              <a:t> neste documento. É a aprovação do contrato.</a:t>
            </a:r>
          </a:p>
          <a:p>
            <a:endParaRPr lang="pt-BR" sz="2000" dirty="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p:cNvSpPr txBox="1"/>
          <p:nvPr/>
        </p:nvSpPr>
        <p:spPr>
          <a:xfrm>
            <a:off x="682388" y="1869741"/>
            <a:ext cx="10890913" cy="830997"/>
          </a:xfrm>
          <a:prstGeom prst="rect">
            <a:avLst/>
          </a:prstGeom>
          <a:noFill/>
        </p:spPr>
        <p:txBody>
          <a:bodyPr wrap="square" rtlCol="0">
            <a:spAutoFit/>
          </a:bodyPr>
          <a:lstStyle/>
          <a:p>
            <a:r>
              <a:rPr lang="pt-BR" sz="2400" dirty="0" smtClean="0"/>
              <a:t>É </a:t>
            </a:r>
            <a:r>
              <a:rPr lang="pt-BR" sz="2400" dirty="0" smtClean="0"/>
              <a:t>a descrição de uma sequência </a:t>
            </a:r>
            <a:r>
              <a:rPr lang="pt-BR" sz="2400" dirty="0" smtClean="0"/>
              <a:t>de ações </a:t>
            </a:r>
            <a:r>
              <a:rPr lang="pt-BR" sz="2400" dirty="0" smtClean="0"/>
              <a:t>realizadas por um sistema que originam </a:t>
            </a:r>
            <a:r>
              <a:rPr lang="pt-BR" sz="2400" dirty="0" smtClean="0"/>
              <a:t>um resultado </a:t>
            </a:r>
            <a:r>
              <a:rPr lang="pt-BR" sz="2400" dirty="0" smtClean="0"/>
              <a:t>mensurável com interesse para </a:t>
            </a:r>
            <a:r>
              <a:rPr lang="pt-BR" sz="2400" dirty="0" smtClean="0"/>
              <a:t>um determinado ator.</a:t>
            </a:r>
            <a:endParaRPr lang="pt-BR" sz="2400" dirty="0"/>
          </a:p>
        </p:txBody>
      </p:sp>
      <p:sp>
        <p:nvSpPr>
          <p:cNvPr id="6" name="CaixaDeTexto 5"/>
          <p:cNvSpPr txBox="1"/>
          <p:nvPr/>
        </p:nvSpPr>
        <p:spPr>
          <a:xfrm>
            <a:off x="640203" y="104504"/>
            <a:ext cx="1158663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Capítulo</a:t>
            </a:r>
            <a:r>
              <a:rPr kumimoji="0" lang="pt-BR" sz="4400" b="1" i="0" u="none" strike="noStrike" kern="1200" cap="none" spc="0" normalizeH="0" noProof="0" dirty="0" smtClean="0">
                <a:ln>
                  <a:noFill/>
                </a:ln>
                <a:solidFill>
                  <a:prstClr val="black"/>
                </a:solidFill>
                <a:effectLst/>
                <a:uLnTx/>
                <a:uFillTx/>
                <a:latin typeface="Gill Sans MT" charset="0"/>
                <a:ea typeface="Gill Sans MT" charset="0"/>
                <a:cs typeface="Gill Sans MT" charset="0"/>
              </a:rPr>
              <a:t> 1 – Engenharia de Requisitos </a:t>
            </a:r>
            <a:endParaRPr kumimoji="0" lang="pt-BR" sz="44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7" name="CaixaDeTexto 6"/>
          <p:cNvSpPr txBox="1"/>
          <p:nvPr/>
        </p:nvSpPr>
        <p:spPr>
          <a:xfrm>
            <a:off x="627797" y="1050878"/>
            <a:ext cx="7083188" cy="584775"/>
          </a:xfrm>
          <a:prstGeom prst="rect">
            <a:avLst/>
          </a:prstGeom>
          <a:noFill/>
        </p:spPr>
        <p:txBody>
          <a:bodyPr wrap="square" rtlCol="0">
            <a:spAutoFit/>
          </a:bodyPr>
          <a:lstStyle/>
          <a:p>
            <a:r>
              <a:rPr lang="pt-BR" sz="3200" b="1" dirty="0" smtClean="0"/>
              <a:t>Caso de Uso</a:t>
            </a:r>
            <a:endParaRPr lang="pt-BR" sz="3200" b="1" dirty="0"/>
          </a:p>
        </p:txBody>
      </p:sp>
      <p:sp>
        <p:nvSpPr>
          <p:cNvPr id="8" name="CaixaDeTexto 7"/>
          <p:cNvSpPr txBox="1"/>
          <p:nvPr/>
        </p:nvSpPr>
        <p:spPr>
          <a:xfrm>
            <a:off x="723331" y="3125333"/>
            <a:ext cx="10495129" cy="1938992"/>
          </a:xfrm>
          <a:prstGeom prst="rect">
            <a:avLst/>
          </a:prstGeom>
          <a:noFill/>
        </p:spPr>
        <p:txBody>
          <a:bodyPr wrap="square" rtlCol="0">
            <a:spAutoFit/>
          </a:bodyPr>
          <a:lstStyle/>
          <a:p>
            <a:pPr lvl="1">
              <a:buFont typeface="Wingdings" pitchFamily="2" charset="2"/>
              <a:buChar char="ü"/>
            </a:pPr>
            <a:r>
              <a:rPr lang="pt-BR" sz="2400" dirty="0" smtClean="0"/>
              <a:t> Modelam </a:t>
            </a:r>
            <a:r>
              <a:rPr lang="pt-BR" sz="2400" dirty="0" smtClean="0"/>
              <a:t>um diálogo entre um </a:t>
            </a:r>
            <a:r>
              <a:rPr lang="pt-BR" sz="2400" dirty="0" smtClean="0"/>
              <a:t>ator </a:t>
            </a:r>
            <a:r>
              <a:rPr lang="pt-BR" sz="2400" dirty="0" smtClean="0"/>
              <a:t>e o sistema: Representam </a:t>
            </a:r>
            <a:r>
              <a:rPr lang="pt-BR" sz="2400" dirty="0" smtClean="0"/>
              <a:t>as funcionalidades </a:t>
            </a:r>
            <a:r>
              <a:rPr lang="pt-BR" sz="2400" dirty="0" smtClean="0"/>
              <a:t>disponibilizadas pelo sistema ao </a:t>
            </a:r>
            <a:r>
              <a:rPr lang="pt-BR" sz="2400" dirty="0" smtClean="0"/>
              <a:t>ator.</a:t>
            </a:r>
          </a:p>
          <a:p>
            <a:pPr lvl="1"/>
            <a:endParaRPr lang="pt-BR" sz="2400" b="1" dirty="0" smtClean="0"/>
          </a:p>
          <a:p>
            <a:pPr lvl="1">
              <a:buFont typeface="Wingdings" pitchFamily="2" charset="2"/>
              <a:buChar char="ü"/>
            </a:pPr>
            <a:r>
              <a:rPr lang="pt-BR" sz="2400" dirty="0" smtClean="0"/>
              <a:t> O </a:t>
            </a:r>
            <a:r>
              <a:rPr lang="pt-BR" sz="2400" dirty="0" smtClean="0"/>
              <a:t>conjunto de todos os casos de uso define todas as maneiras de </a:t>
            </a:r>
            <a:r>
              <a:rPr lang="pt-BR" sz="2400" dirty="0" smtClean="0"/>
              <a:t>como o </a:t>
            </a:r>
            <a:r>
              <a:rPr lang="pt-BR" sz="2400" dirty="0" smtClean="0"/>
              <a:t>sistema pode ser </a:t>
            </a:r>
            <a:r>
              <a:rPr lang="pt-BR" sz="2400" dirty="0" smtClean="0"/>
              <a:t>usado.</a:t>
            </a:r>
            <a:endParaRPr lang="pt-BR"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p:cNvSpPr txBox="1"/>
          <p:nvPr/>
        </p:nvSpPr>
        <p:spPr>
          <a:xfrm>
            <a:off x="640203" y="104504"/>
            <a:ext cx="1158663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Capítulo</a:t>
            </a:r>
            <a:r>
              <a:rPr kumimoji="0" lang="pt-BR" sz="4400" b="1" i="0" u="none" strike="noStrike" kern="1200" cap="none" spc="0" normalizeH="0" noProof="0" dirty="0" smtClean="0">
                <a:ln>
                  <a:noFill/>
                </a:ln>
                <a:solidFill>
                  <a:prstClr val="black"/>
                </a:solidFill>
                <a:effectLst/>
                <a:uLnTx/>
                <a:uFillTx/>
                <a:latin typeface="Gill Sans MT" charset="0"/>
                <a:ea typeface="Gill Sans MT" charset="0"/>
                <a:cs typeface="Gill Sans MT" charset="0"/>
              </a:rPr>
              <a:t> 1 – Engenharia de Requisitos </a:t>
            </a:r>
            <a:endParaRPr kumimoji="0" lang="pt-BR" sz="44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7" name="CaixaDeTexto 6"/>
          <p:cNvSpPr txBox="1"/>
          <p:nvPr/>
        </p:nvSpPr>
        <p:spPr>
          <a:xfrm>
            <a:off x="627797" y="900752"/>
            <a:ext cx="7083188" cy="584775"/>
          </a:xfrm>
          <a:prstGeom prst="rect">
            <a:avLst/>
          </a:prstGeom>
          <a:noFill/>
        </p:spPr>
        <p:txBody>
          <a:bodyPr wrap="square" rtlCol="0">
            <a:spAutoFit/>
          </a:bodyPr>
          <a:lstStyle/>
          <a:p>
            <a:r>
              <a:rPr lang="pt-BR" sz="3200" b="1" dirty="0" smtClean="0"/>
              <a:t>Caso de Uso</a:t>
            </a:r>
            <a:endParaRPr lang="pt-BR" sz="3200" b="1" dirty="0"/>
          </a:p>
        </p:txBody>
      </p:sp>
      <p:sp>
        <p:nvSpPr>
          <p:cNvPr id="9" name="CaixaDeTexto 8"/>
          <p:cNvSpPr txBox="1"/>
          <p:nvPr/>
        </p:nvSpPr>
        <p:spPr>
          <a:xfrm>
            <a:off x="177420" y="3657595"/>
            <a:ext cx="5336275" cy="2523768"/>
          </a:xfrm>
          <a:prstGeom prst="rect">
            <a:avLst/>
          </a:prstGeom>
          <a:noFill/>
        </p:spPr>
        <p:txBody>
          <a:bodyPr wrap="square" rtlCol="0">
            <a:spAutoFit/>
          </a:bodyPr>
          <a:lstStyle/>
          <a:p>
            <a:r>
              <a:rPr lang="pt-BR" sz="2000" dirty="0" smtClean="0"/>
              <a:t>Ex</a:t>
            </a:r>
            <a:r>
              <a:rPr lang="pt-BR" sz="2000" dirty="0" smtClean="0"/>
              <a:t>: O aluno escolhe as disciplinas, é adicionado aos alunos da disciplina </a:t>
            </a:r>
            <a:r>
              <a:rPr lang="pt-BR" sz="2000" dirty="0" smtClean="0"/>
              <a:t>e é-lhe </a:t>
            </a:r>
            <a:r>
              <a:rPr lang="pt-BR" sz="2000" dirty="0" smtClean="0"/>
              <a:t>cobrada a matrícula. Três casos de uso ou apenas um</a:t>
            </a:r>
            <a:r>
              <a:rPr lang="pt-BR" sz="2000" dirty="0" smtClean="0"/>
              <a:t>?</a:t>
            </a:r>
          </a:p>
          <a:p>
            <a:endParaRPr lang="pt-BR" sz="2000" dirty="0" smtClean="0"/>
          </a:p>
          <a:p>
            <a:r>
              <a:rPr lang="pt-BR" sz="2000" dirty="0" smtClean="0"/>
              <a:t>Ex: O funcionário da secretaria deve adicionar cursos, apagar cursos </a:t>
            </a:r>
            <a:r>
              <a:rPr lang="pt-BR" sz="2000" dirty="0" smtClean="0"/>
              <a:t>e modificar </a:t>
            </a:r>
            <a:r>
              <a:rPr lang="pt-BR" sz="2000" dirty="0" smtClean="0"/>
              <a:t>cursos. São três casos de uso ou apenas um</a:t>
            </a:r>
            <a:r>
              <a:rPr lang="pt-BR" sz="2000" dirty="0" smtClean="0"/>
              <a:t>?</a:t>
            </a:r>
          </a:p>
          <a:p>
            <a:endParaRPr lang="pt-BR" dirty="0" smtClean="0"/>
          </a:p>
        </p:txBody>
      </p:sp>
      <p:sp>
        <p:nvSpPr>
          <p:cNvPr id="10" name="CaixaDeTexto 9"/>
          <p:cNvSpPr txBox="1"/>
          <p:nvPr/>
        </p:nvSpPr>
        <p:spPr>
          <a:xfrm>
            <a:off x="6391701" y="3152628"/>
            <a:ext cx="5622878" cy="3139321"/>
          </a:xfrm>
          <a:prstGeom prst="rect">
            <a:avLst/>
          </a:prstGeom>
          <a:noFill/>
        </p:spPr>
        <p:txBody>
          <a:bodyPr wrap="square" rtlCol="0">
            <a:spAutoFit/>
          </a:bodyPr>
          <a:lstStyle/>
          <a:p>
            <a:pPr algn="ctr"/>
            <a:r>
              <a:rPr lang="pt-BR" sz="2200" b="1" dirty="0" smtClean="0"/>
              <a:t>Lista de Casos de Uso</a:t>
            </a:r>
          </a:p>
          <a:p>
            <a:pPr>
              <a:buFont typeface="Wingdings" pitchFamily="2" charset="2"/>
              <a:buChar char="ü"/>
            </a:pPr>
            <a:endParaRPr lang="pt-BR" sz="2200" dirty="0" smtClean="0"/>
          </a:p>
          <a:p>
            <a:pPr>
              <a:buFont typeface="Wingdings" pitchFamily="2" charset="2"/>
              <a:buChar char="ü"/>
            </a:pPr>
            <a:r>
              <a:rPr lang="pt-BR" sz="2200" dirty="0" smtClean="0"/>
              <a:t> Criar </a:t>
            </a:r>
            <a:r>
              <a:rPr lang="pt-BR" sz="2200" dirty="0" smtClean="0"/>
              <a:t>a lista de disciplinas do curso</a:t>
            </a:r>
          </a:p>
          <a:p>
            <a:pPr>
              <a:buFont typeface="Wingdings" pitchFamily="2" charset="2"/>
              <a:buChar char="ü"/>
            </a:pPr>
            <a:r>
              <a:rPr lang="pt-BR" sz="2200" dirty="0" smtClean="0"/>
              <a:t> Matricular </a:t>
            </a:r>
            <a:r>
              <a:rPr lang="pt-BR" sz="2200" dirty="0" smtClean="0"/>
              <a:t>nas disciplinas</a:t>
            </a:r>
          </a:p>
          <a:p>
            <a:pPr>
              <a:buFont typeface="Wingdings" pitchFamily="2" charset="2"/>
              <a:buChar char="ü"/>
            </a:pPr>
            <a:r>
              <a:rPr lang="pt-BR" sz="2200" dirty="0" smtClean="0"/>
              <a:t> Requerer </a:t>
            </a:r>
            <a:r>
              <a:rPr lang="pt-BR" sz="2200" dirty="0" smtClean="0"/>
              <a:t>a lista de disciplinas a </a:t>
            </a:r>
            <a:r>
              <a:rPr lang="pt-BR" sz="2200" dirty="0" smtClean="0"/>
              <a:t>lecionar</a:t>
            </a:r>
            <a:endParaRPr lang="pt-BR" sz="2200" dirty="0" smtClean="0"/>
          </a:p>
          <a:p>
            <a:pPr>
              <a:buFont typeface="Wingdings" pitchFamily="2" charset="2"/>
              <a:buChar char="ü"/>
            </a:pPr>
            <a:r>
              <a:rPr lang="pt-BR" sz="2200" dirty="0" smtClean="0"/>
              <a:t> Selecionar </a:t>
            </a:r>
            <a:r>
              <a:rPr lang="pt-BR" sz="2200" dirty="0" smtClean="0"/>
              <a:t>as disciplinas a </a:t>
            </a:r>
            <a:r>
              <a:rPr lang="pt-BR" sz="2200" dirty="0" smtClean="0"/>
              <a:t>lecionar</a:t>
            </a:r>
            <a:endParaRPr lang="pt-BR" sz="2200" dirty="0" smtClean="0"/>
          </a:p>
          <a:p>
            <a:pPr>
              <a:buFont typeface="Wingdings" pitchFamily="2" charset="2"/>
              <a:buChar char="ü"/>
            </a:pPr>
            <a:r>
              <a:rPr lang="pt-BR" sz="2200" dirty="0" smtClean="0"/>
              <a:t> Manter </a:t>
            </a:r>
            <a:r>
              <a:rPr lang="pt-BR" sz="2200" dirty="0" smtClean="0"/>
              <a:t>a informação das disciplinas</a:t>
            </a:r>
          </a:p>
          <a:p>
            <a:pPr>
              <a:buFont typeface="Wingdings" pitchFamily="2" charset="2"/>
              <a:buChar char="ü"/>
            </a:pPr>
            <a:r>
              <a:rPr lang="pt-BR" sz="2200" dirty="0" smtClean="0"/>
              <a:t> Manter </a:t>
            </a:r>
            <a:r>
              <a:rPr lang="pt-BR" sz="2200" dirty="0" smtClean="0"/>
              <a:t>a informação dos professores</a:t>
            </a:r>
          </a:p>
          <a:p>
            <a:pPr>
              <a:buFont typeface="Wingdings" pitchFamily="2" charset="2"/>
              <a:buChar char="ü"/>
            </a:pPr>
            <a:r>
              <a:rPr lang="pt-BR" sz="2200" dirty="0" smtClean="0"/>
              <a:t> Manter </a:t>
            </a:r>
            <a:r>
              <a:rPr lang="pt-BR" sz="2200" dirty="0" smtClean="0"/>
              <a:t>a informação dos alunos</a:t>
            </a:r>
          </a:p>
        </p:txBody>
      </p:sp>
      <p:sp>
        <p:nvSpPr>
          <p:cNvPr id="11" name="CaixaDeTexto 10"/>
          <p:cNvSpPr txBox="1"/>
          <p:nvPr/>
        </p:nvSpPr>
        <p:spPr>
          <a:xfrm>
            <a:off x="395786" y="1583137"/>
            <a:ext cx="11341289" cy="769441"/>
          </a:xfrm>
          <a:prstGeom prst="rect">
            <a:avLst/>
          </a:prstGeom>
          <a:noFill/>
        </p:spPr>
        <p:txBody>
          <a:bodyPr wrap="square" rtlCol="0">
            <a:spAutoFit/>
          </a:bodyPr>
          <a:lstStyle/>
          <a:p>
            <a:r>
              <a:rPr lang="pt-BR" sz="2200" dirty="0" smtClean="0"/>
              <a:t>“Um caso de uso normalmente define uma funcionalidade do sistema importante e completa, com inicio e fim e deve entregar algo de valor para determinado ator</a:t>
            </a:r>
            <a:r>
              <a:rPr lang="pt-BR" sz="2200" dirty="0" smtClean="0"/>
              <a:t>”.</a:t>
            </a:r>
            <a:endParaRPr lang="pt-BR" sz="2200" dirty="0" smtClean="0"/>
          </a:p>
        </p:txBody>
      </p:sp>
      <p:cxnSp>
        <p:nvCxnSpPr>
          <p:cNvPr id="15" name="Conector em curva 14"/>
          <p:cNvCxnSpPr>
            <a:stCxn id="9" idx="0"/>
            <a:endCxn id="10" idx="0"/>
          </p:cNvCxnSpPr>
          <p:nvPr/>
        </p:nvCxnSpPr>
        <p:spPr>
          <a:xfrm rot="5400000" flipH="1" flipV="1">
            <a:off x="5771866" y="226321"/>
            <a:ext cx="504967" cy="6357582"/>
          </a:xfrm>
          <a:prstGeom prst="curvedConnector3">
            <a:avLst>
              <a:gd name="adj1" fmla="val 234459"/>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p:cNvSpPr txBox="1"/>
          <p:nvPr/>
        </p:nvSpPr>
        <p:spPr>
          <a:xfrm>
            <a:off x="235256" y="2763836"/>
            <a:ext cx="11788428"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4000" b="1" dirty="0" smtClean="0">
                <a:solidFill>
                  <a:prstClr val="black"/>
                </a:solidFill>
                <a:latin typeface="Gill Sans MT" charset="0"/>
                <a:ea typeface="Gill Sans MT" charset="0"/>
                <a:cs typeface="Gill Sans MT" charset="0"/>
              </a:rPr>
              <a:t>Exercício Prático</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63" name="CaixaDeTexto 62"/>
          <p:cNvSpPr txBox="1"/>
          <p:nvPr/>
        </p:nvSpPr>
        <p:spPr>
          <a:xfrm>
            <a:off x="235250" y="1057860"/>
            <a:ext cx="11788428"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400" b="1" dirty="0" err="1" smtClean="0">
                <a:solidFill>
                  <a:prstClr val="black"/>
                </a:solidFill>
                <a:latin typeface="Gill Sans MT" charset="0"/>
                <a:ea typeface="Gill Sans MT" charset="0"/>
                <a:cs typeface="Gill Sans MT" charset="0"/>
              </a:rPr>
              <a:t>ítulo</a:t>
            </a:r>
            <a:r>
              <a:rPr lang="pt-BR" sz="4400" b="1" dirty="0" smtClean="0">
                <a:solidFill>
                  <a:prstClr val="black"/>
                </a:solidFill>
                <a:latin typeface="Gill Sans MT" charset="0"/>
                <a:ea typeface="Gill Sans MT" charset="0"/>
                <a:cs typeface="Gill Sans MT" charset="0"/>
              </a:rPr>
              <a:t> II – Desenvolvimento de Software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36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(Introdução)</a:t>
            </a:r>
            <a:endParaRPr kumimoji="0" lang="pt-BR" sz="36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7" name="Espaço Reservado para Rodapé 6"/>
          <p:cNvSpPr>
            <a:spLocks noGrp="1"/>
          </p:cNvSpPr>
          <p:nvPr>
            <p:ph type="ftr" sz="quarter" idx="11"/>
          </p:nvPr>
        </p:nvSpPr>
        <p:spPr>
          <a:xfrm>
            <a:off x="4038601" y="6483969"/>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Espaço Reservado para Número de Slide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B08DBC-7CE1-4917-8697-D7D5E25F18EC}" type="slidenum">
              <a:rPr kumimoji="0" lang="pt-B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pt-B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3074" name="Picture 2"/>
          <p:cNvPicPr>
            <a:picLocks noChangeAspect="1" noChangeArrowheads="1"/>
          </p:cNvPicPr>
          <p:nvPr/>
        </p:nvPicPr>
        <p:blipFill>
          <a:blip r:embed="rId3" cstate="print"/>
          <a:srcRect/>
          <a:stretch>
            <a:fillRect/>
          </a:stretch>
        </p:blipFill>
        <p:spPr bwMode="auto">
          <a:xfrm>
            <a:off x="3879732" y="2660107"/>
            <a:ext cx="3831254" cy="3320420"/>
          </a:xfrm>
          <a:prstGeom prst="rect">
            <a:avLst/>
          </a:prstGeom>
          <a:noFill/>
          <a:ln w="9525">
            <a:noFill/>
            <a:miter lim="800000"/>
            <a:headEnd/>
            <a:tailEnd/>
          </a:ln>
        </p:spPr>
      </p:pic>
    </p:spTree>
    <p:extLst>
      <p:ext uri="{BB962C8B-B14F-4D97-AF65-F5344CB8AC3E}">
        <p14:creationId xmlns:p14="http://schemas.microsoft.com/office/powerpoint/2010/main" xmlns="" val="272702436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pic>
        <p:nvPicPr>
          <p:cNvPr id="1026" name="Picture 2" descr="Resultado de imagem para testes ageis">
            <a:extLst>
              <a:ext uri="{FF2B5EF4-FFF2-40B4-BE49-F238E27FC236}">
                <a16:creationId xmlns:a16="http://schemas.microsoft.com/office/drawing/2014/main" xmlns="" id="{273298C3-1FEF-4C9B-AB2D-8EE8E4AD5F6E}"/>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9395977" y="1690953"/>
            <a:ext cx="2572011" cy="3833029"/>
          </a:xfrm>
          <a:prstGeom prst="rect">
            <a:avLst/>
          </a:prstGeom>
          <a:noFill/>
          <a:extLst>
            <a:ext uri="{909E8E84-426E-40DD-AFC4-6F175D3DCCD1}">
              <a14:hiddenFill xmlns:a14="http://schemas.microsoft.com/office/drawing/2010/main" xmlns="">
                <a:solidFill>
                  <a:srgbClr val="FFFFFF"/>
                </a:solidFill>
              </a14:hiddenFill>
            </a:ext>
          </a:extLst>
        </p:spPr>
      </p:pic>
      <p:sp>
        <p:nvSpPr>
          <p:cNvPr id="7" name="Espaço Reservado para Rodapé 6"/>
          <p:cNvSpPr>
            <a:spLocks noGrp="1"/>
          </p:cNvSpPr>
          <p:nvPr>
            <p:ph type="ftr" sz="quarter" idx="11"/>
          </p:nvPr>
        </p:nvSpPr>
        <p:spPr>
          <a:xfrm>
            <a:off x="4038601" y="6483969"/>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Espaço Reservado para Número de Slide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B08DBC-7CE1-4917-8697-D7D5E25F18EC}" type="slidenum">
              <a:rPr kumimoji="0" lang="pt-B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pt-B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4" name="CaixaDeTexto 13">
            <a:extLst>
              <a:ext uri="{FF2B5EF4-FFF2-40B4-BE49-F238E27FC236}">
                <a16:creationId xmlns:a16="http://schemas.microsoft.com/office/drawing/2014/main" xmlns="" id="{AF27F5EA-A710-4BC6-BAF2-F13947371E72}"/>
              </a:ext>
            </a:extLst>
          </p:cNvPr>
          <p:cNvSpPr txBox="1"/>
          <p:nvPr/>
        </p:nvSpPr>
        <p:spPr>
          <a:xfrm>
            <a:off x="608132" y="1616596"/>
            <a:ext cx="4044675"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Índice</a:t>
            </a:r>
            <a:endParaRPr kumimoji="0" lang="pt-BR" sz="32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graphicFrame>
        <p:nvGraphicFramePr>
          <p:cNvPr id="10" name="Tabela 9"/>
          <p:cNvGraphicFramePr>
            <a:graphicFrameLocks noGrp="1"/>
          </p:cNvGraphicFramePr>
          <p:nvPr>
            <p:extLst/>
          </p:nvPr>
        </p:nvGraphicFramePr>
        <p:xfrm>
          <a:off x="641423" y="2580580"/>
          <a:ext cx="8584441" cy="3707885"/>
        </p:xfrm>
        <a:graphic>
          <a:graphicData uri="http://schemas.openxmlformats.org/drawingml/2006/table">
            <a:tbl>
              <a:tblPr firstRow="1" bandRow="1">
                <a:tableStyleId>{2D5ABB26-0587-4C30-8999-92F81FD0307C}</a:tableStyleId>
              </a:tblPr>
              <a:tblGrid>
                <a:gridCol w="8584441">
                  <a:extLst>
                    <a:ext uri="{9D8B030D-6E8A-4147-A177-3AD203B41FA5}">
                      <a16:colId xmlns:a16="http://schemas.microsoft.com/office/drawing/2014/main" xmlns="" val="20000"/>
                    </a:ext>
                  </a:extLst>
                </a:gridCol>
              </a:tblGrid>
              <a:tr h="400201">
                <a:tc>
                  <a:txBody>
                    <a:bodyPr/>
                    <a:lstStyle/>
                    <a:p>
                      <a:pPr marL="531813" indent="-531813">
                        <a:buFont typeface="Wingdings" panose="05000000000000000000" pitchFamily="2" charset="2"/>
                        <a:buChar char="v"/>
                      </a:pPr>
                      <a:r>
                        <a:rPr lang="pt-BR" sz="2000" dirty="0" smtClean="0">
                          <a:latin typeface="+mn-lt"/>
                        </a:rPr>
                        <a:t>Processo de Desenvolvimento</a:t>
                      </a:r>
                    </a:p>
                    <a:p>
                      <a:pPr marL="531813" indent="-531813">
                        <a:buFont typeface="Wingdings" panose="05000000000000000000" pitchFamily="2" charset="2"/>
                        <a:buChar char="v"/>
                      </a:pPr>
                      <a:r>
                        <a:rPr lang="pt-BR" sz="2000" dirty="0" smtClean="0">
                          <a:latin typeface="+mn-lt"/>
                        </a:rPr>
                        <a:t>Modelos de Desenvolvimento</a:t>
                      </a:r>
                    </a:p>
                    <a:p>
                      <a:pPr marL="531813" indent="-531813">
                        <a:buFont typeface="Wingdings" panose="05000000000000000000" pitchFamily="2" charset="2"/>
                        <a:buChar char="v"/>
                      </a:pPr>
                      <a:r>
                        <a:rPr lang="pt-BR" sz="2000" dirty="0" smtClean="0">
                          <a:latin typeface="+mn-lt"/>
                        </a:rPr>
                        <a:t>Modelo V</a:t>
                      </a:r>
                      <a:endParaRPr lang="pt-BR" sz="2000" dirty="0">
                        <a:latin typeface="+mn-lt"/>
                      </a:endParaRPr>
                    </a:p>
                  </a:txBody>
                  <a:tcPr/>
                </a:tc>
                <a:extLst>
                  <a:ext uri="{0D108BD9-81ED-4DB2-BD59-A6C34878D82A}">
                    <a16:rowId xmlns:a16="http://schemas.microsoft.com/office/drawing/2014/main" xmlns="" val="10000"/>
                  </a:ext>
                </a:extLst>
              </a:tr>
              <a:tr h="400201">
                <a:tc>
                  <a:txBody>
                    <a:bodyPr/>
                    <a:lstStyle/>
                    <a:p>
                      <a:pPr marL="531813" indent="-531813">
                        <a:buFont typeface="Wingdings" panose="05000000000000000000" pitchFamily="2" charset="2"/>
                        <a:buChar char="v"/>
                      </a:pPr>
                      <a:r>
                        <a:rPr lang="pt-BR" sz="2000" dirty="0" smtClean="0">
                          <a:latin typeface="+mn-lt"/>
                        </a:rPr>
                        <a:t>Modelo Ágil</a:t>
                      </a:r>
                    </a:p>
                    <a:p>
                      <a:pPr marL="531813" indent="-531813">
                        <a:buFont typeface="Wingdings" panose="05000000000000000000" pitchFamily="2" charset="2"/>
                        <a:buChar char="v"/>
                      </a:pPr>
                      <a:r>
                        <a:rPr lang="pt-BR" sz="2000" dirty="0" smtClean="0">
                          <a:latin typeface="+mn-lt"/>
                        </a:rPr>
                        <a:t>Papeis x Responsabilidade</a:t>
                      </a:r>
                      <a:endParaRPr lang="pt-BR" sz="2000" dirty="0">
                        <a:latin typeface="+mn-lt"/>
                      </a:endParaRPr>
                    </a:p>
                  </a:txBody>
                  <a:tcPr/>
                </a:tc>
                <a:extLst>
                  <a:ext uri="{0D108BD9-81ED-4DB2-BD59-A6C34878D82A}">
                    <a16:rowId xmlns:a16="http://schemas.microsoft.com/office/drawing/2014/main" xmlns="" val="10001"/>
                  </a:ext>
                </a:extLst>
              </a:tr>
              <a:tr h="400201">
                <a:tc>
                  <a:txBody>
                    <a:bodyPr/>
                    <a:lstStyle/>
                    <a:p>
                      <a:pPr marL="531813" marR="0" lvl="0" indent="-531813"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lang="pt-BR" sz="2000" dirty="0">
                        <a:latin typeface="+mn-lt"/>
                      </a:endParaRPr>
                    </a:p>
                  </a:txBody>
                  <a:tcPr/>
                </a:tc>
                <a:extLst>
                  <a:ext uri="{0D108BD9-81ED-4DB2-BD59-A6C34878D82A}">
                    <a16:rowId xmlns:a16="http://schemas.microsoft.com/office/drawing/2014/main" xmlns="" val="10002"/>
                  </a:ext>
                </a:extLst>
              </a:tr>
              <a:tr h="400201">
                <a:tc>
                  <a:txBody>
                    <a:bodyPr/>
                    <a:lstStyle/>
                    <a:p>
                      <a:pPr marL="531813" indent="-531813">
                        <a:buFont typeface="Wingdings" panose="05000000000000000000" pitchFamily="2" charset="2"/>
                        <a:buChar char="v"/>
                      </a:pPr>
                      <a:endParaRPr lang="pt-BR" sz="2000" dirty="0">
                        <a:latin typeface="+mn-lt"/>
                      </a:endParaRPr>
                    </a:p>
                  </a:txBody>
                  <a:tcPr/>
                </a:tc>
                <a:extLst>
                  <a:ext uri="{0D108BD9-81ED-4DB2-BD59-A6C34878D82A}">
                    <a16:rowId xmlns:a16="http://schemas.microsoft.com/office/drawing/2014/main" xmlns="" val="10003"/>
                  </a:ext>
                </a:extLst>
              </a:tr>
              <a:tr h="400201">
                <a:tc>
                  <a:txBody>
                    <a:bodyPr/>
                    <a:lstStyle/>
                    <a:p>
                      <a:pPr marL="531813" marR="0" lvl="0" indent="-531813"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lang="pt-BR" sz="2000" dirty="0">
                        <a:latin typeface="+mn-lt"/>
                      </a:endParaRPr>
                    </a:p>
                  </a:txBody>
                  <a:tcPr/>
                </a:tc>
                <a:extLst>
                  <a:ext uri="{0D108BD9-81ED-4DB2-BD59-A6C34878D82A}">
                    <a16:rowId xmlns:a16="http://schemas.microsoft.com/office/drawing/2014/main" xmlns="" val="10004"/>
                  </a:ext>
                </a:extLst>
              </a:tr>
              <a:tr h="400201">
                <a:tc>
                  <a:txBody>
                    <a:bodyPr/>
                    <a:lstStyle/>
                    <a:p>
                      <a:pPr marL="531813" indent="-531813">
                        <a:buFont typeface="Wingdings" panose="05000000000000000000" pitchFamily="2" charset="2"/>
                        <a:buChar char="v"/>
                      </a:pPr>
                      <a:endParaRPr lang="pt-BR" sz="2000" dirty="0">
                        <a:latin typeface="+mn-lt"/>
                      </a:endParaRPr>
                    </a:p>
                  </a:txBody>
                  <a:tcPr/>
                </a:tc>
                <a:extLst>
                  <a:ext uri="{0D108BD9-81ED-4DB2-BD59-A6C34878D82A}">
                    <a16:rowId xmlns:a16="http://schemas.microsoft.com/office/drawing/2014/main" xmlns="" val="10005"/>
                  </a:ext>
                </a:extLst>
              </a:tr>
              <a:tr h="400201">
                <a:tc>
                  <a:txBody>
                    <a:bodyPr/>
                    <a:lstStyle/>
                    <a:p>
                      <a:pPr marL="531813" indent="-531813">
                        <a:buFont typeface="Wingdings" panose="05000000000000000000" pitchFamily="2" charset="2"/>
                        <a:buChar char="v"/>
                      </a:pPr>
                      <a:endParaRPr lang="pt-BR" sz="2000" dirty="0">
                        <a:latin typeface="+mn-lt"/>
                      </a:endParaRPr>
                    </a:p>
                  </a:txBody>
                  <a:tcPr/>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xmlns="" val="272702436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414818" y="6441703"/>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7" name="Retângulo 6">
            <a:extLst>
              <a:ext uri="{FF2B5EF4-FFF2-40B4-BE49-F238E27FC236}">
                <a16:creationId xmlns:a16="http://schemas.microsoft.com/office/drawing/2014/main" xmlns="" id="{3CE34436-0529-4593-A518-2E28E3D671FC}"/>
              </a:ext>
            </a:extLst>
          </p:cNvPr>
          <p:cNvSpPr/>
          <p:nvPr/>
        </p:nvSpPr>
        <p:spPr>
          <a:xfrm>
            <a:off x="524339" y="1895296"/>
            <a:ext cx="10979549" cy="1323439"/>
          </a:xfrm>
          <a:prstGeom prst="rect">
            <a:avLst/>
          </a:prstGeom>
        </p:spPr>
        <p:txBody>
          <a:bodyPr wrap="square">
            <a:spAutoFit/>
          </a:bodyPr>
          <a:lstStyle/>
          <a:p>
            <a:pPr marL="457200" lvl="0" indent="-457200">
              <a:buFont typeface="Wingdings" panose="05000000000000000000" pitchFamily="2" charset="2"/>
              <a:buChar char="v"/>
              <a:defRPr/>
            </a:pPr>
            <a:r>
              <a:rPr lang="pt-BR" sz="2000" dirty="0" smtClean="0"/>
              <a:t>Um </a:t>
            </a:r>
            <a:r>
              <a:rPr lang="pt-BR" sz="2000" i="1" dirty="0" smtClean="0"/>
              <a:t>processo de desenvolvimento de software</a:t>
            </a:r>
            <a:r>
              <a:rPr lang="pt-BR" sz="2000" dirty="0" smtClean="0"/>
              <a:t> é um conjunto de atividades, parcialmente ordenadas, com a finalidade de obter um produto de software. É estudado dentro da área de Engenharia de Software, sendo considerado um dos principais mecanismos para se obter software de qualidade e cumprir corretamente os contratos de </a:t>
            </a:r>
            <a:r>
              <a:rPr lang="pt-BR" sz="2000" dirty="0" smtClean="0"/>
              <a:t>desenvolvimento.</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p:txBody>
      </p:sp>
      <p:sp>
        <p:nvSpPr>
          <p:cNvPr id="11" name="CaixaDeTexto 10">
            <a:extLst>
              <a:ext uri="{FF2B5EF4-FFF2-40B4-BE49-F238E27FC236}">
                <a16:creationId xmlns:a16="http://schemas.microsoft.com/office/drawing/2014/main" xmlns="" id="{AF27F5EA-A710-4BC6-BAF2-F13947371E72}"/>
              </a:ext>
            </a:extLst>
          </p:cNvPr>
          <p:cNvSpPr txBox="1"/>
          <p:nvPr/>
        </p:nvSpPr>
        <p:spPr>
          <a:xfrm>
            <a:off x="395657" y="1101535"/>
            <a:ext cx="68786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prstClr val="black"/>
                </a:solidFill>
                <a:effectLst/>
                <a:uLnTx/>
                <a:uFillTx/>
                <a:latin typeface="Gill Sans MT" charset="0"/>
                <a:ea typeface="Gill Sans MT" charset="0"/>
                <a:cs typeface="Gill Sans MT" charset="0"/>
              </a:rPr>
              <a:t> </a:t>
            </a:r>
            <a:r>
              <a:rPr kumimoji="0" lang="pt-BR" sz="32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Processo de Desenvolvimento</a:t>
            </a:r>
            <a:endParaRPr kumimoji="0" lang="pt-BR" sz="32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2" name="Espaço Reservado para Rodapé 1"/>
          <p:cNvSpPr>
            <a:spLocks noGrp="1"/>
          </p:cNvSpPr>
          <p:nvPr>
            <p:ph type="ftr" sz="quarter" idx="11"/>
          </p:nvPr>
        </p:nvSpPr>
        <p:spPr>
          <a:xfrm>
            <a:off x="3711969" y="6441703"/>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CaixaDeTexto 7"/>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graphicFrame>
        <p:nvGraphicFramePr>
          <p:cNvPr id="10" name="Diagrama 9"/>
          <p:cNvGraphicFramePr/>
          <p:nvPr/>
        </p:nvGraphicFramePr>
        <p:xfrm>
          <a:off x="873457" y="3541089"/>
          <a:ext cx="10072047" cy="20544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xmlns="" val="332545373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414818" y="6441703"/>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11" name="CaixaDeTexto 10">
            <a:extLst>
              <a:ext uri="{FF2B5EF4-FFF2-40B4-BE49-F238E27FC236}">
                <a16:creationId xmlns:a16="http://schemas.microsoft.com/office/drawing/2014/main" xmlns="" id="{AF27F5EA-A710-4BC6-BAF2-F13947371E72}"/>
              </a:ext>
            </a:extLst>
          </p:cNvPr>
          <p:cNvSpPr txBox="1"/>
          <p:nvPr/>
        </p:nvSpPr>
        <p:spPr>
          <a:xfrm>
            <a:off x="559429" y="1074226"/>
            <a:ext cx="1014041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rPr>
              <a:t> </a:t>
            </a:r>
            <a:r>
              <a:rPr kumimoji="0" lang="pt-BR" sz="3200" b="1" i="0" u="none" strike="noStrike" kern="1200" cap="none" spc="0" normalizeH="0" baseline="0" noProof="0" dirty="0" smtClean="0">
                <a:ln>
                  <a:noFill/>
                </a:ln>
                <a:solidFill>
                  <a:prstClr val="black"/>
                </a:solidFill>
                <a:effectLst/>
                <a:uLnTx/>
                <a:uFillTx/>
                <a:latin typeface="+mj-lt"/>
                <a:ea typeface="Gill Sans MT" charset="0"/>
                <a:cs typeface="Gill Sans MT" charset="0"/>
              </a:rPr>
              <a:t>Modelos de Desenvolvimento </a:t>
            </a:r>
            <a:endPar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endParaRPr>
          </a:p>
        </p:txBody>
      </p:sp>
      <p:sp>
        <p:nvSpPr>
          <p:cNvPr id="2" name="Espaço Reservado para Rodapé 1"/>
          <p:cNvSpPr>
            <a:spLocks noGrp="1"/>
          </p:cNvSpPr>
          <p:nvPr>
            <p:ph type="ftr" sz="quarter" idx="11"/>
          </p:nvPr>
        </p:nvSpPr>
        <p:spPr>
          <a:xfrm>
            <a:off x="3711969" y="6441703"/>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CaixaDeTexto 7"/>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10" name="Rectangle 2"/>
          <p:cNvSpPr txBox="1">
            <a:spLocks noChangeArrowheads="1"/>
          </p:cNvSpPr>
          <p:nvPr/>
        </p:nvSpPr>
        <p:spPr>
          <a:xfrm>
            <a:off x="678697" y="1856848"/>
            <a:ext cx="11031081" cy="3916155"/>
          </a:xfrm>
          <a:prstGeom prst="rect">
            <a:avLst/>
          </a:prstGeom>
        </p:spPr>
        <p:txBody>
          <a:bodyPr/>
          <a:lstStyle/>
          <a:p>
            <a:r>
              <a:rPr lang="pt-BR" sz="2400" dirty="0" smtClean="0"/>
              <a:t>São abordagens do Processo de Desenvolvimento que levam em consideração a </a:t>
            </a:r>
            <a:r>
              <a:rPr lang="pt-BR" sz="2400" dirty="0" smtClean="0"/>
              <a:t>natureza do projeto e da </a:t>
            </a:r>
            <a:r>
              <a:rPr lang="pt-BR" sz="2400" dirty="0" smtClean="0"/>
              <a:t>aplicação, </a:t>
            </a:r>
            <a:r>
              <a:rPr lang="pt-BR" sz="2400" dirty="0" smtClean="0"/>
              <a:t>métodos e </a:t>
            </a:r>
            <a:r>
              <a:rPr lang="pt-BR" sz="2400" dirty="0" smtClean="0"/>
              <a:t>ferramentas, controles e produtos a serem entregues.</a:t>
            </a:r>
          </a:p>
          <a:p>
            <a:endParaRPr lang="pt-BR" sz="2400" dirty="0" smtClean="0"/>
          </a:p>
          <a:p>
            <a:pPr>
              <a:buFont typeface="Wingdings" pitchFamily="2" charset="2"/>
              <a:buChar char="q"/>
            </a:pPr>
            <a:r>
              <a:rPr lang="pt-BR" sz="2400" b="1" dirty="0" smtClean="0"/>
              <a:t>Modelo </a:t>
            </a:r>
            <a:r>
              <a:rPr lang="pt-BR" sz="2400" b="1" dirty="0" smtClean="0"/>
              <a:t>em cascata (</a:t>
            </a:r>
            <a:r>
              <a:rPr lang="pt-BR" sz="2400" b="1" i="1" dirty="0" err="1" smtClean="0"/>
              <a:t>Waterfall</a:t>
            </a:r>
            <a:r>
              <a:rPr lang="pt-BR" sz="2400" b="1" i="1" dirty="0" smtClean="0"/>
              <a:t> </a:t>
            </a:r>
            <a:r>
              <a:rPr lang="pt-BR" sz="2400" b="1" i="1" dirty="0" err="1" smtClean="0"/>
              <a:t>development</a:t>
            </a:r>
            <a:r>
              <a:rPr lang="pt-BR" sz="2400" b="1" dirty="0" smtClean="0"/>
              <a:t>);</a:t>
            </a:r>
            <a:endParaRPr lang="pt-BR" sz="2400" b="1" dirty="0" smtClean="0"/>
          </a:p>
          <a:p>
            <a:pPr>
              <a:buFont typeface="Wingdings" pitchFamily="2" charset="2"/>
              <a:buChar char="q"/>
            </a:pPr>
            <a:r>
              <a:rPr lang="pt-BR" sz="2400" b="1" dirty="0" smtClean="0"/>
              <a:t>Desenvolvimento </a:t>
            </a:r>
            <a:r>
              <a:rPr lang="pt-BR" sz="2400" b="1" dirty="0" smtClean="0"/>
              <a:t>iterativo e incremental (</a:t>
            </a:r>
            <a:r>
              <a:rPr lang="pt-BR" sz="2400" b="1" i="1" dirty="0" err="1" smtClean="0"/>
              <a:t>Iterative</a:t>
            </a:r>
            <a:r>
              <a:rPr lang="pt-BR" sz="2400" b="1" i="1" dirty="0" smtClean="0"/>
              <a:t> </a:t>
            </a:r>
            <a:r>
              <a:rPr lang="pt-BR" sz="2400" b="1" i="1" dirty="0" err="1" smtClean="0"/>
              <a:t>and</a:t>
            </a:r>
            <a:r>
              <a:rPr lang="pt-BR" sz="2400" b="1" i="1" dirty="0" smtClean="0"/>
              <a:t> incremental </a:t>
            </a:r>
            <a:r>
              <a:rPr lang="pt-BR" sz="2400" b="1" i="1" dirty="0" err="1" smtClean="0"/>
              <a:t>development</a:t>
            </a:r>
            <a:r>
              <a:rPr lang="pt-BR" sz="2400" b="1" dirty="0" smtClean="0"/>
              <a:t>);</a:t>
            </a:r>
            <a:endParaRPr lang="pt-BR" sz="2400" b="1" dirty="0" smtClean="0"/>
          </a:p>
          <a:p>
            <a:pPr>
              <a:buFont typeface="Wingdings" pitchFamily="2" charset="2"/>
              <a:buChar char="q"/>
            </a:pPr>
            <a:r>
              <a:rPr lang="pt-BR" sz="2400" b="1" dirty="0" smtClean="0"/>
              <a:t>Desenvolvimento ágil de software (</a:t>
            </a:r>
            <a:r>
              <a:rPr lang="pt-BR" sz="2400" b="1" i="1" dirty="0" err="1" smtClean="0"/>
              <a:t>Agile</a:t>
            </a:r>
            <a:r>
              <a:rPr lang="pt-BR" sz="2400" b="1" i="1" dirty="0" smtClean="0"/>
              <a:t> </a:t>
            </a:r>
            <a:r>
              <a:rPr lang="pt-BR" sz="2400" b="1" i="1" dirty="0" err="1" smtClean="0"/>
              <a:t>development</a:t>
            </a:r>
            <a:r>
              <a:rPr lang="pt-BR" sz="2400" b="1" dirty="0" smtClean="0"/>
              <a:t>).</a:t>
            </a:r>
            <a:endParaRPr lang="pt-BR" sz="2400" dirty="0" smtClean="0"/>
          </a:p>
          <a:p>
            <a:pPr>
              <a:buFont typeface="Wingdings" pitchFamily="2" charset="2"/>
              <a:buChar char="q"/>
            </a:pPr>
            <a:r>
              <a:rPr lang="pt-BR" sz="2400" dirty="0" smtClean="0"/>
              <a:t>Prototipação</a:t>
            </a:r>
            <a:r>
              <a:rPr lang="pt-BR" sz="2400" dirty="0" smtClean="0"/>
              <a:t> (</a:t>
            </a:r>
            <a:r>
              <a:rPr lang="pt-BR" sz="2400" i="1" dirty="0" err="1" smtClean="0"/>
              <a:t>Prototyping</a:t>
            </a:r>
            <a:r>
              <a:rPr lang="pt-BR" sz="2400" dirty="0" smtClean="0"/>
              <a:t>);</a:t>
            </a:r>
          </a:p>
          <a:p>
            <a:pPr>
              <a:buFont typeface="Wingdings" pitchFamily="2" charset="2"/>
              <a:buChar char="q"/>
            </a:pPr>
            <a:r>
              <a:rPr lang="pt-BR" sz="2400" dirty="0" smtClean="0"/>
              <a:t>Modelo </a:t>
            </a:r>
            <a:r>
              <a:rPr lang="pt-BR" sz="2400" dirty="0" smtClean="0"/>
              <a:t>em espiral (</a:t>
            </a:r>
            <a:r>
              <a:rPr lang="pt-BR" sz="2400" i="1" dirty="0" err="1" smtClean="0"/>
              <a:t>Spiral</a:t>
            </a:r>
            <a:r>
              <a:rPr lang="pt-BR" sz="2400" i="1" dirty="0" smtClean="0"/>
              <a:t> </a:t>
            </a:r>
            <a:r>
              <a:rPr lang="pt-BR" sz="2400" i="1" dirty="0" err="1" smtClean="0"/>
              <a:t>development</a:t>
            </a:r>
            <a:r>
              <a:rPr lang="pt-BR" sz="2400" dirty="0" smtClean="0"/>
              <a:t>);</a:t>
            </a:r>
            <a:endParaRPr lang="pt-BR" sz="2400" dirty="0" smtClean="0"/>
          </a:p>
          <a:p>
            <a:pPr>
              <a:buFont typeface="Wingdings" pitchFamily="2" charset="2"/>
              <a:buChar char="q"/>
            </a:pPr>
            <a:r>
              <a:rPr lang="pt-BR" sz="2400" dirty="0" smtClean="0"/>
              <a:t>Desenvolvimento Rápido de Aplicação (</a:t>
            </a:r>
            <a:r>
              <a:rPr lang="pt-BR" sz="2400" i="1" dirty="0" err="1" smtClean="0"/>
              <a:t>Rapid</a:t>
            </a:r>
            <a:r>
              <a:rPr lang="pt-BR" sz="2400" i="1" dirty="0" smtClean="0"/>
              <a:t> application </a:t>
            </a:r>
            <a:r>
              <a:rPr lang="pt-BR" sz="2400" i="1" dirty="0" err="1" smtClean="0"/>
              <a:t>development</a:t>
            </a:r>
            <a:r>
              <a:rPr lang="pt-BR" sz="2400" i="1" dirty="0" smtClean="0"/>
              <a:t> - RAD</a:t>
            </a:r>
            <a:r>
              <a:rPr lang="pt-BR" sz="2400" dirty="0" smtClean="0"/>
              <a:t>);</a:t>
            </a:r>
            <a:endParaRPr lang="pt-BR" sz="2400" dirty="0" smtClean="0"/>
          </a:p>
        </p:txBody>
      </p:sp>
    </p:spTree>
    <p:extLst>
      <p:ext uri="{BB962C8B-B14F-4D97-AF65-F5344CB8AC3E}">
        <p14:creationId xmlns:p14="http://schemas.microsoft.com/office/powerpoint/2010/main" xmlns="" val="332545373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414818" y="6441703"/>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7" name="Retângulo 6">
            <a:extLst>
              <a:ext uri="{FF2B5EF4-FFF2-40B4-BE49-F238E27FC236}">
                <a16:creationId xmlns:a16="http://schemas.microsoft.com/office/drawing/2014/main" xmlns="" id="{3CE34436-0529-4593-A518-2E28E3D671FC}"/>
              </a:ext>
            </a:extLst>
          </p:cNvPr>
          <p:cNvSpPr/>
          <p:nvPr/>
        </p:nvSpPr>
        <p:spPr>
          <a:xfrm>
            <a:off x="606226" y="1936221"/>
            <a:ext cx="10979549" cy="1323439"/>
          </a:xfrm>
          <a:prstGeom prst="rect">
            <a:avLst/>
          </a:prstGeom>
        </p:spPr>
        <p:txBody>
          <a:bodyPr wrap="square">
            <a:spAutoFit/>
          </a:bodyPr>
          <a:lstStyle/>
          <a:p>
            <a:pPr lvl="0">
              <a:defRPr/>
            </a:pPr>
            <a:r>
              <a:rPr lang="pt-BR" sz="2000" dirty="0" smtClean="0"/>
              <a:t>O </a:t>
            </a:r>
            <a:r>
              <a:rPr lang="pt-BR" sz="2000" b="1" dirty="0" smtClean="0"/>
              <a:t>Modelo em Cascata</a:t>
            </a:r>
            <a:r>
              <a:rPr lang="pt-BR" sz="2000" dirty="0" smtClean="0"/>
              <a:t> (do inglês: </a:t>
            </a:r>
            <a:r>
              <a:rPr lang="pt-BR" sz="2000" b="1" dirty="0" err="1" smtClean="0"/>
              <a:t>Waterfall</a:t>
            </a:r>
            <a:r>
              <a:rPr lang="pt-BR" sz="2000" b="1" dirty="0" smtClean="0"/>
              <a:t> </a:t>
            </a:r>
            <a:r>
              <a:rPr lang="pt-BR" sz="2000" b="1" dirty="0" err="1" smtClean="0"/>
              <a:t>Model</a:t>
            </a:r>
            <a:r>
              <a:rPr lang="pt-BR" sz="2000" b="1" dirty="0" smtClean="0"/>
              <a:t>)</a:t>
            </a:r>
            <a:r>
              <a:rPr lang="pt-BR" sz="2000" dirty="0" smtClean="0"/>
              <a:t> é um modelo de desenvolvimento de software </a:t>
            </a:r>
            <a:r>
              <a:rPr lang="pt-BR" sz="2000" dirty="0" err="1" smtClean="0"/>
              <a:t>seqüencial</a:t>
            </a:r>
            <a:r>
              <a:rPr lang="pt-BR" sz="2000" dirty="0" smtClean="0"/>
              <a:t> no qual o processo é visto como um fluir constante para frente (como uma cascata) através das fases de análise de requisitos, projeto, implementação, testes (validação), integração, e manutenção de software. </a:t>
            </a:r>
            <a:endParaRPr lang="pt-BR" sz="2000" dirty="0" smtClean="0"/>
          </a:p>
        </p:txBody>
      </p:sp>
      <p:sp>
        <p:nvSpPr>
          <p:cNvPr id="11" name="CaixaDeTexto 10">
            <a:extLst>
              <a:ext uri="{FF2B5EF4-FFF2-40B4-BE49-F238E27FC236}">
                <a16:creationId xmlns:a16="http://schemas.microsoft.com/office/drawing/2014/main" xmlns="" id="{AF27F5EA-A710-4BC6-BAF2-F13947371E72}"/>
              </a:ext>
            </a:extLst>
          </p:cNvPr>
          <p:cNvSpPr txBox="1"/>
          <p:nvPr/>
        </p:nvSpPr>
        <p:spPr>
          <a:xfrm>
            <a:off x="559429" y="1074226"/>
            <a:ext cx="1014041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rPr>
              <a:t> </a:t>
            </a:r>
            <a:r>
              <a:rPr kumimoji="0" lang="pt-BR" sz="3200" b="1" i="0" u="none" strike="noStrike" kern="1200" cap="none" spc="0" normalizeH="0" baseline="0" noProof="0" dirty="0" smtClean="0">
                <a:ln>
                  <a:noFill/>
                </a:ln>
                <a:solidFill>
                  <a:prstClr val="black"/>
                </a:solidFill>
                <a:effectLst/>
                <a:uLnTx/>
                <a:uFillTx/>
                <a:latin typeface="+mj-lt"/>
                <a:ea typeface="Gill Sans MT" charset="0"/>
                <a:cs typeface="Gill Sans MT" charset="0"/>
              </a:rPr>
              <a:t>Modelos de Desenvolvimento - Modelo Cascata</a:t>
            </a:r>
            <a:endPar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endParaRPr>
          </a:p>
        </p:txBody>
      </p:sp>
      <p:sp>
        <p:nvSpPr>
          <p:cNvPr id="2" name="Espaço Reservado para Rodapé 1"/>
          <p:cNvSpPr>
            <a:spLocks noGrp="1"/>
          </p:cNvSpPr>
          <p:nvPr>
            <p:ph type="ftr" sz="quarter" idx="11"/>
          </p:nvPr>
        </p:nvSpPr>
        <p:spPr>
          <a:xfrm>
            <a:off x="3711969" y="6441703"/>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CaixaDeTexto 7"/>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pic>
        <p:nvPicPr>
          <p:cNvPr id="9217" name="Picture 1"/>
          <p:cNvPicPr>
            <a:picLocks noChangeAspect="1" noChangeArrowheads="1"/>
          </p:cNvPicPr>
          <p:nvPr/>
        </p:nvPicPr>
        <p:blipFill>
          <a:blip r:embed="rId3" cstate="print"/>
          <a:srcRect/>
          <a:stretch>
            <a:fillRect/>
          </a:stretch>
        </p:blipFill>
        <p:spPr bwMode="auto">
          <a:xfrm>
            <a:off x="3233169" y="3320600"/>
            <a:ext cx="5343525" cy="2809875"/>
          </a:xfrm>
          <a:prstGeom prst="rect">
            <a:avLst/>
          </a:prstGeom>
          <a:noFill/>
          <a:ln w="9525">
            <a:noFill/>
            <a:miter lim="800000"/>
            <a:headEnd/>
            <a:tailEnd/>
          </a:ln>
        </p:spPr>
      </p:pic>
    </p:spTree>
    <p:extLst>
      <p:ext uri="{BB962C8B-B14F-4D97-AF65-F5344CB8AC3E}">
        <p14:creationId xmlns:p14="http://schemas.microsoft.com/office/powerpoint/2010/main" xmlns="" val="332545373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7" name="Retângulo 6">
            <a:extLst>
              <a:ext uri="{FF2B5EF4-FFF2-40B4-BE49-F238E27FC236}">
                <a16:creationId xmlns:a16="http://schemas.microsoft.com/office/drawing/2014/main" xmlns="" id="{3CE34436-0529-4593-A518-2E28E3D671FC}"/>
              </a:ext>
            </a:extLst>
          </p:cNvPr>
          <p:cNvSpPr/>
          <p:nvPr/>
        </p:nvSpPr>
        <p:spPr>
          <a:xfrm>
            <a:off x="504443" y="2479943"/>
            <a:ext cx="10901702" cy="1477328"/>
          </a:xfrm>
          <a:prstGeom prst="rect">
            <a:avLst/>
          </a:prstGeom>
        </p:spPr>
        <p:txBody>
          <a:bodyPr wrap="square">
            <a:spAutoFit/>
          </a:bodyPr>
          <a:lstStyle/>
          <a:p>
            <a:pPr marL="450850" marR="0" lvl="0" indent="-450850" algn="l"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altLang="pt-BR" sz="2000" b="0" i="0" u="none" strike="noStrike" kern="1200" cap="none" spc="0" normalizeH="0" baseline="0" noProof="0" dirty="0" smtClean="0">
                <a:ln>
                  <a:noFill/>
                </a:ln>
                <a:solidFill>
                  <a:srgbClr val="333333"/>
                </a:solidFill>
                <a:effectLst/>
                <a:uLnTx/>
                <a:uFillTx/>
                <a:latin typeface="Calibri"/>
                <a:ea typeface="+mn-ea"/>
                <a:cs typeface="+mn-cs"/>
              </a:rPr>
              <a:t>Torna </a:t>
            </a:r>
            <a:r>
              <a:rPr kumimoji="0" lang="pt-BR" altLang="pt-BR" sz="2000" b="0" i="0" u="none" strike="noStrike" kern="1200" cap="none" spc="0" normalizeH="0" baseline="0" noProof="0" dirty="0">
                <a:ln>
                  <a:noFill/>
                </a:ln>
                <a:solidFill>
                  <a:srgbClr val="333333"/>
                </a:solidFill>
                <a:effectLst/>
                <a:uLnTx/>
                <a:uFillTx/>
                <a:latin typeface="Calibri"/>
                <a:ea typeface="+mn-ea"/>
                <a:cs typeface="+mn-cs"/>
              </a:rPr>
              <a:t>o processo de desenvolvimento estruturado, em uma ordem sequencial de fases na qual cada fase cai em cascata na próxima, e cada fase deve estar terminada antes do início da </a:t>
            </a:r>
            <a:r>
              <a:rPr kumimoji="0" lang="pt-BR" altLang="pt-BR" sz="2000" b="0" i="0" u="none" strike="noStrike" kern="1200" cap="none" spc="0" normalizeH="0" baseline="0" noProof="0" dirty="0" smtClean="0">
                <a:ln>
                  <a:noFill/>
                </a:ln>
                <a:solidFill>
                  <a:srgbClr val="333333"/>
                </a:solidFill>
                <a:effectLst/>
                <a:uLnTx/>
                <a:uFillTx/>
                <a:latin typeface="Calibri"/>
                <a:ea typeface="+mn-ea"/>
                <a:cs typeface="+mn-cs"/>
              </a:rPr>
              <a:t>seguinte;</a:t>
            </a:r>
          </a:p>
          <a:p>
            <a:pPr marL="450850" marR="0" lvl="0" indent="-4508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pt-BR" alt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l"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altLang="pt-BR" sz="2000" b="0" i="0" u="none" strike="noStrike" kern="1200" cap="none" spc="0" normalizeH="0" baseline="0" noProof="0" dirty="0" smtClean="0">
                <a:ln>
                  <a:noFill/>
                </a:ln>
                <a:solidFill>
                  <a:srgbClr val="333333"/>
                </a:solidFill>
                <a:effectLst/>
                <a:uLnTx/>
                <a:uFillTx/>
                <a:latin typeface="Calibri"/>
                <a:ea typeface="+mn-ea"/>
                <a:cs typeface="+mn-cs"/>
              </a:rPr>
              <a:t>Todas </a:t>
            </a:r>
            <a:r>
              <a:rPr kumimoji="0" lang="pt-BR" altLang="pt-BR" sz="2000" b="0" i="0" u="none" strike="noStrike" kern="1200" cap="none" spc="0" normalizeH="0" baseline="0" noProof="0" dirty="0">
                <a:ln>
                  <a:noFill/>
                </a:ln>
                <a:solidFill>
                  <a:srgbClr val="333333"/>
                </a:solidFill>
                <a:effectLst/>
                <a:uLnTx/>
                <a:uFillTx/>
                <a:latin typeface="Calibri"/>
                <a:ea typeface="+mn-ea"/>
                <a:cs typeface="+mn-cs"/>
              </a:rPr>
              <a:t>as atividades identificadas nas fases do modelo são fundamentais, e estão na ordem </a:t>
            </a:r>
            <a:r>
              <a:rPr kumimoji="0" lang="pt-BR" altLang="pt-BR" sz="2000" b="0" i="0" u="none" strike="noStrike" kern="1200" cap="none" spc="0" normalizeH="0" baseline="0" noProof="0" dirty="0" smtClean="0">
                <a:ln>
                  <a:noFill/>
                </a:ln>
                <a:solidFill>
                  <a:srgbClr val="333333"/>
                </a:solidFill>
                <a:effectLst/>
                <a:uLnTx/>
                <a:uFillTx/>
                <a:latin typeface="Calibri"/>
                <a:ea typeface="+mn-ea"/>
                <a:cs typeface="+mn-cs"/>
              </a:rPr>
              <a:t>certa.</a:t>
            </a:r>
            <a:endParaRPr kumimoji="0" lang="pt-BR" altLang="pt-BR" sz="2000" b="0" i="0" u="none" strike="noStrike" kern="1200" cap="none" spc="0" normalizeH="0" baseline="0" noProof="0" dirty="0">
              <a:ln>
                <a:noFill/>
              </a:ln>
              <a:solidFill>
                <a:srgbClr val="333333"/>
              </a:solidFill>
              <a:effectLst/>
              <a:uLnTx/>
              <a:uFillTx/>
              <a:latin typeface="Calibri"/>
              <a:ea typeface="+mn-ea"/>
              <a:cs typeface="+mn-cs"/>
            </a:endParaRPr>
          </a:p>
        </p:txBody>
      </p:sp>
      <p:sp>
        <p:nvSpPr>
          <p:cNvPr id="2" name="Espaço Reservado para Rodapé 1"/>
          <p:cNvSpPr>
            <a:spLocks noGrp="1"/>
          </p:cNvSpPr>
          <p:nvPr>
            <p:ph type="ftr" sz="quarter" idx="11"/>
          </p:nvPr>
        </p:nvSpPr>
        <p:spPr>
          <a:xfrm>
            <a:off x="3952485" y="6466931"/>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CaixaDeTexto 7">
            <a:extLst>
              <a:ext uri="{FF2B5EF4-FFF2-40B4-BE49-F238E27FC236}">
                <a16:creationId xmlns:a16="http://schemas.microsoft.com/office/drawing/2014/main" xmlns="" id="{AF27F5EA-A710-4BC6-BAF2-F13947371E72}"/>
              </a:ext>
            </a:extLst>
          </p:cNvPr>
          <p:cNvSpPr txBox="1"/>
          <p:nvPr/>
        </p:nvSpPr>
        <p:spPr>
          <a:xfrm>
            <a:off x="559429" y="1074226"/>
            <a:ext cx="1014041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rPr>
              <a:t> </a:t>
            </a:r>
            <a:r>
              <a:rPr kumimoji="0" lang="pt-BR" sz="3200" b="1" i="0" u="none" strike="noStrike" kern="1200" cap="none" spc="0" normalizeH="0" baseline="0" noProof="0" dirty="0" smtClean="0">
                <a:ln>
                  <a:noFill/>
                </a:ln>
                <a:solidFill>
                  <a:prstClr val="black"/>
                </a:solidFill>
                <a:effectLst/>
                <a:uLnTx/>
                <a:uFillTx/>
                <a:latin typeface="+mj-lt"/>
                <a:ea typeface="Gill Sans MT" charset="0"/>
                <a:cs typeface="Gill Sans MT" charset="0"/>
              </a:rPr>
              <a:t>Modelos de Desenvolvimento - Modelo Cascata</a:t>
            </a:r>
            <a:endPar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endParaRPr>
          </a:p>
        </p:txBody>
      </p:sp>
      <p:sp>
        <p:nvSpPr>
          <p:cNvPr id="10" name="CaixaDeTexto 9"/>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331174528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startupsorocaba.com/wp-content/uploads/2014/08/Iterativo-Incremental-startup.jpg"/>
          <p:cNvPicPr>
            <a:picLocks noChangeAspect="1" noChangeArrowheads="1"/>
          </p:cNvPicPr>
          <p:nvPr/>
        </p:nvPicPr>
        <p:blipFill>
          <a:blip r:embed="rId3" cstate="print"/>
          <a:srcRect/>
          <a:stretch>
            <a:fillRect/>
          </a:stretch>
        </p:blipFill>
        <p:spPr bwMode="auto">
          <a:xfrm>
            <a:off x="7266069" y="1443246"/>
            <a:ext cx="4683502" cy="4616355"/>
          </a:xfrm>
          <a:prstGeom prst="rect">
            <a:avLst/>
          </a:prstGeom>
          <a:noFill/>
        </p:spPr>
      </p:pic>
      <p:sp>
        <p:nvSpPr>
          <p:cNvPr id="9" name="CaixaDeTexto 8"/>
          <p:cNvSpPr txBox="1"/>
          <p:nvPr/>
        </p:nvSpPr>
        <p:spPr>
          <a:xfrm>
            <a:off x="414818" y="6441703"/>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7" name="Retângulo 6">
            <a:extLst>
              <a:ext uri="{FF2B5EF4-FFF2-40B4-BE49-F238E27FC236}">
                <a16:creationId xmlns:a16="http://schemas.microsoft.com/office/drawing/2014/main" xmlns="" id="{3CE34436-0529-4593-A518-2E28E3D671FC}"/>
              </a:ext>
            </a:extLst>
          </p:cNvPr>
          <p:cNvSpPr/>
          <p:nvPr/>
        </p:nvSpPr>
        <p:spPr>
          <a:xfrm>
            <a:off x="450376" y="2277421"/>
            <a:ext cx="6373505" cy="2862322"/>
          </a:xfrm>
          <a:prstGeom prst="rect">
            <a:avLst/>
          </a:prstGeom>
        </p:spPr>
        <p:txBody>
          <a:bodyPr wrap="square">
            <a:spAutoFit/>
          </a:bodyPr>
          <a:lstStyle/>
          <a:p>
            <a:pPr lvl="0">
              <a:defRPr/>
            </a:pPr>
            <a:r>
              <a:rPr lang="pt-BR" sz="2000" dirty="0" smtClean="0"/>
              <a:t>O </a:t>
            </a:r>
            <a:r>
              <a:rPr lang="pt-BR" sz="2000" b="1" dirty="0" smtClean="0"/>
              <a:t>Desenvolvimento Iterativo e Incremental</a:t>
            </a:r>
            <a:r>
              <a:rPr lang="pt-BR" sz="2000" dirty="0" smtClean="0"/>
              <a:t> é um dos clássicos modelos de processo </a:t>
            </a:r>
            <a:r>
              <a:rPr lang="pt-BR" sz="2000" dirty="0" smtClean="0"/>
              <a:t>de desenvolvimento </a:t>
            </a:r>
            <a:r>
              <a:rPr lang="pt-BR" sz="2000" dirty="0" smtClean="0"/>
              <a:t>de software criado em resposta às fraquezas do modelo em cascata, o mais tradicional. Os dois padrões mais conhecidos de sistemas iterativos de desenvolvimento são o RUP (Processo Unificado da </a:t>
            </a:r>
            <a:r>
              <a:rPr lang="pt-BR" sz="2000" dirty="0" err="1" smtClean="0"/>
              <a:t>Rational</a:t>
            </a:r>
            <a:r>
              <a:rPr lang="pt-BR" sz="2000" dirty="0" smtClean="0"/>
              <a:t>) e o Desenvolvimento ágil de software. Por isso o desenvolvimento iterativo e incremental é também uma parte essencial da Programação Extrema e outros</a:t>
            </a:r>
            <a:r>
              <a:rPr lang="pt-BR" sz="2000" dirty="0" smtClean="0"/>
              <a:t>.</a:t>
            </a:r>
          </a:p>
        </p:txBody>
      </p:sp>
      <p:sp>
        <p:nvSpPr>
          <p:cNvPr id="11" name="CaixaDeTexto 10">
            <a:extLst>
              <a:ext uri="{FF2B5EF4-FFF2-40B4-BE49-F238E27FC236}">
                <a16:creationId xmlns:a16="http://schemas.microsoft.com/office/drawing/2014/main" xmlns="" id="{AF27F5EA-A710-4BC6-BAF2-F13947371E72}"/>
              </a:ext>
            </a:extLst>
          </p:cNvPr>
          <p:cNvSpPr txBox="1"/>
          <p:nvPr/>
        </p:nvSpPr>
        <p:spPr>
          <a:xfrm>
            <a:off x="559429" y="1046930"/>
            <a:ext cx="989475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rPr>
              <a:t> </a:t>
            </a:r>
            <a:r>
              <a:rPr kumimoji="0" lang="pt-BR" sz="3200" b="1" i="0" u="none" strike="noStrike" kern="1200" cap="none" spc="0" normalizeH="0" baseline="0" noProof="0" dirty="0" smtClean="0">
                <a:ln>
                  <a:noFill/>
                </a:ln>
                <a:solidFill>
                  <a:prstClr val="black"/>
                </a:solidFill>
                <a:effectLst/>
                <a:uLnTx/>
                <a:uFillTx/>
                <a:latin typeface="+mj-lt"/>
                <a:ea typeface="Gill Sans MT" charset="0"/>
                <a:cs typeface="Gill Sans MT" charset="0"/>
              </a:rPr>
              <a:t>Modelos de Desenvolvimento -  Iterativo e Incremental</a:t>
            </a:r>
            <a:endPar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endParaRPr>
          </a:p>
        </p:txBody>
      </p:sp>
      <p:sp>
        <p:nvSpPr>
          <p:cNvPr id="2" name="Espaço Reservado para Rodapé 1"/>
          <p:cNvSpPr>
            <a:spLocks noGrp="1"/>
          </p:cNvSpPr>
          <p:nvPr>
            <p:ph type="ftr" sz="quarter" idx="11"/>
          </p:nvPr>
        </p:nvSpPr>
        <p:spPr>
          <a:xfrm>
            <a:off x="3711969" y="6441703"/>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CaixaDeTexto 7"/>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332545373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m 9">
            <a:extLst>
              <a:ext uri="{FF2B5EF4-FFF2-40B4-BE49-F238E27FC236}">
                <a16:creationId xmlns:a16="http://schemas.microsoft.com/office/drawing/2014/main" xmlns="" id="{D5F5574C-F46D-46B4-8F76-D6FF172A76DE}"/>
              </a:ext>
            </a:extLst>
          </p:cNvPr>
          <p:cNvPicPr>
            <a:picLocks noChangeAspect="1"/>
          </p:cNvPicPr>
          <p:nvPr/>
        </p:nvPicPr>
        <p:blipFill>
          <a:blip r:embed="rId3" cstate="print"/>
          <a:stretch>
            <a:fillRect/>
          </a:stretch>
        </p:blipFill>
        <p:spPr>
          <a:xfrm>
            <a:off x="2422989" y="2255129"/>
            <a:ext cx="6598181" cy="3911258"/>
          </a:xfrm>
          <a:prstGeom prst="rect">
            <a:avLst/>
          </a:prstGeom>
        </p:spPr>
      </p:pic>
      <p:sp>
        <p:nvSpPr>
          <p:cNvPr id="9" name="CaixaDeTexto 8"/>
          <p:cNvSpPr txBox="1"/>
          <p:nvPr/>
        </p:nvSpPr>
        <p:spPr>
          <a:xfrm>
            <a:off x="414818" y="6441703"/>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7" name="Retângulo 6">
            <a:extLst>
              <a:ext uri="{FF2B5EF4-FFF2-40B4-BE49-F238E27FC236}">
                <a16:creationId xmlns:a16="http://schemas.microsoft.com/office/drawing/2014/main" xmlns="" id="{3CE34436-0529-4593-A518-2E28E3D671FC}"/>
              </a:ext>
            </a:extLst>
          </p:cNvPr>
          <p:cNvSpPr/>
          <p:nvPr/>
        </p:nvSpPr>
        <p:spPr>
          <a:xfrm>
            <a:off x="606226" y="1758797"/>
            <a:ext cx="11308270" cy="1015663"/>
          </a:xfrm>
          <a:prstGeom prst="rect">
            <a:avLst/>
          </a:prstGeom>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pt-BR" sz="2000" b="0" i="0" u="none" strike="noStrike" kern="1200" cap="none" spc="0" normalizeH="0" baseline="0" noProof="0" dirty="0">
                <a:ln>
                  <a:noFill/>
                </a:ln>
                <a:solidFill>
                  <a:srgbClr val="333333"/>
                </a:solidFill>
                <a:effectLst/>
                <a:uLnTx/>
                <a:uFillTx/>
                <a:ea typeface="+mn-ea"/>
                <a:cs typeface="+mn-cs"/>
              </a:rPr>
              <a:t>É</a:t>
            </a:r>
            <a:r>
              <a:rPr kumimoji="0" lang="pt-BR" sz="2000" b="0" i="0" u="none" strike="noStrike" kern="1200" cap="none" spc="0" normalizeH="0" baseline="0" noProof="0" dirty="0" smtClean="0">
                <a:ln>
                  <a:noFill/>
                </a:ln>
                <a:solidFill>
                  <a:srgbClr val="333333"/>
                </a:solidFill>
                <a:effectLst/>
                <a:uLnTx/>
                <a:uFillTx/>
                <a:ea typeface="+mn-ea"/>
                <a:cs typeface="+mn-cs"/>
              </a:rPr>
              <a:t> </a:t>
            </a:r>
            <a:r>
              <a:rPr kumimoji="0" lang="pt-BR" sz="2000" b="0" i="0" u="none" strike="noStrike" kern="1200" cap="none" spc="0" normalizeH="0" baseline="0" noProof="0" dirty="0">
                <a:ln>
                  <a:noFill/>
                </a:ln>
                <a:solidFill>
                  <a:srgbClr val="333333"/>
                </a:solidFill>
                <a:effectLst/>
                <a:uLnTx/>
                <a:uFillTx/>
                <a:ea typeface="+mn-ea"/>
                <a:cs typeface="+mn-cs"/>
              </a:rPr>
              <a:t>um modelo conceitual de Engenharia de </a:t>
            </a:r>
            <a:r>
              <a:rPr kumimoji="0" lang="pt-BR" sz="2000" b="0" i="0" u="none" strike="noStrike" kern="1200" cap="none" spc="0" normalizeH="0" baseline="0" noProof="0" dirty="0" smtClean="0">
                <a:ln>
                  <a:noFill/>
                </a:ln>
                <a:solidFill>
                  <a:srgbClr val="333333"/>
                </a:solidFill>
                <a:effectLst/>
                <a:uLnTx/>
                <a:uFillTx/>
                <a:ea typeface="+mn-ea"/>
                <a:cs typeface="+mn-cs"/>
              </a:rPr>
              <a:t>Sistemas / Desenvolvimento </a:t>
            </a:r>
            <a:r>
              <a:rPr kumimoji="0" lang="pt-BR" sz="2000" b="0" i="0" u="none" strike="noStrike" kern="1200" cap="none" spc="0" normalizeH="0" baseline="0" noProof="0" dirty="0">
                <a:ln>
                  <a:noFill/>
                </a:ln>
                <a:solidFill>
                  <a:srgbClr val="333333"/>
                </a:solidFill>
                <a:effectLst/>
                <a:uLnTx/>
                <a:uFillTx/>
                <a:ea typeface="+mn-ea"/>
                <a:cs typeface="+mn-cs"/>
              </a:rPr>
              <a:t>de Produto, </a:t>
            </a:r>
            <a:r>
              <a:rPr kumimoji="0" lang="pt-BR" sz="2000" b="0" i="0" u="none" strike="noStrike" kern="1200" cap="none" spc="0" normalizeH="0" baseline="0" noProof="0" dirty="0" smtClean="0">
                <a:ln>
                  <a:noFill/>
                </a:ln>
                <a:solidFill>
                  <a:srgbClr val="333333"/>
                </a:solidFill>
                <a:effectLst/>
                <a:uLnTx/>
                <a:uFillTx/>
                <a:ea typeface="+mn-ea"/>
                <a:cs typeface="+mn-cs"/>
              </a:rPr>
              <a:t>é uma evolução do</a:t>
            </a:r>
            <a:r>
              <a:rPr kumimoji="0" lang="pt-BR" sz="2000" b="0" i="0" u="none" strike="noStrike" kern="1200" cap="none" spc="0" normalizeH="0" baseline="0" noProof="0" dirty="0">
                <a:ln>
                  <a:noFill/>
                </a:ln>
                <a:solidFill>
                  <a:srgbClr val="333333"/>
                </a:solidFill>
                <a:effectLst/>
                <a:uLnTx/>
                <a:uFillTx/>
                <a:ea typeface="+mn-ea"/>
                <a:cs typeface="+mn-cs"/>
              </a:rPr>
              <a:t> modelo </a:t>
            </a:r>
            <a:r>
              <a:rPr kumimoji="0" lang="pt-BR" sz="2000" b="0" i="0" u="none" strike="noStrike" kern="1200" cap="none" spc="0" normalizeH="0" baseline="0" noProof="0" dirty="0" smtClean="0">
                <a:ln>
                  <a:noFill/>
                </a:ln>
                <a:solidFill>
                  <a:srgbClr val="333333"/>
                </a:solidFill>
                <a:effectLst/>
                <a:uLnTx/>
                <a:uFillTx/>
                <a:ea typeface="+mn-ea"/>
                <a:cs typeface="+mn-cs"/>
              </a:rPr>
              <a:t>cascata;</a:t>
            </a: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pt-BR" sz="2000" b="0" i="0" u="none" strike="noStrike" kern="1200" cap="none" spc="0" normalizeH="0" baseline="0" noProof="0" dirty="0" smtClean="0">
              <a:ln>
                <a:noFill/>
              </a:ln>
              <a:solidFill>
                <a:srgbClr val="333333"/>
              </a:solidFill>
              <a:effectLst/>
              <a:uLnTx/>
              <a:uFillTx/>
              <a:ea typeface="+mn-ea"/>
              <a:cs typeface="+mn-cs"/>
            </a:endParaRPr>
          </a:p>
        </p:txBody>
      </p:sp>
      <p:sp>
        <p:nvSpPr>
          <p:cNvPr id="11" name="CaixaDeTexto 10">
            <a:extLst>
              <a:ext uri="{FF2B5EF4-FFF2-40B4-BE49-F238E27FC236}">
                <a16:creationId xmlns:a16="http://schemas.microsoft.com/office/drawing/2014/main" xmlns="" id="{AF27F5EA-A710-4BC6-BAF2-F13947371E72}"/>
              </a:ext>
            </a:extLst>
          </p:cNvPr>
          <p:cNvSpPr txBox="1"/>
          <p:nvPr/>
        </p:nvSpPr>
        <p:spPr>
          <a:xfrm>
            <a:off x="559430" y="1101522"/>
            <a:ext cx="315253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rPr>
              <a:t> Modelo V</a:t>
            </a:r>
          </a:p>
        </p:txBody>
      </p:sp>
      <p:sp>
        <p:nvSpPr>
          <p:cNvPr id="2" name="Espaço Reservado para Rodapé 1"/>
          <p:cNvSpPr>
            <a:spLocks noGrp="1"/>
          </p:cNvSpPr>
          <p:nvPr>
            <p:ph type="ftr" sz="quarter" idx="11"/>
          </p:nvPr>
        </p:nvSpPr>
        <p:spPr>
          <a:xfrm>
            <a:off x="3711969" y="6441703"/>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CaixaDeTexto 7"/>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332545373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7" name="Retângulo 6">
            <a:extLst>
              <a:ext uri="{FF2B5EF4-FFF2-40B4-BE49-F238E27FC236}">
                <a16:creationId xmlns:a16="http://schemas.microsoft.com/office/drawing/2014/main" xmlns="" id="{3CE34436-0529-4593-A518-2E28E3D671FC}"/>
              </a:ext>
            </a:extLst>
          </p:cNvPr>
          <p:cNvSpPr/>
          <p:nvPr/>
        </p:nvSpPr>
        <p:spPr>
          <a:xfrm>
            <a:off x="320712" y="2727343"/>
            <a:ext cx="11127843" cy="2554545"/>
          </a:xfrm>
          <a:prstGeom prst="rect">
            <a:avLst/>
          </a:prstGeom>
        </p:spPr>
        <p:txBody>
          <a:bodyPr wrap="square">
            <a:spAutoFit/>
          </a:bodyPr>
          <a:lstStyle/>
          <a:p>
            <a:pPr marL="450850" marR="0" lvl="0" indent="-450850" algn="l"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Simples </a:t>
            </a:r>
            <a:r>
              <a:rPr kumimoji="0" lang="pt-BR" sz="2000" b="0" i="0" u="none" strike="noStrike" kern="1200" cap="none" spc="0" normalizeH="0" baseline="0" noProof="0" dirty="0">
                <a:ln>
                  <a:noFill/>
                </a:ln>
                <a:solidFill>
                  <a:srgbClr val="333333"/>
                </a:solidFill>
                <a:effectLst/>
                <a:uLnTx/>
                <a:uFillTx/>
                <a:latin typeface="Calibri"/>
                <a:ea typeface="+mn-ea"/>
                <a:cs typeface="+mn-cs"/>
              </a:rPr>
              <a:t>e fácil de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usar;</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l"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a:ln>
                  <a:noFill/>
                </a:ln>
                <a:solidFill>
                  <a:srgbClr val="333333"/>
                </a:solidFill>
                <a:effectLst/>
                <a:uLnTx/>
                <a:uFillTx/>
                <a:latin typeface="Calibri"/>
                <a:ea typeface="+mn-ea"/>
                <a:cs typeface="+mn-cs"/>
              </a:rPr>
              <a:t>A fase de teste deve começar no início do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ciclo;</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l"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a:ln>
                  <a:noFill/>
                </a:ln>
                <a:solidFill>
                  <a:srgbClr val="333333"/>
                </a:solidFill>
                <a:effectLst/>
                <a:uLnTx/>
                <a:uFillTx/>
                <a:latin typeface="Calibri"/>
                <a:ea typeface="+mn-ea"/>
                <a:cs typeface="+mn-cs"/>
              </a:rPr>
              <a:t>Testando atividades como planejamento, simulações bem antes da construção, isso economiza muito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tempo</a:t>
            </a:r>
            <a:r>
              <a:rPr kumimoji="0" lang="pt-BR" sz="2000" b="0" i="0" u="none" strike="noStrike" kern="1200" cap="none" spc="0" normalizeH="0" baseline="0" noProof="0" dirty="0">
                <a:ln>
                  <a:noFill/>
                </a:ln>
                <a:solidFill>
                  <a:srgbClr val="333333"/>
                </a:solidFill>
                <a:effectLst/>
                <a:uLnTx/>
                <a:uFillTx/>
                <a:latin typeface="Calibri"/>
                <a:ea typeface="+mn-ea"/>
                <a:cs typeface="+mn-cs"/>
              </a:rPr>
              <a:t>;</a:t>
            </a:r>
          </a:p>
          <a:p>
            <a:pPr marL="450850" marR="0" lvl="0" indent="-450850" algn="l"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a:ln>
                  <a:noFill/>
                </a:ln>
                <a:solidFill>
                  <a:srgbClr val="333333"/>
                </a:solidFill>
                <a:effectLst/>
                <a:uLnTx/>
                <a:uFillTx/>
                <a:latin typeface="Calibri"/>
                <a:ea typeface="+mn-ea"/>
                <a:cs typeface="+mn-cs"/>
              </a:rPr>
              <a:t>Defeitos são encontrados em fase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inicial;</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l"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a:ln>
                  <a:noFill/>
                </a:ln>
                <a:solidFill>
                  <a:srgbClr val="333333"/>
                </a:solidFill>
                <a:effectLst/>
                <a:uLnTx/>
                <a:uFillTx/>
                <a:latin typeface="Calibri"/>
                <a:ea typeface="+mn-ea"/>
                <a:cs typeface="+mn-cs"/>
              </a:rPr>
              <a:t>Funciona bem para pequenos projetos onde os requisitos são facilmente compreendidos</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p:txBody>
      </p:sp>
      <p:sp>
        <p:nvSpPr>
          <p:cNvPr id="2" name="Espaço Reservado para Rodapé 1"/>
          <p:cNvSpPr>
            <a:spLocks noGrp="1"/>
          </p:cNvSpPr>
          <p:nvPr>
            <p:ph type="ftr" sz="quarter" idx="11"/>
          </p:nvPr>
        </p:nvSpPr>
        <p:spPr>
          <a:xfrm>
            <a:off x="3557472" y="6441102"/>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3" name="CaixaDeTexto 12">
            <a:extLst>
              <a:ext uri="{FF2B5EF4-FFF2-40B4-BE49-F238E27FC236}">
                <a16:creationId xmlns:a16="http://schemas.microsoft.com/office/drawing/2014/main" xmlns="" id="{AF27F5EA-A710-4BC6-BAF2-F13947371E72}"/>
              </a:ext>
            </a:extLst>
          </p:cNvPr>
          <p:cNvSpPr txBox="1"/>
          <p:nvPr/>
        </p:nvSpPr>
        <p:spPr>
          <a:xfrm>
            <a:off x="338704" y="1428644"/>
            <a:ext cx="554592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prstClr val="black"/>
                </a:solidFill>
                <a:effectLst/>
                <a:uLnTx/>
                <a:uFillTx/>
                <a:latin typeface="Gill Sans MT" charset="0"/>
                <a:ea typeface="Gill Sans MT" charset="0"/>
                <a:cs typeface="Gill Sans MT" charset="0"/>
              </a:rPr>
              <a:t>Modelo </a:t>
            </a:r>
            <a:r>
              <a:rPr kumimoji="0" lang="pt-BR" sz="32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V</a:t>
            </a:r>
            <a:endParaRPr kumimoji="0" lang="pt-BR" sz="32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8" name="CaixaDeTexto 7"/>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267872060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7" name="Retângulo 6">
            <a:extLst>
              <a:ext uri="{FF2B5EF4-FFF2-40B4-BE49-F238E27FC236}">
                <a16:creationId xmlns:a16="http://schemas.microsoft.com/office/drawing/2014/main" xmlns="" id="{3CE34436-0529-4593-A518-2E28E3D671FC}"/>
              </a:ext>
            </a:extLst>
          </p:cNvPr>
          <p:cNvSpPr/>
          <p:nvPr/>
        </p:nvSpPr>
        <p:spPr>
          <a:xfrm>
            <a:off x="452098" y="2193233"/>
            <a:ext cx="10674815" cy="3477875"/>
          </a:xfrm>
          <a:prstGeom prst="rect">
            <a:avLst/>
          </a:prstGeom>
        </p:spPr>
        <p:txBody>
          <a:bodyPr wrap="square">
            <a:spAutoFit/>
          </a:bodyPr>
          <a:lstStyle/>
          <a:p>
            <a:pPr marL="450850" marR="0" lvl="0" indent="-450850" algn="just"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altLang="pt-BR" sz="2000" b="0" i="0" u="none" strike="noStrike" kern="1200" cap="none" spc="0" normalizeH="0" baseline="0" noProof="0" dirty="0" smtClean="0">
                <a:ln>
                  <a:noFill/>
                </a:ln>
                <a:solidFill>
                  <a:srgbClr val="333333"/>
                </a:solidFill>
                <a:effectLst/>
                <a:uLnTx/>
                <a:uFillTx/>
                <a:latin typeface="Calibri"/>
                <a:ea typeface="+mn-ea"/>
                <a:cs typeface="+mn-cs"/>
              </a:rPr>
              <a:t>Não </a:t>
            </a:r>
            <a:r>
              <a:rPr kumimoji="0" lang="pt-BR" altLang="pt-BR" sz="2000" b="0" i="0" u="none" strike="noStrike" kern="1200" cap="none" spc="0" normalizeH="0" baseline="0" noProof="0" dirty="0">
                <a:ln>
                  <a:noFill/>
                </a:ln>
                <a:solidFill>
                  <a:srgbClr val="333333"/>
                </a:solidFill>
                <a:effectLst/>
                <a:uLnTx/>
                <a:uFillTx/>
                <a:latin typeface="Calibri"/>
                <a:ea typeface="+mn-ea"/>
                <a:cs typeface="+mn-cs"/>
              </a:rPr>
              <a:t>fornece feedback entre as fases e não permite a </a:t>
            </a:r>
            <a:r>
              <a:rPr kumimoji="0" lang="pt-BR" altLang="pt-BR" sz="2000" b="0" i="0" u="none" strike="noStrike" kern="1200" cap="none" spc="0" normalizeH="0" baseline="0" noProof="0" dirty="0" smtClean="0">
                <a:ln>
                  <a:noFill/>
                </a:ln>
                <a:solidFill>
                  <a:srgbClr val="333333"/>
                </a:solidFill>
                <a:effectLst/>
                <a:uLnTx/>
                <a:uFillTx/>
                <a:latin typeface="Calibri"/>
                <a:ea typeface="+mn-ea"/>
                <a:cs typeface="+mn-cs"/>
              </a:rPr>
              <a:t>atualização </a:t>
            </a:r>
            <a:r>
              <a:rPr kumimoji="0" lang="pt-BR" altLang="pt-BR" sz="2000" b="0" i="0" u="none" strike="noStrike" kern="1200" cap="none" spc="0" normalizeH="0" baseline="0" noProof="0" dirty="0">
                <a:ln>
                  <a:noFill/>
                </a:ln>
                <a:solidFill>
                  <a:srgbClr val="333333"/>
                </a:solidFill>
                <a:effectLst/>
                <a:uLnTx/>
                <a:uFillTx/>
                <a:latin typeface="Calibri"/>
                <a:ea typeface="+mn-ea"/>
                <a:cs typeface="+mn-cs"/>
              </a:rPr>
              <a:t>ou redefinição das fases </a:t>
            </a:r>
            <a:r>
              <a:rPr kumimoji="0" lang="pt-BR" altLang="pt-BR" sz="2000" b="0" i="0" u="none" strike="noStrike" kern="1200" cap="none" spc="0" normalizeH="0" baseline="0" noProof="0" dirty="0" smtClean="0">
                <a:ln>
                  <a:noFill/>
                </a:ln>
                <a:solidFill>
                  <a:srgbClr val="333333"/>
                </a:solidFill>
                <a:effectLst/>
                <a:uLnTx/>
                <a:uFillTx/>
                <a:latin typeface="Calibri"/>
                <a:ea typeface="+mn-ea"/>
                <a:cs typeface="+mn-cs"/>
              </a:rPr>
              <a:t>anteriores;</a:t>
            </a:r>
            <a:endParaRPr kumimoji="0" lang="pt-BR" alt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just"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altLang="pt-BR" sz="2000" b="0" i="0" u="none" strike="noStrike" kern="1200" cap="none" spc="0" normalizeH="0" baseline="0" noProof="0" dirty="0" smtClean="0">
                <a:ln>
                  <a:noFill/>
                </a:ln>
                <a:solidFill>
                  <a:srgbClr val="333333"/>
                </a:solidFill>
                <a:effectLst/>
                <a:uLnTx/>
                <a:uFillTx/>
                <a:latin typeface="Calibri"/>
                <a:ea typeface="+mn-ea"/>
                <a:cs typeface="+mn-cs"/>
              </a:rPr>
              <a:t>Não </a:t>
            </a:r>
            <a:r>
              <a:rPr kumimoji="0" lang="pt-BR" altLang="pt-BR" sz="2000" b="0" i="0" u="none" strike="noStrike" kern="1200" cap="none" spc="0" normalizeH="0" baseline="0" noProof="0" dirty="0">
                <a:ln>
                  <a:noFill/>
                </a:ln>
                <a:solidFill>
                  <a:srgbClr val="333333"/>
                </a:solidFill>
                <a:effectLst/>
                <a:uLnTx/>
                <a:uFillTx/>
                <a:latin typeface="Calibri"/>
                <a:ea typeface="+mn-ea"/>
                <a:cs typeface="+mn-cs"/>
              </a:rPr>
              <a:t>suporta modificações nos </a:t>
            </a:r>
            <a:r>
              <a:rPr kumimoji="0" lang="pt-BR" altLang="pt-BR" sz="2000" b="0" i="0" u="none" strike="noStrike" kern="1200" cap="none" spc="0" normalizeH="0" baseline="0" noProof="0" dirty="0" smtClean="0">
                <a:ln>
                  <a:noFill/>
                </a:ln>
                <a:solidFill>
                  <a:srgbClr val="333333"/>
                </a:solidFill>
                <a:effectLst/>
                <a:uLnTx/>
                <a:uFillTx/>
                <a:latin typeface="Calibri"/>
                <a:ea typeface="+mn-ea"/>
                <a:cs typeface="+mn-cs"/>
              </a:rPr>
              <a:t>requisitos;</a:t>
            </a:r>
            <a:endParaRPr kumimoji="0" lang="pt-BR" alt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just"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altLang="pt-BR" sz="2000" b="0" i="0" u="none" strike="noStrike" kern="1200" cap="none" spc="0" normalizeH="0" baseline="0" noProof="0" dirty="0" smtClean="0">
                <a:ln>
                  <a:noFill/>
                </a:ln>
                <a:solidFill>
                  <a:srgbClr val="333333"/>
                </a:solidFill>
                <a:effectLst/>
                <a:uLnTx/>
                <a:uFillTx/>
                <a:latin typeface="Calibri"/>
                <a:ea typeface="+mn-ea"/>
                <a:cs typeface="+mn-cs"/>
              </a:rPr>
              <a:t>Não </a:t>
            </a:r>
            <a:r>
              <a:rPr kumimoji="0" lang="pt-BR" altLang="pt-BR" sz="2000" b="0" i="0" u="none" strike="noStrike" kern="1200" cap="none" spc="0" normalizeH="0" baseline="0" noProof="0" dirty="0">
                <a:ln>
                  <a:noFill/>
                </a:ln>
                <a:solidFill>
                  <a:srgbClr val="333333"/>
                </a:solidFill>
                <a:effectLst/>
                <a:uLnTx/>
                <a:uFillTx/>
                <a:latin typeface="Calibri"/>
                <a:ea typeface="+mn-ea"/>
                <a:cs typeface="+mn-cs"/>
              </a:rPr>
              <a:t>prevê a </a:t>
            </a:r>
            <a:r>
              <a:rPr kumimoji="0" lang="pt-BR" altLang="pt-BR" sz="2000" b="0" i="0" u="none" strike="noStrike" kern="1200" cap="none" spc="0" normalizeH="0" baseline="0" noProof="0" dirty="0" smtClean="0">
                <a:ln>
                  <a:noFill/>
                </a:ln>
                <a:solidFill>
                  <a:srgbClr val="333333"/>
                </a:solidFill>
                <a:effectLst/>
                <a:uLnTx/>
                <a:uFillTx/>
                <a:latin typeface="Calibri"/>
                <a:ea typeface="+mn-ea"/>
                <a:cs typeface="+mn-cs"/>
              </a:rPr>
              <a:t>manutenção;</a:t>
            </a:r>
            <a:endParaRPr kumimoji="0" lang="pt-BR" alt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just"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altLang="pt-BR" sz="2000" b="0" i="0" u="none" strike="noStrike" kern="1200" cap="none" spc="0" normalizeH="0" baseline="0" noProof="0" dirty="0" smtClean="0">
                <a:ln>
                  <a:noFill/>
                </a:ln>
                <a:solidFill>
                  <a:srgbClr val="333333"/>
                </a:solidFill>
                <a:effectLst/>
                <a:uLnTx/>
                <a:uFillTx/>
                <a:latin typeface="Calibri"/>
                <a:ea typeface="+mn-ea"/>
                <a:cs typeface="+mn-cs"/>
              </a:rPr>
              <a:t>Não </a:t>
            </a:r>
            <a:r>
              <a:rPr kumimoji="0" lang="pt-BR" altLang="pt-BR" sz="2000" b="0" i="0" u="none" strike="noStrike" kern="1200" cap="none" spc="0" normalizeH="0" baseline="0" noProof="0" dirty="0">
                <a:ln>
                  <a:noFill/>
                </a:ln>
                <a:solidFill>
                  <a:srgbClr val="333333"/>
                </a:solidFill>
                <a:effectLst/>
                <a:uLnTx/>
                <a:uFillTx/>
                <a:latin typeface="Calibri"/>
                <a:ea typeface="+mn-ea"/>
                <a:cs typeface="+mn-cs"/>
              </a:rPr>
              <a:t>permite a </a:t>
            </a:r>
            <a:r>
              <a:rPr kumimoji="0" lang="pt-BR" altLang="pt-BR" sz="2000" b="0" i="0" u="none" strike="noStrike" kern="1200" cap="none" spc="0" normalizeH="0" baseline="0" noProof="0" dirty="0" smtClean="0">
                <a:ln>
                  <a:noFill/>
                </a:ln>
                <a:solidFill>
                  <a:srgbClr val="333333"/>
                </a:solidFill>
                <a:effectLst/>
                <a:uLnTx/>
                <a:uFillTx/>
                <a:latin typeface="Calibri"/>
                <a:ea typeface="+mn-ea"/>
                <a:cs typeface="+mn-cs"/>
              </a:rPr>
              <a:t>reutilização;</a:t>
            </a:r>
            <a:endParaRPr kumimoji="0" lang="pt-BR" alt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just"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altLang="pt-BR" sz="2000" b="0" i="0" u="none" strike="noStrike" kern="1200" cap="none" spc="0" normalizeH="0" baseline="0" noProof="0" dirty="0" smtClean="0">
                <a:ln>
                  <a:noFill/>
                </a:ln>
                <a:solidFill>
                  <a:srgbClr val="333333"/>
                </a:solidFill>
                <a:effectLst/>
                <a:uLnTx/>
                <a:uFillTx/>
                <a:latin typeface="Calibri"/>
                <a:ea typeface="+mn-ea"/>
                <a:cs typeface="+mn-cs"/>
              </a:rPr>
              <a:t>É </a:t>
            </a:r>
            <a:r>
              <a:rPr kumimoji="0" lang="pt-BR" altLang="pt-BR" sz="2000" b="0" i="0" u="none" strike="noStrike" kern="1200" cap="none" spc="0" normalizeH="0" baseline="0" noProof="0" dirty="0">
                <a:ln>
                  <a:noFill/>
                </a:ln>
                <a:solidFill>
                  <a:srgbClr val="333333"/>
                </a:solidFill>
                <a:effectLst/>
                <a:uLnTx/>
                <a:uFillTx/>
                <a:latin typeface="Calibri"/>
                <a:ea typeface="+mn-ea"/>
                <a:cs typeface="+mn-cs"/>
              </a:rPr>
              <a:t>excessivamente </a:t>
            </a:r>
            <a:r>
              <a:rPr kumimoji="0" lang="pt-BR" altLang="pt-BR" sz="2000" b="0" i="0" u="none" strike="noStrike" kern="1200" cap="none" spc="0" normalizeH="0" baseline="0" noProof="0" dirty="0" smtClean="0">
                <a:ln>
                  <a:noFill/>
                </a:ln>
                <a:solidFill>
                  <a:srgbClr val="333333"/>
                </a:solidFill>
                <a:effectLst/>
                <a:uLnTx/>
                <a:uFillTx/>
                <a:latin typeface="Calibri"/>
                <a:ea typeface="+mn-ea"/>
                <a:cs typeface="+mn-cs"/>
              </a:rPr>
              <a:t>sincronizado;</a:t>
            </a:r>
            <a:endParaRPr kumimoji="0" lang="pt-BR" alt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just"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altLang="pt-BR" sz="2000" b="0" i="0" u="none" strike="noStrike" kern="1200" cap="none" spc="0" normalizeH="0" baseline="0" noProof="0" dirty="0" smtClean="0">
                <a:ln>
                  <a:noFill/>
                </a:ln>
                <a:solidFill>
                  <a:srgbClr val="333333"/>
                </a:solidFill>
                <a:effectLst/>
                <a:uLnTx/>
                <a:uFillTx/>
                <a:latin typeface="Calibri"/>
                <a:ea typeface="+mn-ea"/>
                <a:cs typeface="+mn-cs"/>
              </a:rPr>
              <a:t>Se </a:t>
            </a:r>
            <a:r>
              <a:rPr kumimoji="0" lang="pt-BR" altLang="pt-BR" sz="2000" b="0" i="0" u="none" strike="noStrike" kern="1200" cap="none" spc="0" normalizeH="0" baseline="0" noProof="0" dirty="0">
                <a:ln>
                  <a:noFill/>
                </a:ln>
                <a:solidFill>
                  <a:srgbClr val="333333"/>
                </a:solidFill>
                <a:effectLst/>
                <a:uLnTx/>
                <a:uFillTx/>
                <a:latin typeface="Calibri"/>
                <a:ea typeface="+mn-ea"/>
                <a:cs typeface="+mn-cs"/>
              </a:rPr>
              <a:t>ocorrer um atraso todo o processo é </a:t>
            </a:r>
            <a:r>
              <a:rPr kumimoji="0" lang="pt-BR" altLang="pt-BR" sz="2000" b="0" i="0" u="none" strike="noStrike" kern="1200" cap="none" spc="0" normalizeH="0" baseline="0" noProof="0" dirty="0" smtClean="0">
                <a:ln>
                  <a:noFill/>
                </a:ln>
                <a:solidFill>
                  <a:srgbClr val="333333"/>
                </a:solidFill>
                <a:effectLst/>
                <a:uLnTx/>
                <a:uFillTx/>
                <a:latin typeface="Calibri"/>
                <a:ea typeface="+mn-ea"/>
                <a:cs typeface="+mn-cs"/>
              </a:rPr>
              <a:t>afetado;</a:t>
            </a:r>
            <a:endParaRPr kumimoji="0" lang="pt-BR" alt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just"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altLang="pt-BR" sz="2000" b="0" i="0" u="none" strike="noStrike" kern="1200" cap="none" spc="0" normalizeH="0" baseline="0" noProof="0" dirty="0" smtClean="0">
                <a:ln>
                  <a:noFill/>
                </a:ln>
                <a:solidFill>
                  <a:srgbClr val="333333"/>
                </a:solidFill>
                <a:effectLst/>
                <a:uLnTx/>
                <a:uFillTx/>
                <a:latin typeface="Calibri"/>
                <a:ea typeface="+mn-ea"/>
                <a:cs typeface="+mn-cs"/>
              </a:rPr>
              <a:t>Faz </a:t>
            </a:r>
            <a:r>
              <a:rPr kumimoji="0" lang="pt-BR" altLang="pt-BR" sz="2000" b="0" i="0" u="none" strike="noStrike" kern="1200" cap="none" spc="0" normalizeH="0" baseline="0" noProof="0" dirty="0">
                <a:ln>
                  <a:noFill/>
                </a:ln>
                <a:solidFill>
                  <a:srgbClr val="333333"/>
                </a:solidFill>
                <a:effectLst/>
                <a:uLnTx/>
                <a:uFillTx/>
                <a:latin typeface="Calibri"/>
                <a:ea typeface="+mn-ea"/>
                <a:cs typeface="+mn-cs"/>
              </a:rPr>
              <a:t>aparecer o software muito tarde</a:t>
            </a:r>
            <a:r>
              <a:rPr kumimoji="0" lang="pt-BR" altLang="pt-BR" sz="2000" b="0" i="0" u="none" strike="noStrike" kern="1200" cap="none" spc="0" normalizeH="0" baseline="0" noProof="0" dirty="0" smtClean="0">
                <a:ln>
                  <a:noFill/>
                </a:ln>
                <a:solidFill>
                  <a:srgbClr val="333333"/>
                </a:solidFill>
                <a:effectLst/>
                <a:uLnTx/>
                <a:uFillTx/>
                <a:latin typeface="Calibri"/>
                <a:ea typeface="+mn-ea"/>
                <a:cs typeface="+mn-cs"/>
              </a:rPr>
              <a:t>.</a:t>
            </a:r>
          </a:p>
        </p:txBody>
      </p:sp>
      <p:sp>
        <p:nvSpPr>
          <p:cNvPr id="2" name="Espaço Reservado para Rodapé 1"/>
          <p:cNvSpPr>
            <a:spLocks noGrp="1"/>
          </p:cNvSpPr>
          <p:nvPr>
            <p:ph type="ftr" sz="quarter" idx="11"/>
          </p:nvPr>
        </p:nvSpPr>
        <p:spPr>
          <a:xfrm>
            <a:off x="4038601" y="6457808"/>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3" name="CaixaDeTexto 12">
            <a:extLst>
              <a:ext uri="{FF2B5EF4-FFF2-40B4-BE49-F238E27FC236}">
                <a16:creationId xmlns:a16="http://schemas.microsoft.com/office/drawing/2014/main" xmlns="" id="{AF27F5EA-A710-4BC6-BAF2-F13947371E72}"/>
              </a:ext>
            </a:extLst>
          </p:cNvPr>
          <p:cNvSpPr txBox="1"/>
          <p:nvPr/>
        </p:nvSpPr>
        <p:spPr>
          <a:xfrm>
            <a:off x="320712" y="1391390"/>
            <a:ext cx="1121164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Os</a:t>
            </a:r>
            <a:r>
              <a:rPr kumimoji="0" lang="pt-BR" sz="3200" b="1" i="0" u="none" strike="noStrike" kern="1200" cap="none" spc="0" normalizeH="0" noProof="0" dirty="0" smtClean="0">
                <a:ln>
                  <a:noFill/>
                </a:ln>
                <a:solidFill>
                  <a:prstClr val="black"/>
                </a:solidFill>
                <a:effectLst/>
                <a:uLnTx/>
                <a:uFillTx/>
                <a:latin typeface="Gill Sans MT" charset="0"/>
                <a:ea typeface="Gill Sans MT" charset="0"/>
                <a:cs typeface="Gill Sans MT" charset="0"/>
              </a:rPr>
              <a:t> </a:t>
            </a:r>
            <a:r>
              <a:rPr kumimoji="0" lang="pt-BR" sz="32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Problemas desses Modelos Tradicionais...</a:t>
            </a:r>
            <a:endParaRPr kumimoji="0" lang="pt-BR" sz="32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8" name="CaixaDeTexto 7"/>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277289196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8" name="Imagem 2"/>
          <p:cNvPicPr>
            <a:picLocks noChangeAspect="1"/>
          </p:cNvPicPr>
          <p:nvPr/>
        </p:nvPicPr>
        <p:blipFill>
          <a:blip r:embed="rId2" cstate="print"/>
          <a:srcRect l="3300" t="9483" r="2594" b="16772"/>
          <a:stretch>
            <a:fillRect/>
          </a:stretch>
        </p:blipFill>
        <p:spPr bwMode="auto">
          <a:xfrm>
            <a:off x="300567" y="1557338"/>
            <a:ext cx="10945284" cy="4824412"/>
          </a:xfrm>
          <a:prstGeom prst="rect">
            <a:avLst/>
          </a:prstGeom>
          <a:noFill/>
          <a:ln w="9525">
            <a:noFill/>
            <a:miter lim="800000"/>
            <a:headEnd/>
            <a:tailEnd/>
          </a:ln>
        </p:spPr>
      </p:pic>
      <p:sp>
        <p:nvSpPr>
          <p:cNvPr id="6" name="Título 1"/>
          <p:cNvSpPr>
            <a:spLocks noGrp="1"/>
          </p:cNvSpPr>
          <p:nvPr>
            <p:ph type="title"/>
          </p:nvPr>
        </p:nvSpPr>
        <p:spPr>
          <a:xfrm>
            <a:off x="1750485" y="215901"/>
            <a:ext cx="10585449" cy="765175"/>
          </a:xfrm>
        </p:spPr>
        <p:txBody>
          <a:bodyPr rtlCol="0">
            <a:normAutofit/>
          </a:bodyPr>
          <a:lstStyle/>
          <a:p>
            <a:pPr marL="342900" indent="-342900" eaLnBrk="1" fontAlgn="auto" hangingPunct="1">
              <a:spcBef>
                <a:spcPct val="20000"/>
              </a:spcBef>
              <a:spcAft>
                <a:spcPts val="0"/>
              </a:spcAft>
              <a:defRPr/>
            </a:pPr>
            <a:r>
              <a:rPr lang="pt-BR" b="1" dirty="0">
                <a:ea typeface="+mn-ea"/>
                <a:cs typeface="+mn-cs"/>
              </a:rPr>
              <a:t>O problema do Modelo Tradicional</a:t>
            </a:r>
          </a:p>
        </p:txBody>
      </p:sp>
      <p:sp>
        <p:nvSpPr>
          <p:cNvPr id="7" name="CaixaDeTexto 6"/>
          <p:cNvSpPr txBox="1"/>
          <p:nvPr/>
        </p:nvSpPr>
        <p:spPr>
          <a:xfrm>
            <a:off x="334434" y="838201"/>
            <a:ext cx="11330517" cy="646113"/>
          </a:xfrm>
          <a:prstGeom prst="rect">
            <a:avLst/>
          </a:prstGeom>
          <a:noFill/>
        </p:spPr>
        <p:txBody>
          <a:bodyPr>
            <a:spAutoFit/>
          </a:bodyPr>
          <a:lstStyle/>
          <a:p>
            <a:pPr algn="ctr" eaLnBrk="1" fontAlgn="auto" hangingPunct="1">
              <a:spcBef>
                <a:spcPts val="0"/>
              </a:spcBef>
              <a:spcAft>
                <a:spcPts val="0"/>
              </a:spcAft>
              <a:defRPr/>
            </a:pPr>
            <a:r>
              <a:rPr lang="pt-BR" b="1" dirty="0">
                <a:solidFill>
                  <a:schemeClr val="tx1">
                    <a:lumMod val="65000"/>
                    <a:lumOff val="35000"/>
                  </a:schemeClr>
                </a:solidFill>
                <a:latin typeface="Segoe UI Light" pitchFamily="34" charset="0"/>
                <a:cs typeface="+mn-cs"/>
              </a:rPr>
              <a:t>Muito Trabalho e pouca entrega!!!!!</a:t>
            </a:r>
          </a:p>
          <a:p>
            <a:pPr eaLnBrk="1" fontAlgn="auto" hangingPunct="1">
              <a:spcBef>
                <a:spcPts val="0"/>
              </a:spcBef>
              <a:spcAft>
                <a:spcPts val="0"/>
              </a:spcAft>
              <a:defRPr/>
            </a:pPr>
            <a:endParaRPr lang="pt-BR" dirty="0">
              <a:solidFill>
                <a:schemeClr val="tx1">
                  <a:lumMod val="65000"/>
                  <a:lumOff val="35000"/>
                </a:schemeClr>
              </a:solidFill>
              <a:latin typeface="Segoe UI Light" pitchFamily="34" charset="0"/>
              <a:cs typeface="+mn-cs"/>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tângulo: Cantos Arredondados 23"/>
          <p:cNvSpPr/>
          <p:nvPr/>
        </p:nvSpPr>
        <p:spPr>
          <a:xfrm>
            <a:off x="3785375" y="3854552"/>
            <a:ext cx="3343428" cy="2672862"/>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Seta: Divisa 4"/>
          <p:cNvSpPr/>
          <p:nvPr/>
        </p:nvSpPr>
        <p:spPr>
          <a:xfrm>
            <a:off x="675247" y="559188"/>
            <a:ext cx="1868656" cy="50643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Requisito</a:t>
            </a:r>
          </a:p>
        </p:txBody>
      </p:sp>
      <p:sp>
        <p:nvSpPr>
          <p:cNvPr id="6" name="Seta: Divisa 5"/>
          <p:cNvSpPr/>
          <p:nvPr/>
        </p:nvSpPr>
        <p:spPr>
          <a:xfrm>
            <a:off x="2346957" y="559188"/>
            <a:ext cx="1868656" cy="50643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Anal. Requisito</a:t>
            </a:r>
          </a:p>
        </p:txBody>
      </p:sp>
      <p:sp>
        <p:nvSpPr>
          <p:cNvPr id="7" name="Seta: Divisa 6"/>
          <p:cNvSpPr/>
          <p:nvPr/>
        </p:nvSpPr>
        <p:spPr>
          <a:xfrm>
            <a:off x="4018675" y="559188"/>
            <a:ext cx="1868656" cy="50643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Modelagem</a:t>
            </a:r>
          </a:p>
        </p:txBody>
      </p:sp>
      <p:sp>
        <p:nvSpPr>
          <p:cNvPr id="8" name="Seta: Divisa 7"/>
          <p:cNvSpPr/>
          <p:nvPr/>
        </p:nvSpPr>
        <p:spPr>
          <a:xfrm>
            <a:off x="5690384" y="556841"/>
            <a:ext cx="1868656" cy="50643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Codificação</a:t>
            </a:r>
          </a:p>
        </p:txBody>
      </p:sp>
      <p:sp>
        <p:nvSpPr>
          <p:cNvPr id="9" name="Seta: Divisa 8"/>
          <p:cNvSpPr/>
          <p:nvPr/>
        </p:nvSpPr>
        <p:spPr>
          <a:xfrm>
            <a:off x="7348025" y="556841"/>
            <a:ext cx="1868656" cy="50643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Teste</a:t>
            </a:r>
          </a:p>
        </p:txBody>
      </p:sp>
      <p:sp>
        <p:nvSpPr>
          <p:cNvPr id="10" name="Seta: Divisa 9"/>
          <p:cNvSpPr/>
          <p:nvPr/>
        </p:nvSpPr>
        <p:spPr>
          <a:xfrm>
            <a:off x="9005666" y="556841"/>
            <a:ext cx="1868656" cy="50643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Produção</a:t>
            </a:r>
          </a:p>
        </p:txBody>
      </p:sp>
      <p:sp>
        <p:nvSpPr>
          <p:cNvPr id="11" name="Retângulo: Cantos Arredondados 10"/>
          <p:cNvSpPr/>
          <p:nvPr/>
        </p:nvSpPr>
        <p:spPr>
          <a:xfrm>
            <a:off x="773721" y="140677"/>
            <a:ext cx="9692640" cy="281354"/>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Modelo Tradicional (Cascata)</a:t>
            </a:r>
          </a:p>
        </p:txBody>
      </p:sp>
      <p:sp>
        <p:nvSpPr>
          <p:cNvPr id="12" name="Seta: Divisa 11"/>
          <p:cNvSpPr/>
          <p:nvPr/>
        </p:nvSpPr>
        <p:spPr>
          <a:xfrm>
            <a:off x="2116015" y="2287179"/>
            <a:ext cx="1868656" cy="50643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Requisito</a:t>
            </a:r>
          </a:p>
        </p:txBody>
      </p:sp>
      <p:sp>
        <p:nvSpPr>
          <p:cNvPr id="13" name="Seta: Divisa 12"/>
          <p:cNvSpPr/>
          <p:nvPr/>
        </p:nvSpPr>
        <p:spPr>
          <a:xfrm>
            <a:off x="3773658" y="2287179"/>
            <a:ext cx="1868656" cy="50643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Planejamento</a:t>
            </a:r>
          </a:p>
        </p:txBody>
      </p:sp>
      <p:sp>
        <p:nvSpPr>
          <p:cNvPr id="14" name="Seta: Divisa 13"/>
          <p:cNvSpPr/>
          <p:nvPr/>
        </p:nvSpPr>
        <p:spPr>
          <a:xfrm>
            <a:off x="5445369" y="2287179"/>
            <a:ext cx="1868656" cy="50643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Codificação</a:t>
            </a:r>
          </a:p>
        </p:txBody>
      </p:sp>
      <p:sp>
        <p:nvSpPr>
          <p:cNvPr id="15" name="Seta: Divisa 14"/>
          <p:cNvSpPr/>
          <p:nvPr/>
        </p:nvSpPr>
        <p:spPr>
          <a:xfrm>
            <a:off x="6207372" y="2846368"/>
            <a:ext cx="1196925" cy="29072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Teste</a:t>
            </a:r>
          </a:p>
        </p:txBody>
      </p:sp>
      <p:sp>
        <p:nvSpPr>
          <p:cNvPr id="16" name="Seta: Divisa 15"/>
          <p:cNvSpPr/>
          <p:nvPr/>
        </p:nvSpPr>
        <p:spPr>
          <a:xfrm>
            <a:off x="7128803" y="2287179"/>
            <a:ext cx="1868656" cy="50643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Produção</a:t>
            </a:r>
          </a:p>
        </p:txBody>
      </p:sp>
      <p:sp>
        <p:nvSpPr>
          <p:cNvPr id="17" name="Retângulo: Cantos Arredondados 16"/>
          <p:cNvSpPr/>
          <p:nvPr/>
        </p:nvSpPr>
        <p:spPr>
          <a:xfrm>
            <a:off x="1983544" y="1657654"/>
            <a:ext cx="7233137" cy="436094"/>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Modelo </a:t>
            </a:r>
            <a:r>
              <a:rPr lang="pt-BR" dirty="0" err="1"/>
              <a:t>Agile</a:t>
            </a:r>
            <a:endParaRPr lang="pt-BR" dirty="0"/>
          </a:p>
        </p:txBody>
      </p:sp>
      <p:sp>
        <p:nvSpPr>
          <p:cNvPr id="18" name="Seta: Divisa 17"/>
          <p:cNvSpPr/>
          <p:nvPr/>
        </p:nvSpPr>
        <p:spPr>
          <a:xfrm>
            <a:off x="5215597" y="2846367"/>
            <a:ext cx="1196925" cy="29072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Des</a:t>
            </a:r>
          </a:p>
        </p:txBody>
      </p:sp>
      <p:sp>
        <p:nvSpPr>
          <p:cNvPr id="19" name="Smiley 18"/>
          <p:cNvSpPr/>
          <p:nvPr/>
        </p:nvSpPr>
        <p:spPr>
          <a:xfrm>
            <a:off x="4719703" y="4079635"/>
            <a:ext cx="565057" cy="534573"/>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CaixaDeTexto 19"/>
          <p:cNvSpPr txBox="1"/>
          <p:nvPr/>
        </p:nvSpPr>
        <p:spPr>
          <a:xfrm>
            <a:off x="4543856" y="4614208"/>
            <a:ext cx="916749" cy="646331"/>
          </a:xfrm>
          <a:prstGeom prst="rect">
            <a:avLst/>
          </a:prstGeom>
          <a:noFill/>
        </p:spPr>
        <p:txBody>
          <a:bodyPr wrap="square" rtlCol="0">
            <a:spAutoFit/>
          </a:bodyPr>
          <a:lstStyle/>
          <a:p>
            <a:r>
              <a:rPr lang="pt-BR" dirty="0" err="1"/>
              <a:t>Scrum</a:t>
            </a:r>
            <a:r>
              <a:rPr lang="pt-BR" dirty="0"/>
              <a:t> Master</a:t>
            </a:r>
          </a:p>
        </p:txBody>
      </p:sp>
      <p:sp>
        <p:nvSpPr>
          <p:cNvPr id="21" name="Smiley 20"/>
          <p:cNvSpPr/>
          <p:nvPr/>
        </p:nvSpPr>
        <p:spPr>
          <a:xfrm>
            <a:off x="5629418" y="4093702"/>
            <a:ext cx="565057" cy="534573"/>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CaixaDeTexto 21"/>
          <p:cNvSpPr txBox="1"/>
          <p:nvPr/>
        </p:nvSpPr>
        <p:spPr>
          <a:xfrm>
            <a:off x="5453571" y="4628275"/>
            <a:ext cx="916749" cy="369332"/>
          </a:xfrm>
          <a:prstGeom prst="rect">
            <a:avLst/>
          </a:prstGeom>
          <a:noFill/>
        </p:spPr>
        <p:txBody>
          <a:bodyPr wrap="square" rtlCol="0">
            <a:spAutoFit/>
          </a:bodyPr>
          <a:lstStyle/>
          <a:p>
            <a:r>
              <a:rPr lang="pt-BR" dirty="0"/>
              <a:t>PO</a:t>
            </a:r>
          </a:p>
        </p:txBody>
      </p:sp>
      <p:sp>
        <p:nvSpPr>
          <p:cNvPr id="23" name="Elipse 22"/>
          <p:cNvSpPr/>
          <p:nvPr/>
        </p:nvSpPr>
        <p:spPr>
          <a:xfrm>
            <a:off x="4831074" y="5190983"/>
            <a:ext cx="2161741" cy="1098063"/>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smtClean="0">
                <a:solidFill>
                  <a:schemeClr val="tx1"/>
                </a:solidFill>
              </a:rPr>
              <a:t>Desenvolvedores e</a:t>
            </a:r>
          </a:p>
          <a:p>
            <a:pPr algn="ctr"/>
            <a:r>
              <a:rPr lang="pt-BR" sz="1400" dirty="0" smtClean="0">
                <a:solidFill>
                  <a:schemeClr val="tx1"/>
                </a:solidFill>
              </a:rPr>
              <a:t>Testador</a:t>
            </a:r>
            <a:endParaRPr lang="pt-BR" sz="1400" dirty="0">
              <a:solidFill>
                <a:schemeClr val="tx1"/>
              </a:solidFill>
            </a:endParaRPr>
          </a:p>
        </p:txBody>
      </p:sp>
      <p:sp>
        <p:nvSpPr>
          <p:cNvPr id="25" name="CaixaDeTexto 24"/>
          <p:cNvSpPr txBox="1"/>
          <p:nvPr/>
        </p:nvSpPr>
        <p:spPr>
          <a:xfrm>
            <a:off x="4028042" y="3511068"/>
            <a:ext cx="1948375" cy="369332"/>
          </a:xfrm>
          <a:prstGeom prst="rect">
            <a:avLst/>
          </a:prstGeom>
          <a:noFill/>
        </p:spPr>
        <p:txBody>
          <a:bodyPr wrap="square" rtlCol="0">
            <a:spAutoFit/>
          </a:bodyPr>
          <a:lstStyle/>
          <a:p>
            <a:r>
              <a:rPr lang="pt-BR" dirty="0" smtClean="0"/>
              <a:t>Equipe</a:t>
            </a:r>
            <a:endParaRPr lang="pt-BR" dirty="0"/>
          </a:p>
        </p:txBody>
      </p:sp>
      <p:sp>
        <p:nvSpPr>
          <p:cNvPr id="26" name="CaixaDeTexto 25"/>
          <p:cNvSpPr txBox="1"/>
          <p:nvPr/>
        </p:nvSpPr>
        <p:spPr>
          <a:xfrm>
            <a:off x="5799692" y="4882668"/>
            <a:ext cx="1948375" cy="369332"/>
          </a:xfrm>
          <a:prstGeom prst="rect">
            <a:avLst/>
          </a:prstGeom>
          <a:noFill/>
        </p:spPr>
        <p:txBody>
          <a:bodyPr wrap="square" rtlCol="0">
            <a:spAutoFit/>
          </a:bodyPr>
          <a:lstStyle/>
          <a:p>
            <a:r>
              <a:rPr lang="pt-BR" dirty="0" smtClean="0"/>
              <a:t>Time</a:t>
            </a:r>
            <a:endParaRPr lang="pt-BR" dirty="0"/>
          </a:p>
        </p:txBody>
      </p:sp>
    </p:spTree>
    <p:extLst>
      <p:ext uri="{BB962C8B-B14F-4D97-AF65-F5344CB8AC3E}">
        <p14:creationId xmlns="" xmlns:p14="http://schemas.microsoft.com/office/powerpoint/2010/main" val="329826511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upo 10"/>
          <p:cNvGrpSpPr/>
          <p:nvPr/>
        </p:nvGrpSpPr>
        <p:grpSpPr>
          <a:xfrm>
            <a:off x="7042250" y="1715869"/>
            <a:ext cx="4509672" cy="3988896"/>
            <a:chOff x="2473354" y="1603376"/>
            <a:chExt cx="7462279" cy="4694192"/>
          </a:xfrm>
        </p:grpSpPr>
        <p:pic>
          <p:nvPicPr>
            <p:cNvPr id="12" name="Picture 2" descr="Resultado de imagem para Manifesto Ágil"/>
            <p:cNvPicPr>
              <a:picLocks noChangeAspect="1" noChangeArrowheads="1"/>
            </p:cNvPicPr>
            <p:nvPr/>
          </p:nvPicPr>
          <p:blipFill>
            <a:blip r:embed="rId3" cstate="print"/>
            <a:srcRect/>
            <a:stretch>
              <a:fillRect/>
            </a:stretch>
          </p:blipFill>
          <p:spPr bwMode="auto">
            <a:xfrm>
              <a:off x="2735486" y="1772382"/>
              <a:ext cx="7200147" cy="4490307"/>
            </a:xfrm>
            <a:prstGeom prst="rect">
              <a:avLst/>
            </a:prstGeom>
            <a:noFill/>
            <a:ln w="9525">
              <a:noFill/>
              <a:miter lim="800000"/>
              <a:headEnd/>
              <a:tailEnd/>
            </a:ln>
          </p:spPr>
        </p:pic>
        <p:sp>
          <p:nvSpPr>
            <p:cNvPr id="13" name="Retângulo 12"/>
            <p:cNvSpPr/>
            <p:nvPr/>
          </p:nvSpPr>
          <p:spPr bwMode="auto">
            <a:xfrm>
              <a:off x="2639484" y="1603376"/>
              <a:ext cx="3359149" cy="6016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4" name="Retângulo 13"/>
            <p:cNvSpPr/>
            <p:nvPr/>
          </p:nvSpPr>
          <p:spPr bwMode="auto">
            <a:xfrm>
              <a:off x="7920566" y="5084764"/>
              <a:ext cx="1390651" cy="4333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5" name="Retângulo 14"/>
            <p:cNvSpPr/>
            <p:nvPr/>
          </p:nvSpPr>
          <p:spPr bwMode="auto">
            <a:xfrm>
              <a:off x="6599766" y="4652964"/>
              <a:ext cx="1390651" cy="431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6" name="Retângulo 15"/>
            <p:cNvSpPr/>
            <p:nvPr/>
          </p:nvSpPr>
          <p:spPr bwMode="auto">
            <a:xfrm>
              <a:off x="7589640" y="5602924"/>
              <a:ext cx="1390651" cy="4333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7" name="Retângulo 16"/>
            <p:cNvSpPr/>
            <p:nvPr/>
          </p:nvSpPr>
          <p:spPr bwMode="auto">
            <a:xfrm>
              <a:off x="7742040" y="5755324"/>
              <a:ext cx="1390651" cy="4333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8" name="Retângulo 17"/>
            <p:cNvSpPr/>
            <p:nvPr/>
          </p:nvSpPr>
          <p:spPr bwMode="auto">
            <a:xfrm>
              <a:off x="4027834" y="5698718"/>
              <a:ext cx="1390651" cy="4333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9" name="Retângulo 18"/>
            <p:cNvSpPr/>
            <p:nvPr/>
          </p:nvSpPr>
          <p:spPr bwMode="auto">
            <a:xfrm>
              <a:off x="6636052" y="4714650"/>
              <a:ext cx="1390651" cy="4333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sz="2400" b="1" dirty="0" smtClean="0">
                  <a:solidFill>
                    <a:schemeClr val="tx1"/>
                  </a:solidFill>
                </a:rPr>
                <a:t>KANBAN</a:t>
              </a:r>
              <a:endParaRPr lang="pt-BR" sz="2400" b="1" dirty="0">
                <a:solidFill>
                  <a:schemeClr val="tx1"/>
                </a:solidFill>
              </a:endParaRPr>
            </a:p>
          </p:txBody>
        </p:sp>
        <p:sp>
          <p:nvSpPr>
            <p:cNvPr id="20" name="Retângulo 19"/>
            <p:cNvSpPr/>
            <p:nvPr/>
          </p:nvSpPr>
          <p:spPr bwMode="auto">
            <a:xfrm>
              <a:off x="2473354" y="5346021"/>
              <a:ext cx="1223435" cy="4333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21" name="Retângulo 20"/>
            <p:cNvSpPr/>
            <p:nvPr/>
          </p:nvSpPr>
          <p:spPr bwMode="auto">
            <a:xfrm>
              <a:off x="3979938" y="5729198"/>
              <a:ext cx="1390651" cy="4333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sz="2400" dirty="0" smtClean="0">
                  <a:solidFill>
                    <a:schemeClr val="tx1"/>
                  </a:solidFill>
                </a:rPr>
                <a:t>TDD</a:t>
              </a:r>
              <a:endParaRPr lang="pt-BR" sz="2400" dirty="0">
                <a:solidFill>
                  <a:schemeClr val="tx1"/>
                </a:solidFill>
              </a:endParaRPr>
            </a:p>
          </p:txBody>
        </p:sp>
        <p:sp>
          <p:nvSpPr>
            <p:cNvPr id="22" name="Retângulo 21"/>
            <p:cNvSpPr/>
            <p:nvPr/>
          </p:nvSpPr>
          <p:spPr bwMode="auto">
            <a:xfrm>
              <a:off x="7959755" y="5424398"/>
              <a:ext cx="1390651" cy="4333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sz="2400" dirty="0" smtClean="0">
                  <a:solidFill>
                    <a:schemeClr val="tx1"/>
                  </a:solidFill>
                </a:rPr>
                <a:t>ATDD</a:t>
              </a:r>
              <a:endParaRPr lang="pt-BR" sz="2400" dirty="0">
                <a:solidFill>
                  <a:schemeClr val="tx1"/>
                </a:solidFill>
              </a:endParaRPr>
            </a:p>
          </p:txBody>
        </p:sp>
        <p:sp>
          <p:nvSpPr>
            <p:cNvPr id="23" name="Retângulo 22"/>
            <p:cNvSpPr/>
            <p:nvPr/>
          </p:nvSpPr>
          <p:spPr bwMode="auto">
            <a:xfrm>
              <a:off x="6557675" y="5864181"/>
              <a:ext cx="1390651" cy="4333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sz="2400" dirty="0" smtClean="0">
                  <a:solidFill>
                    <a:schemeClr val="tx1"/>
                  </a:solidFill>
                </a:rPr>
                <a:t>BDD</a:t>
              </a:r>
              <a:endParaRPr lang="pt-BR" sz="2400" dirty="0">
                <a:solidFill>
                  <a:schemeClr val="tx1"/>
                </a:solidFill>
              </a:endParaRPr>
            </a:p>
          </p:txBody>
        </p:sp>
      </p:grpSp>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8" name="Retângulo 7">
            <a:extLst>
              <a:ext uri="{FF2B5EF4-FFF2-40B4-BE49-F238E27FC236}">
                <a16:creationId xmlns:a16="http://schemas.microsoft.com/office/drawing/2014/main" xmlns="" id="{59E32DAF-E10B-42BA-ADD9-F9DCCF6B15E9}"/>
              </a:ext>
            </a:extLst>
          </p:cNvPr>
          <p:cNvSpPr/>
          <p:nvPr/>
        </p:nvSpPr>
        <p:spPr>
          <a:xfrm>
            <a:off x="320712" y="2254673"/>
            <a:ext cx="6929826" cy="2554545"/>
          </a:xfrm>
          <a:prstGeom prst="rect">
            <a:avLst/>
          </a:prstGeom>
        </p:spPr>
        <p:txBody>
          <a:bodyPr wrap="square">
            <a:spAutoFit/>
          </a:bodyPr>
          <a:lstStyle/>
          <a:p>
            <a:pPr marL="450850" marR="0" lvl="0" indent="-450850" algn="just"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a:ln>
                  <a:noFill/>
                </a:ln>
                <a:solidFill>
                  <a:srgbClr val="333333"/>
                </a:solidFill>
                <a:effectLst/>
                <a:uLnTx/>
                <a:uFillTx/>
                <a:latin typeface="Calibri"/>
                <a:ea typeface="+mn-ea"/>
                <a:cs typeface="+mn-cs"/>
              </a:rPr>
              <a:t>Opção eficiente para entregar resultados no prazo esperado com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qualidade</a:t>
            </a:r>
            <a:r>
              <a:rPr kumimoji="0" lang="pt-BR" sz="2000" b="0" i="0" u="none" strike="noStrike" kern="1200" cap="none" spc="0" normalizeH="0" baseline="0" noProof="0" dirty="0">
                <a:ln>
                  <a:noFill/>
                </a:ln>
                <a:solidFill>
                  <a:srgbClr val="333333"/>
                </a:solidFill>
                <a:effectLst/>
                <a:uLnTx/>
                <a:uFillTx/>
                <a:latin typeface="Calibri"/>
                <a:ea typeface="+mn-ea"/>
                <a:cs typeface="+mn-cs"/>
              </a:rPr>
              <a:t>;</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 </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just"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Melhor </a:t>
            </a:r>
            <a:r>
              <a:rPr kumimoji="0" lang="pt-BR" sz="2000" b="0" i="0" u="none" strike="noStrike" kern="1200" cap="none" spc="0" normalizeH="0" baseline="0" noProof="0" dirty="0">
                <a:ln>
                  <a:noFill/>
                </a:ln>
                <a:solidFill>
                  <a:srgbClr val="333333"/>
                </a:solidFill>
                <a:effectLst/>
                <a:uLnTx/>
                <a:uFillTx/>
                <a:latin typeface="Calibri"/>
                <a:ea typeface="+mn-ea"/>
                <a:cs typeface="+mn-cs"/>
              </a:rPr>
              <a:t>geração de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valor;</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just"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Flexibilidade;</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just"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Agilidade;</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just"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a:ln>
                  <a:noFill/>
                </a:ln>
                <a:solidFill>
                  <a:srgbClr val="333333"/>
                </a:solidFill>
                <a:effectLst/>
                <a:uLnTx/>
                <a:uFillTx/>
                <a:latin typeface="Calibri"/>
                <a:ea typeface="+mn-ea"/>
                <a:cs typeface="+mn-cs"/>
              </a:rPr>
              <a:t>Foco no desenvolvimento do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software.</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p:txBody>
      </p:sp>
      <p:sp>
        <p:nvSpPr>
          <p:cNvPr id="2" name="Espaço Reservado para Rodapé 1"/>
          <p:cNvSpPr>
            <a:spLocks noGrp="1"/>
          </p:cNvSpPr>
          <p:nvPr>
            <p:ph type="ftr" sz="quarter" idx="11"/>
          </p:nvPr>
        </p:nvSpPr>
        <p:spPr>
          <a:xfrm>
            <a:off x="4038601" y="6430368"/>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t>By CTS </a:t>
            </a:r>
            <a:r>
              <a:rPr kumimoji="0" lang="en-US" sz="1200" b="0" i="0" u="none" strike="noStrike" kern="1200" cap="none" spc="0" normalizeH="0" baseline="0" noProof="0" dirty="0" err="1" smtClean="0">
                <a:ln>
                  <a:noFill/>
                </a:ln>
                <a:solidFill>
                  <a:prstClr val="black">
                    <a:tint val="75000"/>
                  </a:prstClr>
                </a:solidFill>
                <a:effectLst/>
                <a:uLnTx/>
                <a:uFillTx/>
                <a:latin typeface="Calibri"/>
                <a:ea typeface="+mn-ea"/>
                <a:cs typeface="+mn-cs"/>
              </a:rPr>
              <a:t>Consultoria</a:t>
            </a:r>
            <a:r>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t>.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CaixaDeTexto 6">
            <a:extLst>
              <a:ext uri="{FF2B5EF4-FFF2-40B4-BE49-F238E27FC236}">
                <a16:creationId xmlns:a16="http://schemas.microsoft.com/office/drawing/2014/main" xmlns="" id="{AF27F5EA-A710-4BC6-BAF2-F13947371E72}"/>
              </a:ext>
            </a:extLst>
          </p:cNvPr>
          <p:cNvSpPr txBox="1"/>
          <p:nvPr/>
        </p:nvSpPr>
        <p:spPr>
          <a:xfrm>
            <a:off x="559430" y="1101522"/>
            <a:ext cx="315253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rPr>
              <a:t> Modelo </a:t>
            </a:r>
            <a:r>
              <a:rPr kumimoji="0" lang="pt-BR" sz="3200" b="1" i="0" u="none" strike="noStrike" kern="1200" cap="none" spc="0" normalizeH="0" baseline="0" noProof="0" dirty="0" smtClean="0">
                <a:ln>
                  <a:noFill/>
                </a:ln>
                <a:solidFill>
                  <a:prstClr val="black"/>
                </a:solidFill>
                <a:effectLst/>
                <a:uLnTx/>
                <a:uFillTx/>
                <a:latin typeface="+mj-lt"/>
                <a:ea typeface="Gill Sans MT" charset="0"/>
                <a:cs typeface="Gill Sans MT" charset="0"/>
              </a:rPr>
              <a:t>Ágil</a:t>
            </a:r>
            <a:endPar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endParaRPr>
          </a:p>
        </p:txBody>
      </p:sp>
      <p:sp>
        <p:nvSpPr>
          <p:cNvPr id="10" name="CaixaDeTexto 9"/>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1399667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476824" y="6508049"/>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63" name="CaixaDeTexto 62"/>
          <p:cNvSpPr txBox="1"/>
          <p:nvPr/>
        </p:nvSpPr>
        <p:spPr>
          <a:xfrm>
            <a:off x="235252" y="1167044"/>
            <a:ext cx="8282449"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400" b="1" i="0" u="none" strike="noStrike" kern="1200" cap="none" spc="0" normalizeH="0" baseline="0" noProof="0" dirty="0">
                <a:ln>
                  <a:noFill/>
                </a:ln>
                <a:solidFill>
                  <a:prstClr val="black"/>
                </a:solidFill>
                <a:effectLst/>
                <a:uLnTx/>
                <a:uFillTx/>
                <a:latin typeface="Gill Sans MT" charset="0"/>
                <a:ea typeface="Gill Sans MT" charset="0"/>
                <a:cs typeface="Gill Sans MT" charset="0"/>
              </a:rPr>
              <a:t>Por que </a:t>
            </a:r>
            <a:r>
              <a:rPr kumimoji="0" lang="pt-BR" sz="44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Ágil?</a:t>
            </a:r>
            <a:endParaRPr kumimoji="0" lang="pt-BR" sz="44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2" name="Retângulo 1">
            <a:extLst>
              <a:ext uri="{FF2B5EF4-FFF2-40B4-BE49-F238E27FC236}">
                <a16:creationId xmlns:a16="http://schemas.microsoft.com/office/drawing/2014/main" xmlns="" id="{B3311B30-DFD4-4286-BEE1-4A3C67EB655C}"/>
              </a:ext>
            </a:extLst>
          </p:cNvPr>
          <p:cNvSpPr/>
          <p:nvPr/>
        </p:nvSpPr>
        <p:spPr>
          <a:xfrm>
            <a:off x="641423" y="2017916"/>
            <a:ext cx="7028619" cy="1554272"/>
          </a:xfrm>
          <a:prstGeom prst="rect">
            <a:avLst/>
          </a:prstGeom>
        </p:spPr>
        <p:txBody>
          <a:bodyPr wrap="square">
            <a:spAutoFit/>
          </a:bodyPr>
          <a:lstStyle/>
          <a:p>
            <a:pPr marL="450850" marR="0" lvl="0" indent="-450850" algn="l" defTabSz="914400" rtl="0" eaLnBrk="1" fontAlgn="auto" latinLnBrk="0" hangingPunct="1">
              <a:lnSpc>
                <a:spcPct val="100000"/>
              </a:lnSpc>
              <a:spcBef>
                <a:spcPts val="0"/>
              </a:spcBef>
              <a:spcAft>
                <a:spcPts val="600"/>
              </a:spcAft>
              <a:buClrTx/>
              <a:buSzTx/>
              <a:buFont typeface="Wingdings" panose="05000000000000000000" pitchFamily="2" charset="2"/>
              <a:buChar char="v"/>
              <a:tabLst/>
              <a:defRPr/>
            </a:pPr>
            <a:r>
              <a:rPr kumimoji="0" lang="pt-BR" sz="2000" b="0" i="0" u="none" strike="noStrike" kern="1200" cap="none" spc="0" normalizeH="0" baseline="0" noProof="0" dirty="0">
                <a:ln>
                  <a:noFill/>
                </a:ln>
                <a:solidFill>
                  <a:srgbClr val="333333"/>
                </a:solidFill>
                <a:effectLst/>
                <a:uLnTx/>
                <a:uFillTx/>
                <a:latin typeface="Calibri"/>
                <a:ea typeface="+mn-ea"/>
                <a:cs typeface="+mn-cs"/>
              </a:rPr>
              <a:t>As entregas são mais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rápidas;</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l" defTabSz="914400" rtl="0" eaLnBrk="1" fontAlgn="auto" latinLnBrk="0" hangingPunct="1">
              <a:lnSpc>
                <a:spcPct val="100000"/>
              </a:lnSpc>
              <a:spcBef>
                <a:spcPts val="0"/>
              </a:spcBef>
              <a:spcAft>
                <a:spcPts val="600"/>
              </a:spcAft>
              <a:buClrTx/>
              <a:buSzTx/>
              <a:buFont typeface="Wingdings" panose="05000000000000000000" pitchFamily="2" charset="2"/>
              <a:buChar char="v"/>
              <a:tabLst/>
              <a:defRPr/>
            </a:pPr>
            <a:r>
              <a:rPr kumimoji="0" lang="pt-BR" sz="2000" b="0" i="0" u="none" strike="noStrike" kern="1200" cap="none" spc="0" normalizeH="0" baseline="0" noProof="0" dirty="0">
                <a:ln>
                  <a:noFill/>
                </a:ln>
                <a:solidFill>
                  <a:srgbClr val="333333"/>
                </a:solidFill>
                <a:effectLst/>
                <a:uLnTx/>
                <a:uFillTx/>
                <a:latin typeface="Calibri"/>
                <a:ea typeface="+mn-ea"/>
                <a:cs typeface="+mn-cs"/>
              </a:rPr>
              <a:t>Metodologias ágeis deixam o software mais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flexível;</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l" defTabSz="914400" rtl="0" eaLnBrk="1" fontAlgn="auto" latinLnBrk="0" hangingPunct="1">
              <a:lnSpc>
                <a:spcPct val="100000"/>
              </a:lnSpc>
              <a:spcBef>
                <a:spcPts val="0"/>
              </a:spcBef>
              <a:spcAft>
                <a:spcPts val="600"/>
              </a:spcAft>
              <a:buClrTx/>
              <a:buSzTx/>
              <a:buFont typeface="Wingdings" panose="05000000000000000000" pitchFamily="2" charset="2"/>
              <a:buChar char="v"/>
              <a:tabLst/>
              <a:defRPr/>
            </a:pPr>
            <a:r>
              <a:rPr kumimoji="0" lang="pt-BR" sz="2000" b="0" i="0" u="none" strike="noStrike" kern="1200" cap="none" spc="0" normalizeH="0" baseline="0" noProof="0" dirty="0">
                <a:ln>
                  <a:noFill/>
                </a:ln>
                <a:solidFill>
                  <a:srgbClr val="333333"/>
                </a:solidFill>
                <a:effectLst/>
                <a:uLnTx/>
                <a:uFillTx/>
                <a:latin typeface="Calibri"/>
                <a:ea typeface="+mn-ea"/>
                <a:cs typeface="+mn-cs"/>
              </a:rPr>
              <a:t>Boa qualidade do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software;</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l" defTabSz="914400" rtl="0" eaLnBrk="1" fontAlgn="auto" latinLnBrk="0" hangingPunct="1">
              <a:lnSpc>
                <a:spcPct val="100000"/>
              </a:lnSpc>
              <a:spcBef>
                <a:spcPts val="0"/>
              </a:spcBef>
              <a:spcAft>
                <a:spcPts val="600"/>
              </a:spcAft>
              <a:buClrTx/>
              <a:buSzTx/>
              <a:buFont typeface="Wingdings" panose="05000000000000000000" pitchFamily="2" charset="2"/>
              <a:buChar char="v"/>
              <a:tabLst/>
              <a:defRPr/>
            </a:pPr>
            <a:r>
              <a:rPr kumimoji="0" lang="pt-BR" sz="2000" b="0" i="0" u="none" strike="noStrike" kern="1200" cap="none" spc="0" normalizeH="0" baseline="0" noProof="0" dirty="0">
                <a:ln>
                  <a:noFill/>
                </a:ln>
                <a:solidFill>
                  <a:srgbClr val="333333"/>
                </a:solidFill>
                <a:effectLst/>
                <a:uLnTx/>
                <a:uFillTx/>
                <a:latin typeface="Calibri"/>
                <a:ea typeface="+mn-ea"/>
                <a:cs typeface="+mn-cs"/>
              </a:rPr>
              <a:t>Proximidade entre os </a:t>
            </a:r>
            <a:r>
              <a:rPr kumimoji="0" lang="pt-BR" sz="2000" b="0" i="0" u="none" strike="noStrike" kern="1200" cap="none" spc="0" normalizeH="0" baseline="0" noProof="0" dirty="0" err="1" smtClean="0">
                <a:ln>
                  <a:noFill/>
                </a:ln>
                <a:solidFill>
                  <a:srgbClr val="333333"/>
                </a:solidFill>
                <a:effectLst/>
                <a:uLnTx/>
                <a:uFillTx/>
                <a:latin typeface="Calibri"/>
                <a:ea typeface="+mn-ea"/>
                <a:cs typeface="+mn-cs"/>
              </a:rPr>
              <a:t>stakeholders</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p:txBody>
      </p:sp>
      <p:pic>
        <p:nvPicPr>
          <p:cNvPr id="7170" name="Picture 2" descr="Resultado de imagem para entregas rapidas">
            <a:extLst>
              <a:ext uri="{FF2B5EF4-FFF2-40B4-BE49-F238E27FC236}">
                <a16:creationId xmlns:a16="http://schemas.microsoft.com/office/drawing/2014/main" xmlns="" id="{C22B945B-1273-4A45-A39B-3E7A32B02BE3}"/>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8517701" y="1581180"/>
            <a:ext cx="3190875" cy="1381125"/>
          </a:xfrm>
          <a:prstGeom prst="rect">
            <a:avLst/>
          </a:prstGeom>
          <a:noFill/>
          <a:extLst>
            <a:ext uri="{909E8E84-426E-40DD-AFC4-6F175D3DCCD1}">
              <a14:hiddenFill xmlns:a14="http://schemas.microsoft.com/office/drawing/2010/main" xmlns="">
                <a:solidFill>
                  <a:srgbClr val="FFFFFF"/>
                </a:solidFill>
              </a14:hiddenFill>
            </a:ext>
          </a:extLst>
        </p:spPr>
      </p:pic>
      <p:pic>
        <p:nvPicPr>
          <p:cNvPr id="7172" name="Picture 4" descr="Resultado de imagem para Por que ágil">
            <a:extLst>
              <a:ext uri="{FF2B5EF4-FFF2-40B4-BE49-F238E27FC236}">
                <a16:creationId xmlns:a16="http://schemas.microsoft.com/office/drawing/2014/main" xmlns="" id="{60916837-612D-4D41-9781-B018D75D21DB}"/>
              </a:ext>
            </a:extLst>
          </p:cNvPr>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827227" y="4000377"/>
            <a:ext cx="6026492" cy="2528011"/>
          </a:xfrm>
          <a:prstGeom prst="rect">
            <a:avLst/>
          </a:prstGeom>
          <a:noFill/>
          <a:extLst>
            <a:ext uri="{909E8E84-426E-40DD-AFC4-6F175D3DCCD1}">
              <a14:hiddenFill xmlns:a14="http://schemas.microsoft.com/office/drawing/2010/main" xmlns="">
                <a:solidFill>
                  <a:srgbClr val="FFFFFF"/>
                </a:solidFill>
              </a14:hiddenFill>
            </a:ext>
          </a:extLst>
        </p:spPr>
      </p:pic>
      <p:pic>
        <p:nvPicPr>
          <p:cNvPr id="7174" name="Picture 6" descr="Resultado de imagem para riscos">
            <a:extLst>
              <a:ext uri="{FF2B5EF4-FFF2-40B4-BE49-F238E27FC236}">
                <a16:creationId xmlns:a16="http://schemas.microsoft.com/office/drawing/2014/main" xmlns="" id="{75479958-7987-44AA-A67B-A21C8F9E3931}"/>
              </a:ext>
            </a:extLst>
          </p:cNvPr>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8153401" y="3116379"/>
            <a:ext cx="3422537" cy="3422537"/>
          </a:xfrm>
          <a:prstGeom prst="rect">
            <a:avLst/>
          </a:prstGeom>
          <a:noFill/>
          <a:extLst>
            <a:ext uri="{909E8E84-426E-40DD-AFC4-6F175D3DCCD1}">
              <a14:hiddenFill xmlns:a14="http://schemas.microsoft.com/office/drawing/2010/main" xmlns="">
                <a:solidFill>
                  <a:srgbClr val="FFFFFF"/>
                </a:solidFill>
              </a14:hiddenFill>
            </a:ext>
          </a:extLst>
        </p:spPr>
      </p:pic>
      <p:sp>
        <p:nvSpPr>
          <p:cNvPr id="7" name="Espaço Reservado para Rodapé 6"/>
          <p:cNvSpPr>
            <a:spLocks noGrp="1"/>
          </p:cNvSpPr>
          <p:nvPr>
            <p:ph type="ftr" sz="quarter" idx="11"/>
          </p:nvPr>
        </p:nvSpPr>
        <p:spPr>
          <a:xfrm>
            <a:off x="4038601" y="6496295"/>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0" name="CaixaDeTexto 9"/>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47895045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2" name="Retângulo 1">
            <a:extLst>
              <a:ext uri="{FF2B5EF4-FFF2-40B4-BE49-F238E27FC236}">
                <a16:creationId xmlns:a16="http://schemas.microsoft.com/office/drawing/2014/main" xmlns="" id="{B3311B30-DFD4-4286-BEE1-4A3C67EB655C}"/>
              </a:ext>
            </a:extLst>
          </p:cNvPr>
          <p:cNvSpPr/>
          <p:nvPr/>
        </p:nvSpPr>
        <p:spPr>
          <a:xfrm>
            <a:off x="235252" y="2496412"/>
            <a:ext cx="5741140" cy="2400657"/>
          </a:xfrm>
          <a:prstGeom prst="rect">
            <a:avLst/>
          </a:prstGeom>
        </p:spPr>
        <p:txBody>
          <a:bodyPr wrap="square">
            <a:spAutoFit/>
          </a:bodyPr>
          <a:lstStyle/>
          <a:p>
            <a:pPr marL="450850" marR="0" lvl="0" indent="-450850" algn="l" defTabSz="914400" rtl="0" eaLnBrk="1" fontAlgn="auto" latinLnBrk="0" hangingPunct="1">
              <a:lnSpc>
                <a:spcPct val="100000"/>
              </a:lnSpc>
              <a:spcBef>
                <a:spcPts val="0"/>
              </a:spcBef>
              <a:spcAft>
                <a:spcPts val="60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Declaração </a:t>
            </a:r>
            <a:r>
              <a:rPr kumimoji="0" lang="pt-BR" sz="2000" b="0" i="0" u="none" strike="noStrike" kern="1200" cap="none" spc="0" normalizeH="0" baseline="0" noProof="0" dirty="0">
                <a:ln>
                  <a:noFill/>
                </a:ln>
                <a:solidFill>
                  <a:srgbClr val="333333"/>
                </a:solidFill>
                <a:effectLst/>
                <a:uLnTx/>
                <a:uFillTx/>
                <a:latin typeface="Calibri"/>
                <a:ea typeface="+mn-ea"/>
                <a:cs typeface="+mn-cs"/>
              </a:rPr>
              <a:t>de valores e princípios essenciais para o desenvolvimento de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software;</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l" defTabSz="914400" rtl="0" eaLnBrk="1" fontAlgn="auto" latinLnBrk="0" hangingPunct="1">
              <a:lnSpc>
                <a:spcPct val="100000"/>
              </a:lnSpc>
              <a:spcBef>
                <a:spcPts val="0"/>
              </a:spcBef>
              <a:spcAft>
                <a:spcPts val="60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Criado </a:t>
            </a:r>
            <a:r>
              <a:rPr kumimoji="0" lang="pt-BR" sz="2000" b="0" i="0" u="none" strike="noStrike" kern="1200" cap="none" spc="0" normalizeH="0" baseline="0" noProof="0" dirty="0">
                <a:ln>
                  <a:noFill/>
                </a:ln>
                <a:solidFill>
                  <a:srgbClr val="333333"/>
                </a:solidFill>
                <a:effectLst/>
                <a:uLnTx/>
                <a:uFillTx/>
                <a:latin typeface="Calibri"/>
                <a:ea typeface="+mn-ea"/>
                <a:cs typeface="+mn-cs"/>
              </a:rPr>
              <a:t>em fevereiro de 2001,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por 17 profissionais </a:t>
            </a:r>
            <a:r>
              <a:rPr kumimoji="0" lang="pt-BR" sz="2000" b="0" i="0" u="none" strike="noStrike" kern="1200" cap="none" spc="0" normalizeH="0" baseline="0" noProof="0" dirty="0">
                <a:ln>
                  <a:noFill/>
                </a:ln>
                <a:solidFill>
                  <a:srgbClr val="333333"/>
                </a:solidFill>
                <a:effectLst/>
                <a:uLnTx/>
                <a:uFillTx/>
                <a:latin typeface="Calibri"/>
                <a:ea typeface="+mn-ea"/>
                <a:cs typeface="+mn-cs"/>
              </a:rPr>
              <a:t>que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praticavam</a:t>
            </a:r>
            <a:r>
              <a:rPr kumimoji="0" lang="pt-BR" sz="2000" b="0" i="0" u="none" strike="noStrike" kern="1200" cap="none" spc="0" normalizeH="0" baseline="0" noProof="0" dirty="0">
                <a:ln>
                  <a:noFill/>
                </a:ln>
                <a:solidFill>
                  <a:srgbClr val="333333"/>
                </a:solidFill>
                <a:effectLst/>
                <a:uLnTx/>
                <a:uFillTx/>
                <a:latin typeface="Calibri"/>
                <a:ea typeface="+mn-ea"/>
                <a:cs typeface="+mn-cs"/>
              </a:rPr>
              <a:t> métodos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como </a:t>
            </a:r>
            <a:r>
              <a:rPr kumimoji="0" lang="pt-BR" sz="2000" b="0" i="0" u="none" strike="noStrike" kern="1200" cap="none" spc="0" normalizeH="0" baseline="0" noProof="0" dirty="0">
                <a:ln>
                  <a:noFill/>
                </a:ln>
                <a:solidFill>
                  <a:srgbClr val="333333"/>
                </a:solidFill>
                <a:effectLst/>
                <a:uLnTx/>
                <a:uFillTx/>
                <a:latin typeface="Calibri"/>
                <a:ea typeface="+mn-ea"/>
                <a:cs typeface="+mn-cs"/>
              </a:rPr>
              <a:t>XP, DSDM,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SCRUM e FDD;</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l" defTabSz="914400" rtl="0" eaLnBrk="1" fontAlgn="auto" latinLnBrk="0" hangingPunct="1">
              <a:lnSpc>
                <a:spcPct val="100000"/>
              </a:lnSpc>
              <a:spcBef>
                <a:spcPts val="0"/>
              </a:spcBef>
              <a:spcAft>
                <a:spcPts val="60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Corresponde aos pontos comuns </a:t>
            </a:r>
            <a:r>
              <a:rPr kumimoji="0" lang="pt-BR" sz="2000" b="0" i="0" u="none" strike="noStrike" kern="1200" cap="none" spc="0" normalizeH="0" baseline="0" noProof="0" dirty="0">
                <a:ln>
                  <a:noFill/>
                </a:ln>
                <a:solidFill>
                  <a:srgbClr val="333333"/>
                </a:solidFill>
                <a:effectLst/>
                <a:uLnTx/>
                <a:uFillTx/>
                <a:latin typeface="Calibri"/>
                <a:ea typeface="+mn-ea"/>
                <a:cs typeface="+mn-cs"/>
              </a:rPr>
              <a:t>de projetos que tiveram sucesso em suas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metodologias.</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p:txBody>
      </p:sp>
      <p:pic>
        <p:nvPicPr>
          <p:cNvPr id="8194" name="Picture 2" descr="Manifesto Ágil - Autores">
            <a:extLst>
              <a:ext uri="{FF2B5EF4-FFF2-40B4-BE49-F238E27FC236}">
                <a16:creationId xmlns:a16="http://schemas.microsoft.com/office/drawing/2014/main" xmlns="" id="{3D94133A-4020-401A-B5D4-BF6DA25D149C}"/>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202621" y="1594992"/>
            <a:ext cx="5696457" cy="3906142"/>
          </a:xfrm>
          <a:prstGeom prst="rect">
            <a:avLst/>
          </a:prstGeom>
          <a:noFill/>
          <a:extLst>
            <a:ext uri="{909E8E84-426E-40DD-AFC4-6F175D3DCCD1}">
              <a14:hiddenFill xmlns:a14="http://schemas.microsoft.com/office/drawing/2010/main" xmlns="">
                <a:solidFill>
                  <a:srgbClr val="FFFFFF"/>
                </a:solidFill>
              </a14:hiddenFill>
            </a:ext>
          </a:extLst>
        </p:spPr>
      </p:pic>
      <p:sp>
        <p:nvSpPr>
          <p:cNvPr id="15" name="Retângulo 14">
            <a:extLst>
              <a:ext uri="{FF2B5EF4-FFF2-40B4-BE49-F238E27FC236}">
                <a16:creationId xmlns:a16="http://schemas.microsoft.com/office/drawing/2014/main" xmlns="" id="{8F2EC8F6-826C-4223-9C27-CD51F25D158C}"/>
              </a:ext>
            </a:extLst>
          </p:cNvPr>
          <p:cNvSpPr/>
          <p:nvPr/>
        </p:nvSpPr>
        <p:spPr>
          <a:xfrm>
            <a:off x="7264823" y="5563633"/>
            <a:ext cx="3572052" cy="400110"/>
          </a:xfrm>
          <a:prstGeom prst="rect">
            <a:avLst/>
          </a:prstGeom>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pt-BR" sz="2000" b="1" i="0" u="none" strike="noStrike" kern="1200" cap="none" spc="0" normalizeH="0" baseline="0" noProof="0" dirty="0">
                <a:ln>
                  <a:noFill/>
                </a:ln>
                <a:solidFill>
                  <a:prstClr val="black"/>
                </a:solidFill>
                <a:effectLst/>
                <a:uLnTx/>
                <a:uFillTx/>
                <a:latin typeface="Gill Sans MT" panose="020B0502020104020203" pitchFamily="34" charset="0"/>
                <a:ea typeface="+mn-ea"/>
                <a:cs typeface="+mn-cs"/>
              </a:rPr>
              <a:t>Autores do Manifesto Ágil</a:t>
            </a:r>
          </a:p>
        </p:txBody>
      </p:sp>
      <p:sp>
        <p:nvSpPr>
          <p:cNvPr id="7" name="Espaço Reservado para Rodapé 6"/>
          <p:cNvSpPr>
            <a:spLocks noGrp="1"/>
          </p:cNvSpPr>
          <p:nvPr>
            <p:ph type="ftr" sz="quarter" idx="11"/>
          </p:nvPr>
        </p:nvSpPr>
        <p:spPr>
          <a:xfrm>
            <a:off x="2700261" y="6446812"/>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6" name="CaixaDeTexto 15">
            <a:extLst>
              <a:ext uri="{FF2B5EF4-FFF2-40B4-BE49-F238E27FC236}">
                <a16:creationId xmlns:a16="http://schemas.microsoft.com/office/drawing/2014/main" xmlns="" id="{AF27F5EA-A710-4BC6-BAF2-F13947371E72}"/>
              </a:ext>
            </a:extLst>
          </p:cNvPr>
          <p:cNvSpPr txBox="1"/>
          <p:nvPr/>
        </p:nvSpPr>
        <p:spPr>
          <a:xfrm>
            <a:off x="235252" y="1459623"/>
            <a:ext cx="6830715"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Manifesto Ágil</a:t>
            </a:r>
            <a:endParaRPr kumimoji="0" lang="pt-BR" sz="32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10" name="CaixaDeTexto 9"/>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329572514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2" name="Retângulo 1">
            <a:extLst>
              <a:ext uri="{FF2B5EF4-FFF2-40B4-BE49-F238E27FC236}">
                <a16:creationId xmlns:a16="http://schemas.microsoft.com/office/drawing/2014/main" xmlns="" id="{B3311B30-DFD4-4286-BEE1-4A3C67EB655C}"/>
              </a:ext>
            </a:extLst>
          </p:cNvPr>
          <p:cNvSpPr/>
          <p:nvPr/>
        </p:nvSpPr>
        <p:spPr>
          <a:xfrm>
            <a:off x="352219" y="2070999"/>
            <a:ext cx="11487564" cy="3170099"/>
          </a:xfrm>
          <a:prstGeom prst="rect">
            <a:avLst/>
          </a:prstGeom>
        </p:spPr>
        <p:txBody>
          <a:bodyPr wrap="square">
            <a:spAutoFit/>
          </a:bodyPr>
          <a:lstStyle/>
          <a:p>
            <a:pPr marL="450850" marR="0" lvl="0" indent="-450850" algn="just"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a:ln>
                  <a:noFill/>
                </a:ln>
                <a:solidFill>
                  <a:srgbClr val="333333"/>
                </a:solidFill>
                <a:effectLst/>
                <a:uLnTx/>
                <a:uFillTx/>
                <a:latin typeface="Calibri"/>
                <a:ea typeface="+mn-ea"/>
                <a:cs typeface="+mn-cs"/>
              </a:rPr>
              <a:t>Indivíduos e interações mais que processos e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ferramentas;</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just"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a:ln>
                  <a:noFill/>
                </a:ln>
                <a:solidFill>
                  <a:srgbClr val="333333"/>
                </a:solidFill>
                <a:effectLst/>
                <a:uLnTx/>
                <a:uFillTx/>
                <a:latin typeface="Calibri"/>
                <a:ea typeface="+mn-ea"/>
                <a:cs typeface="+mn-cs"/>
              </a:rPr>
              <a:t>Software em funcionamento mais que documentação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abrangente;</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just"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a:ln>
                  <a:noFill/>
                </a:ln>
                <a:solidFill>
                  <a:srgbClr val="333333"/>
                </a:solidFill>
                <a:effectLst/>
                <a:uLnTx/>
                <a:uFillTx/>
                <a:latin typeface="Calibri"/>
                <a:ea typeface="+mn-ea"/>
                <a:cs typeface="+mn-cs"/>
              </a:rPr>
              <a:t>Colaboração com o cliente mais que negociação de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contratos;</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just"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a:ln>
                  <a:noFill/>
                </a:ln>
                <a:solidFill>
                  <a:srgbClr val="333333"/>
                </a:solidFill>
                <a:effectLst/>
                <a:uLnTx/>
                <a:uFillTx/>
                <a:latin typeface="Calibri"/>
                <a:ea typeface="+mn-ea"/>
                <a:cs typeface="+mn-cs"/>
              </a:rPr>
              <a:t>Responder a mudanças mais que seguir um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plano.</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1200"/>
              </a:spcAft>
              <a:buClrTx/>
              <a:buSzTx/>
              <a:buFontTx/>
              <a:buNone/>
              <a:tabLst/>
              <a:defRPr/>
            </a:pPr>
            <a:endParaRPr kumimoji="0" lang="pt-BR" sz="2000" b="0" i="0" u="none" strike="noStrike" kern="1200" cap="none" spc="0" normalizeH="0" baseline="0" noProof="0" dirty="0" smtClean="0">
              <a:ln>
                <a:noFill/>
              </a:ln>
              <a:solidFill>
                <a:srgbClr val="333333"/>
              </a:solidFill>
              <a:effectLst/>
              <a:uLnTx/>
              <a:uFillTx/>
              <a:latin typeface="Calibri"/>
              <a:ea typeface="+mn-ea"/>
              <a:cs typeface="+mn-cs"/>
            </a:endParaRPr>
          </a:p>
          <a:p>
            <a:pPr marL="800100" marR="0" lvl="1" indent="-342900" algn="just" defTabSz="914400" rtl="0" eaLnBrk="1" fontAlgn="auto" latinLnBrk="0" hangingPunct="1">
              <a:lnSpc>
                <a:spcPct val="100000"/>
              </a:lnSpc>
              <a:spcBef>
                <a:spcPts val="0"/>
              </a:spcBef>
              <a:spcAft>
                <a:spcPts val="1200"/>
              </a:spcAft>
              <a:buClrTx/>
              <a:buSzTx/>
              <a:buFont typeface="Wingdings" panose="05000000000000000000" pitchFamily="2" charset="2"/>
              <a:buChar char="ü"/>
              <a:tabLst/>
              <a:defRPr/>
            </a:pPr>
            <a:r>
              <a:rPr kumimoji="0" lang="pt-BR" sz="2000" b="0" i="0" u="none" strike="noStrike" kern="1200" cap="none" spc="0" normalizeH="0" baseline="0" noProof="0" dirty="0" smtClean="0">
                <a:ln>
                  <a:noFill/>
                </a:ln>
                <a:solidFill>
                  <a:prstClr val="black"/>
                </a:solidFill>
                <a:effectLst/>
                <a:uLnTx/>
                <a:uFillTx/>
                <a:latin typeface="Calibri"/>
                <a:ea typeface="+mn-ea"/>
                <a:cs typeface="+mn-cs"/>
              </a:rPr>
              <a:t>Mesmo havendo valor aos itens à direita, valorizamos mais os itens à esquerda.</a:t>
            </a:r>
          </a:p>
          <a:p>
            <a:pPr marL="800100" marR="0" lvl="1" indent="-342900" algn="just" defTabSz="914400" rtl="0" eaLnBrk="1" fontAlgn="auto" latinLnBrk="0" hangingPunct="1">
              <a:lnSpc>
                <a:spcPct val="100000"/>
              </a:lnSpc>
              <a:spcBef>
                <a:spcPts val="0"/>
              </a:spcBef>
              <a:spcAft>
                <a:spcPts val="1200"/>
              </a:spcAft>
              <a:buClrTx/>
              <a:buSzTx/>
              <a:buFont typeface="Wingdings" panose="05000000000000000000" pitchFamily="2" charset="2"/>
              <a:buChar char="ü"/>
              <a:tabLst/>
              <a:defRPr/>
            </a:pPr>
            <a:r>
              <a:rPr kumimoji="0" lang="pt-BR" sz="2000" b="0" i="0" u="none" strike="noStrike" kern="1200" cap="none" spc="0" normalizeH="0" baseline="0" noProof="0" dirty="0" smtClean="0">
                <a:ln>
                  <a:noFill/>
                </a:ln>
                <a:solidFill>
                  <a:prstClr val="black"/>
                </a:solidFill>
                <a:effectLst/>
                <a:uLnTx/>
                <a:uFillTx/>
                <a:latin typeface="Calibri"/>
                <a:ea typeface="+mn-ea"/>
                <a:cs typeface="+mn-cs"/>
              </a:rPr>
              <a:t>Acesse o site: </a:t>
            </a:r>
            <a:r>
              <a:rPr kumimoji="0" lang="pt-BR" sz="2000" b="0" i="0" u="none" strike="noStrike" kern="1200" cap="none" spc="0" normalizeH="0" baseline="0" noProof="0" dirty="0" smtClean="0">
                <a:ln>
                  <a:noFill/>
                </a:ln>
                <a:solidFill>
                  <a:prstClr val="black"/>
                </a:solidFill>
                <a:effectLst/>
                <a:uLnTx/>
                <a:uFillTx/>
                <a:latin typeface="Calibri"/>
                <a:ea typeface="+mn-ea"/>
                <a:cs typeface="+mn-cs"/>
                <a:hlinkClick r:id="rId3"/>
              </a:rPr>
              <a:t>http://www.manifestoagil.com.br</a:t>
            </a:r>
            <a:endParaRPr kumimoji="0" lang="pt-BR"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Espaço Reservado para Rodapé 6"/>
          <p:cNvSpPr>
            <a:spLocks noGrp="1"/>
          </p:cNvSpPr>
          <p:nvPr>
            <p:ph type="ftr" sz="quarter" idx="11"/>
          </p:nvPr>
        </p:nvSpPr>
        <p:spPr>
          <a:xfrm>
            <a:off x="3828535" y="6483969"/>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t>By CTS </a:t>
            </a:r>
            <a:r>
              <a:rPr kumimoji="0" lang="en-US" sz="1200" b="0" i="0" u="none" strike="noStrike" kern="1200" cap="none" spc="0" normalizeH="0" baseline="0" noProof="0" dirty="0" err="1" smtClean="0">
                <a:ln>
                  <a:noFill/>
                </a:ln>
                <a:solidFill>
                  <a:prstClr val="black">
                    <a:tint val="75000"/>
                  </a:prstClr>
                </a:solidFill>
                <a:effectLst/>
                <a:uLnTx/>
                <a:uFillTx/>
                <a:latin typeface="Calibri"/>
                <a:ea typeface="+mn-ea"/>
                <a:cs typeface="+mn-cs"/>
              </a:rPr>
              <a:t>Consultoria</a:t>
            </a:r>
            <a:r>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t>.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CaixaDeTexto 7"/>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10" name="CaixaDeTexto 9">
            <a:extLst>
              <a:ext uri="{FF2B5EF4-FFF2-40B4-BE49-F238E27FC236}">
                <a16:creationId xmlns:a16="http://schemas.microsoft.com/office/drawing/2014/main" xmlns="" id="{AF27F5EA-A710-4BC6-BAF2-F13947371E72}"/>
              </a:ext>
            </a:extLst>
          </p:cNvPr>
          <p:cNvSpPr txBox="1"/>
          <p:nvPr/>
        </p:nvSpPr>
        <p:spPr>
          <a:xfrm>
            <a:off x="167013" y="995599"/>
            <a:ext cx="6830715"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smtClean="0">
                <a:ln>
                  <a:noFill/>
                </a:ln>
                <a:solidFill>
                  <a:prstClr val="black"/>
                </a:solidFill>
                <a:effectLst/>
                <a:uLnTx/>
                <a:uFillTx/>
                <a:latin typeface="Gill Sans MT" charset="0"/>
                <a:ea typeface="Gill Sans MT" charset="0"/>
                <a:cs typeface="Gill Sans MT" charset="0"/>
              </a:rPr>
              <a:t>Manifesto Ágil - Valores</a:t>
            </a:r>
            <a:endParaRPr kumimoji="0" lang="pt-BR" sz="32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161002287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2" name="Retângulo 1">
            <a:extLst>
              <a:ext uri="{FF2B5EF4-FFF2-40B4-BE49-F238E27FC236}">
                <a16:creationId xmlns:a16="http://schemas.microsoft.com/office/drawing/2014/main" xmlns="" id="{B3311B30-DFD4-4286-BEE1-4A3C67EB655C}"/>
              </a:ext>
            </a:extLst>
          </p:cNvPr>
          <p:cNvSpPr/>
          <p:nvPr/>
        </p:nvSpPr>
        <p:spPr>
          <a:xfrm>
            <a:off x="454950" y="2542523"/>
            <a:ext cx="11033088" cy="2708434"/>
          </a:xfrm>
          <a:prstGeom prst="rect">
            <a:avLst/>
          </a:prstGeom>
        </p:spPr>
        <p:txBody>
          <a:bodyPr wrap="square">
            <a:spAutoFit/>
          </a:bodyPr>
          <a:lstStyle/>
          <a:p>
            <a:pPr marL="627063" marR="0" lvl="0" indent="-614363" algn="l" defTabSz="914400" rtl="0" eaLnBrk="1" fontAlgn="auto" latinLnBrk="0" hangingPunct="1">
              <a:lnSpc>
                <a:spcPct val="100000"/>
              </a:lnSpc>
              <a:spcBef>
                <a:spcPts val="0"/>
              </a:spcBef>
              <a:spcAft>
                <a:spcPts val="1200"/>
              </a:spcAft>
              <a:buClrTx/>
              <a:buSzTx/>
              <a:buFont typeface="+mj-lt"/>
              <a:buAutoNum type="arabicPeriod"/>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Satisfazer </a:t>
            </a:r>
            <a:r>
              <a:rPr kumimoji="0" lang="pt-BR" sz="2000" b="0" i="0" u="none" strike="noStrike" kern="1200" cap="none" spc="0" normalizeH="0" baseline="0" noProof="0" dirty="0">
                <a:ln>
                  <a:noFill/>
                </a:ln>
                <a:solidFill>
                  <a:srgbClr val="333333"/>
                </a:solidFill>
                <a:effectLst/>
                <a:uLnTx/>
                <a:uFillTx/>
                <a:latin typeface="Calibri"/>
                <a:ea typeface="+mn-ea"/>
                <a:cs typeface="+mn-cs"/>
              </a:rPr>
              <a:t>o cliente, através da entrega adiantada e contínua de software de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valor;</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627063" marR="0" lvl="0" indent="-614363" algn="l" defTabSz="914400" rtl="0" eaLnBrk="1" fontAlgn="auto" latinLnBrk="0" hangingPunct="1">
              <a:lnSpc>
                <a:spcPct val="100000"/>
              </a:lnSpc>
              <a:spcBef>
                <a:spcPts val="0"/>
              </a:spcBef>
              <a:spcAft>
                <a:spcPts val="1200"/>
              </a:spcAft>
              <a:buClrTx/>
              <a:buSzTx/>
              <a:buFont typeface="+mj-lt"/>
              <a:buAutoNum type="arabicPeriod"/>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Aceitar </a:t>
            </a:r>
            <a:r>
              <a:rPr kumimoji="0" lang="pt-BR" sz="2000" b="0" i="0" u="none" strike="noStrike" kern="1200" cap="none" spc="0" normalizeH="0" baseline="0" noProof="0" dirty="0">
                <a:ln>
                  <a:noFill/>
                </a:ln>
                <a:solidFill>
                  <a:srgbClr val="333333"/>
                </a:solidFill>
                <a:effectLst/>
                <a:uLnTx/>
                <a:uFillTx/>
                <a:latin typeface="Calibri"/>
                <a:ea typeface="+mn-ea"/>
                <a:cs typeface="+mn-cs"/>
              </a:rPr>
              <a:t>mudanças de requisitos, mesmo no fim do desenvolvimento. Processos ágeis se adequam a mudanças, para que o cliente possa tirar vantagens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competitivas;</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627063" marR="0" lvl="0" indent="-614363" algn="l" defTabSz="914400" rtl="0" eaLnBrk="1" fontAlgn="auto" latinLnBrk="0" hangingPunct="1">
              <a:lnSpc>
                <a:spcPct val="100000"/>
              </a:lnSpc>
              <a:spcBef>
                <a:spcPts val="0"/>
              </a:spcBef>
              <a:spcAft>
                <a:spcPts val="1200"/>
              </a:spcAft>
              <a:buClrTx/>
              <a:buSzTx/>
              <a:buFont typeface="+mj-lt"/>
              <a:buAutoNum type="arabicPeriod"/>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Entregar </a:t>
            </a:r>
            <a:r>
              <a:rPr kumimoji="0" lang="pt-BR" sz="2000" b="0" i="0" u="none" strike="noStrike" kern="1200" cap="none" spc="0" normalizeH="0" baseline="0" noProof="0" dirty="0">
                <a:ln>
                  <a:noFill/>
                </a:ln>
                <a:solidFill>
                  <a:srgbClr val="333333"/>
                </a:solidFill>
                <a:effectLst/>
                <a:uLnTx/>
                <a:uFillTx/>
                <a:latin typeface="Calibri"/>
                <a:ea typeface="+mn-ea"/>
                <a:cs typeface="+mn-cs"/>
              </a:rPr>
              <a:t>software funcionando com frequência, na escala de semanas até meses, com preferência aos períodos mais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curtos;</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627063" marR="0" lvl="0" indent="-614363" algn="l" defTabSz="914400" rtl="0" eaLnBrk="1" fontAlgn="auto" latinLnBrk="0" hangingPunct="1">
              <a:lnSpc>
                <a:spcPct val="100000"/>
              </a:lnSpc>
              <a:spcBef>
                <a:spcPts val="0"/>
              </a:spcBef>
              <a:spcAft>
                <a:spcPts val="1200"/>
              </a:spcAft>
              <a:buClrTx/>
              <a:buSzTx/>
              <a:buFont typeface="+mj-lt"/>
              <a:buAutoNum type="arabicPeriod"/>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Pessoas </a:t>
            </a:r>
            <a:r>
              <a:rPr kumimoji="0" lang="pt-BR" sz="2000" b="0" i="0" u="none" strike="noStrike" kern="1200" cap="none" spc="0" normalizeH="0" baseline="0" noProof="0" dirty="0">
                <a:ln>
                  <a:noFill/>
                </a:ln>
                <a:solidFill>
                  <a:srgbClr val="333333"/>
                </a:solidFill>
                <a:effectLst/>
                <a:uLnTx/>
                <a:uFillTx/>
                <a:latin typeface="Calibri"/>
                <a:ea typeface="+mn-ea"/>
                <a:cs typeface="+mn-cs"/>
              </a:rPr>
              <a:t>relacionadas à negócios e desenvolvedores devem trabalhar em conjunto e diariamente, durante todo o curso do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projeto</a:t>
            </a:r>
            <a:r>
              <a:rPr kumimoji="0" lang="pt-BR" sz="2000" b="0" i="0" u="none" strike="noStrike" kern="1200" cap="none" spc="0" normalizeH="0" baseline="0" noProof="0" dirty="0">
                <a:ln>
                  <a:noFill/>
                </a:ln>
                <a:solidFill>
                  <a:srgbClr val="333333"/>
                </a:solidFill>
                <a:effectLst/>
                <a:uLnTx/>
                <a:uFillTx/>
                <a:latin typeface="Calibri"/>
                <a:ea typeface="+mn-ea"/>
                <a:cs typeface="+mn-cs"/>
              </a:rPr>
              <a:t>;</a:t>
            </a:r>
          </a:p>
        </p:txBody>
      </p:sp>
      <p:sp>
        <p:nvSpPr>
          <p:cNvPr id="7" name="Espaço Reservado para Rodapé 6"/>
          <p:cNvSpPr>
            <a:spLocks noGrp="1"/>
          </p:cNvSpPr>
          <p:nvPr>
            <p:ph type="ftr" sz="quarter" idx="11"/>
          </p:nvPr>
        </p:nvSpPr>
        <p:spPr>
          <a:xfrm>
            <a:off x="4038601" y="6441703"/>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2" name="CaixaDeTexto 11">
            <a:extLst>
              <a:ext uri="{FF2B5EF4-FFF2-40B4-BE49-F238E27FC236}">
                <a16:creationId xmlns:a16="http://schemas.microsoft.com/office/drawing/2014/main" xmlns="" id="{AF27F5EA-A710-4BC6-BAF2-F13947371E72}"/>
              </a:ext>
            </a:extLst>
          </p:cNvPr>
          <p:cNvSpPr txBox="1"/>
          <p:nvPr/>
        </p:nvSpPr>
        <p:spPr>
          <a:xfrm>
            <a:off x="320712" y="1451108"/>
            <a:ext cx="1025987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srgbClr val="333333"/>
                </a:solidFill>
                <a:effectLst/>
                <a:uLnTx/>
                <a:uFillTx/>
                <a:latin typeface="Gill Sans MT" panose="020B0502020104020203" pitchFamily="34" charset="0"/>
                <a:ea typeface="+mn-ea"/>
                <a:cs typeface="+mn-cs"/>
              </a:rPr>
              <a:t>Os 12 princípios do Manifesto </a:t>
            </a:r>
            <a:r>
              <a:rPr kumimoji="0" lang="pt-BR" sz="3200" b="1" i="0" u="none" strike="noStrike" kern="1200" cap="none" spc="0" normalizeH="0" baseline="0" noProof="0" dirty="0" smtClean="0">
                <a:ln>
                  <a:noFill/>
                </a:ln>
                <a:solidFill>
                  <a:srgbClr val="333333"/>
                </a:solidFill>
                <a:effectLst/>
                <a:uLnTx/>
                <a:uFillTx/>
                <a:latin typeface="Gill Sans MT" panose="020B0502020104020203" pitchFamily="34" charset="0"/>
                <a:ea typeface="+mn-ea"/>
                <a:cs typeface="+mn-cs"/>
              </a:rPr>
              <a:t>Ágil</a:t>
            </a:r>
            <a:endParaRPr kumimoji="0" lang="pt-BR" sz="3200" b="1" i="0" u="none" strike="noStrike" kern="1200" cap="none" spc="0" normalizeH="0" baseline="0" noProof="0" dirty="0">
              <a:ln>
                <a:noFill/>
              </a:ln>
              <a:solidFill>
                <a:srgbClr val="333333"/>
              </a:solidFill>
              <a:effectLst/>
              <a:uLnTx/>
              <a:uFillTx/>
              <a:latin typeface="Gill Sans MT" panose="020B0502020104020203" pitchFamily="34" charset="0"/>
              <a:ea typeface="+mn-ea"/>
              <a:cs typeface="+mn-cs"/>
            </a:endParaRPr>
          </a:p>
        </p:txBody>
      </p:sp>
      <p:sp>
        <p:nvSpPr>
          <p:cNvPr id="8" name="CaixaDeTexto 7"/>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33919667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xmlns="" id="{B3311B30-DFD4-4286-BEE1-4A3C67EB655C}"/>
              </a:ext>
            </a:extLst>
          </p:cNvPr>
          <p:cNvSpPr/>
          <p:nvPr/>
        </p:nvSpPr>
        <p:spPr>
          <a:xfrm>
            <a:off x="463683" y="2468936"/>
            <a:ext cx="10890117" cy="2708434"/>
          </a:xfrm>
          <a:prstGeom prst="rect">
            <a:avLst/>
          </a:prstGeom>
        </p:spPr>
        <p:txBody>
          <a:bodyPr wrap="square">
            <a:spAutoFit/>
          </a:bodyPr>
          <a:lstStyle/>
          <a:p>
            <a:pPr marL="469900" marR="0" lvl="0" indent="-457200" algn="just" defTabSz="914400" rtl="0" eaLnBrk="1" fontAlgn="auto" latinLnBrk="0" hangingPunct="1">
              <a:lnSpc>
                <a:spcPct val="100000"/>
              </a:lnSpc>
              <a:spcBef>
                <a:spcPts val="0"/>
              </a:spcBef>
              <a:spcAft>
                <a:spcPts val="1200"/>
              </a:spcAft>
              <a:buClrTx/>
              <a:buSzTx/>
              <a:buFont typeface="+mj-lt"/>
              <a:buAutoNum type="arabicPeriod" startAt="5"/>
              <a:tabLst/>
              <a:defRPr/>
            </a:pPr>
            <a:r>
              <a:rPr kumimoji="0" lang="pt-BR" sz="2000" b="0" i="0" u="none" strike="noStrike" kern="1200" cap="none" spc="0" normalizeH="0" baseline="0" noProof="0" dirty="0">
                <a:ln>
                  <a:noFill/>
                </a:ln>
                <a:solidFill>
                  <a:srgbClr val="333333"/>
                </a:solidFill>
                <a:effectLst/>
                <a:uLnTx/>
                <a:uFillTx/>
                <a:latin typeface="Calibri"/>
                <a:ea typeface="+mn-ea"/>
                <a:cs typeface="+mn-cs"/>
              </a:rPr>
              <a:t>Construir projetos ao redor de indivíduos motivados. Dando a eles o ambiente e suporte necessário, e confiar que farão seu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trabalho;</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469900" marR="0" lvl="0" indent="-457200" algn="just" defTabSz="914400" rtl="0" eaLnBrk="1" fontAlgn="auto" latinLnBrk="0" hangingPunct="1">
              <a:lnSpc>
                <a:spcPct val="100000"/>
              </a:lnSpc>
              <a:spcBef>
                <a:spcPts val="0"/>
              </a:spcBef>
              <a:spcAft>
                <a:spcPts val="1200"/>
              </a:spcAft>
              <a:buClrTx/>
              <a:buSzTx/>
              <a:buFont typeface="+mj-lt"/>
              <a:buAutoNum type="arabicPeriod" startAt="5"/>
              <a:tabLst/>
              <a:defRPr/>
            </a:pPr>
            <a:r>
              <a:rPr kumimoji="0" lang="pt-BR" sz="2000" b="0" i="0" u="none" strike="noStrike" kern="1200" cap="none" spc="0" normalizeH="0" baseline="0" noProof="0" dirty="0">
                <a:ln>
                  <a:noFill/>
                </a:ln>
                <a:solidFill>
                  <a:srgbClr val="333333"/>
                </a:solidFill>
                <a:effectLst/>
                <a:uLnTx/>
                <a:uFillTx/>
                <a:latin typeface="Calibri"/>
                <a:ea typeface="+mn-ea"/>
                <a:cs typeface="+mn-cs"/>
              </a:rPr>
              <a:t>O Método mais eficiente e eficaz de transmitir informações para, e por dentro de um time de desenvolvimento, é através de uma conversa cara a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cara;</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469900" marR="0" lvl="0" indent="-457200" algn="just" defTabSz="914400" rtl="0" eaLnBrk="1" fontAlgn="auto" latinLnBrk="0" hangingPunct="1">
              <a:lnSpc>
                <a:spcPct val="100000"/>
              </a:lnSpc>
              <a:spcBef>
                <a:spcPts val="0"/>
              </a:spcBef>
              <a:spcAft>
                <a:spcPts val="1200"/>
              </a:spcAft>
              <a:buClrTx/>
              <a:buSzTx/>
              <a:buFont typeface="+mj-lt"/>
              <a:buAutoNum type="arabicPeriod" startAt="5"/>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Software </a:t>
            </a:r>
            <a:r>
              <a:rPr kumimoji="0" lang="pt-BR" sz="2000" b="0" i="0" u="none" strike="noStrike" kern="1200" cap="none" spc="0" normalizeH="0" baseline="0" noProof="0" dirty="0">
                <a:ln>
                  <a:noFill/>
                </a:ln>
                <a:solidFill>
                  <a:srgbClr val="333333"/>
                </a:solidFill>
                <a:effectLst/>
                <a:uLnTx/>
                <a:uFillTx/>
                <a:latin typeface="Calibri"/>
                <a:ea typeface="+mn-ea"/>
                <a:cs typeface="+mn-cs"/>
              </a:rPr>
              <a:t>funcional é a medida primária de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progresso;</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469900" marR="0" lvl="0" indent="-457200" algn="just" defTabSz="914400" rtl="0" eaLnBrk="1" fontAlgn="auto" latinLnBrk="0" hangingPunct="1">
              <a:lnSpc>
                <a:spcPct val="100000"/>
              </a:lnSpc>
              <a:spcBef>
                <a:spcPts val="0"/>
              </a:spcBef>
              <a:spcAft>
                <a:spcPts val="1200"/>
              </a:spcAft>
              <a:buClrTx/>
              <a:buSzTx/>
              <a:buFont typeface="+mj-lt"/>
              <a:buAutoNum type="arabicPeriod" startAt="5"/>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Processos </a:t>
            </a:r>
            <a:r>
              <a:rPr kumimoji="0" lang="pt-BR" sz="2000" b="0" i="0" u="none" strike="noStrike" kern="1200" cap="none" spc="0" normalizeH="0" baseline="0" noProof="0" dirty="0">
                <a:ln>
                  <a:noFill/>
                </a:ln>
                <a:solidFill>
                  <a:srgbClr val="333333"/>
                </a:solidFill>
                <a:effectLst/>
                <a:uLnTx/>
                <a:uFillTx/>
                <a:latin typeface="Calibri"/>
                <a:ea typeface="+mn-ea"/>
                <a:cs typeface="+mn-cs"/>
              </a:rPr>
              <a:t>ágeis promovem um ambiente sustentável. Os patrocinadores, desenvolvedores e usuários, devem ser capazes de manter indefinidamente, passos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constantes</a:t>
            </a:r>
            <a:r>
              <a:rPr kumimoji="0" lang="pt-BR" sz="2000" b="0" i="0" u="none" strike="noStrike" kern="1200" cap="none" spc="0" normalizeH="0" baseline="0" noProof="0" dirty="0">
                <a:ln>
                  <a:noFill/>
                </a:ln>
                <a:solidFill>
                  <a:srgbClr val="333333"/>
                </a:solidFill>
                <a:effectLst/>
                <a:uLnTx/>
                <a:uFillTx/>
                <a:latin typeface="Calibri"/>
                <a:ea typeface="+mn-ea"/>
                <a:cs typeface="+mn-cs"/>
              </a:rPr>
              <a:t>;</a:t>
            </a:r>
          </a:p>
        </p:txBody>
      </p:sp>
      <p:sp>
        <p:nvSpPr>
          <p:cNvPr id="7" name="Espaço Reservado para Rodapé 6"/>
          <p:cNvSpPr>
            <a:spLocks noGrp="1"/>
          </p:cNvSpPr>
          <p:nvPr>
            <p:ph type="ftr" sz="quarter" idx="11"/>
          </p:nvPr>
        </p:nvSpPr>
        <p:spPr>
          <a:xfrm>
            <a:off x="4038601" y="6466931"/>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2" name="CaixaDeTexto 11">
            <a:extLst>
              <a:ext uri="{FF2B5EF4-FFF2-40B4-BE49-F238E27FC236}">
                <a16:creationId xmlns:a16="http://schemas.microsoft.com/office/drawing/2014/main" xmlns="" id="{AF27F5EA-A710-4BC6-BAF2-F13947371E72}"/>
              </a:ext>
            </a:extLst>
          </p:cNvPr>
          <p:cNvSpPr txBox="1"/>
          <p:nvPr/>
        </p:nvSpPr>
        <p:spPr>
          <a:xfrm>
            <a:off x="463683" y="1466359"/>
            <a:ext cx="1025987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srgbClr val="333333"/>
                </a:solidFill>
                <a:effectLst/>
                <a:uLnTx/>
                <a:uFillTx/>
                <a:latin typeface="Gill Sans MT" panose="020B0502020104020203" pitchFamily="34" charset="0"/>
                <a:ea typeface="+mn-ea"/>
                <a:cs typeface="+mn-cs"/>
              </a:rPr>
              <a:t>Os 12 princípios do Manifesto </a:t>
            </a:r>
            <a:r>
              <a:rPr kumimoji="0" lang="pt-BR" sz="3200" b="1" i="0" u="none" strike="noStrike" kern="1200" cap="none" spc="0" normalizeH="0" baseline="0" noProof="0" dirty="0" smtClean="0">
                <a:ln>
                  <a:noFill/>
                </a:ln>
                <a:solidFill>
                  <a:srgbClr val="333333"/>
                </a:solidFill>
                <a:effectLst/>
                <a:uLnTx/>
                <a:uFillTx/>
                <a:latin typeface="Gill Sans MT" panose="020B0502020104020203" pitchFamily="34" charset="0"/>
                <a:ea typeface="+mn-ea"/>
                <a:cs typeface="+mn-cs"/>
              </a:rPr>
              <a:t>Ágil</a:t>
            </a:r>
            <a:endParaRPr kumimoji="0" lang="pt-BR" sz="3200" b="1" i="0" u="none" strike="noStrike" kern="1200" cap="none" spc="0" normalizeH="0" baseline="0" noProof="0" dirty="0">
              <a:ln>
                <a:noFill/>
              </a:ln>
              <a:solidFill>
                <a:srgbClr val="333333"/>
              </a:solidFill>
              <a:effectLst/>
              <a:uLnTx/>
              <a:uFillTx/>
              <a:latin typeface="Gill Sans MT" panose="020B0502020104020203" pitchFamily="34" charset="0"/>
              <a:ea typeface="+mn-ea"/>
              <a:cs typeface="+mn-cs"/>
            </a:endParaRPr>
          </a:p>
        </p:txBody>
      </p:sp>
      <p:sp>
        <p:nvSpPr>
          <p:cNvPr id="6" name="CaixaDeTexto 5"/>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70421266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2" name="Retângulo 1">
            <a:extLst>
              <a:ext uri="{FF2B5EF4-FFF2-40B4-BE49-F238E27FC236}">
                <a16:creationId xmlns:a16="http://schemas.microsoft.com/office/drawing/2014/main" xmlns="" id="{B3311B30-DFD4-4286-BEE1-4A3C67EB655C}"/>
              </a:ext>
            </a:extLst>
          </p:cNvPr>
          <p:cNvSpPr/>
          <p:nvPr/>
        </p:nvSpPr>
        <p:spPr>
          <a:xfrm>
            <a:off x="463683" y="2732356"/>
            <a:ext cx="10890117" cy="2092881"/>
          </a:xfrm>
          <a:prstGeom prst="rect">
            <a:avLst/>
          </a:prstGeom>
        </p:spPr>
        <p:txBody>
          <a:bodyPr wrap="square">
            <a:spAutoFit/>
          </a:bodyPr>
          <a:lstStyle/>
          <a:p>
            <a:pPr marL="12700" marR="0" lvl="0" indent="0" algn="just" defTabSz="914400" rtl="0" eaLnBrk="1" fontAlgn="auto" latinLnBrk="0" hangingPunct="1">
              <a:lnSpc>
                <a:spcPct val="100000"/>
              </a:lnSpc>
              <a:spcBef>
                <a:spcPts val="0"/>
              </a:spcBef>
              <a:spcAft>
                <a:spcPts val="1200"/>
              </a:spcAft>
              <a:buClrTx/>
              <a:buSzTx/>
              <a:buFontTx/>
              <a:buNone/>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9.     Contínua </a:t>
            </a:r>
            <a:r>
              <a:rPr kumimoji="0" lang="pt-BR" sz="2000" b="0" i="0" u="none" strike="noStrike" kern="1200" cap="none" spc="0" normalizeH="0" baseline="0" noProof="0" dirty="0">
                <a:ln>
                  <a:noFill/>
                </a:ln>
                <a:solidFill>
                  <a:srgbClr val="333333"/>
                </a:solidFill>
                <a:effectLst/>
                <a:uLnTx/>
                <a:uFillTx/>
                <a:latin typeface="Calibri"/>
                <a:ea typeface="+mn-ea"/>
                <a:cs typeface="+mn-cs"/>
              </a:rPr>
              <a:t>atenção à excelência técnica e bom design, aumenta a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agilidade;</a:t>
            </a:r>
          </a:p>
          <a:p>
            <a:pPr marL="12700" marR="0" lvl="0" indent="0" algn="just" defTabSz="914400" rtl="0" eaLnBrk="1" fontAlgn="auto" latinLnBrk="0" hangingPunct="1">
              <a:lnSpc>
                <a:spcPct val="100000"/>
              </a:lnSpc>
              <a:spcBef>
                <a:spcPts val="0"/>
              </a:spcBef>
              <a:spcAft>
                <a:spcPts val="1200"/>
              </a:spcAft>
              <a:buClrTx/>
              <a:buSzTx/>
              <a:buFontTx/>
              <a:buNone/>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10.    Simplicidade</a:t>
            </a:r>
            <a:r>
              <a:rPr kumimoji="0" lang="pt-BR" sz="2000" b="0" i="0" u="none" strike="noStrike" kern="1200" cap="none" spc="0" normalizeH="0" baseline="0" noProof="0" dirty="0">
                <a:ln>
                  <a:noFill/>
                </a:ln>
                <a:solidFill>
                  <a:srgbClr val="333333"/>
                </a:solidFill>
                <a:effectLst/>
                <a:uLnTx/>
                <a:uFillTx/>
                <a:latin typeface="Calibri"/>
                <a:ea typeface="+mn-ea"/>
                <a:cs typeface="+mn-cs"/>
              </a:rPr>
              <a:t>: a arte de maximizar a quantidade de trabalho que não precisou ser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feito;</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12700" marR="0" lvl="0" indent="0" algn="just" defTabSz="914400" rtl="0" eaLnBrk="1" fontAlgn="auto" latinLnBrk="0" hangingPunct="1">
              <a:lnSpc>
                <a:spcPct val="100000"/>
              </a:lnSpc>
              <a:spcBef>
                <a:spcPts val="0"/>
              </a:spcBef>
              <a:spcAft>
                <a:spcPts val="1200"/>
              </a:spcAft>
              <a:buClrTx/>
              <a:buSzTx/>
              <a:buFontTx/>
              <a:buNone/>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11.    As </a:t>
            </a:r>
            <a:r>
              <a:rPr kumimoji="0" lang="pt-BR" sz="2000" b="0" i="0" u="none" strike="noStrike" kern="1200" cap="none" spc="0" normalizeH="0" baseline="0" noProof="0" dirty="0">
                <a:ln>
                  <a:noFill/>
                </a:ln>
                <a:solidFill>
                  <a:srgbClr val="333333"/>
                </a:solidFill>
                <a:effectLst/>
                <a:uLnTx/>
                <a:uFillTx/>
                <a:latin typeface="Calibri"/>
                <a:ea typeface="+mn-ea"/>
                <a:cs typeface="+mn-cs"/>
              </a:rPr>
              <a:t>melhores arquiteturas, requisitos e designs emergem de times auto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organizáveis;</a:t>
            </a:r>
          </a:p>
          <a:p>
            <a:pPr marL="12700" marR="0" lvl="0" indent="0" algn="just" defTabSz="914400" rtl="0" eaLnBrk="1" fontAlgn="auto" latinLnBrk="0" hangingPunct="1">
              <a:lnSpc>
                <a:spcPct val="100000"/>
              </a:lnSpc>
              <a:spcBef>
                <a:spcPts val="0"/>
              </a:spcBef>
              <a:spcAft>
                <a:spcPts val="1200"/>
              </a:spcAft>
              <a:buClrTx/>
              <a:buSzTx/>
              <a:buFontTx/>
              <a:buNone/>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12.   Em </a:t>
            </a:r>
            <a:r>
              <a:rPr kumimoji="0" lang="pt-BR" sz="2000" b="0" i="0" u="none" strike="noStrike" kern="1200" cap="none" spc="0" normalizeH="0" baseline="0" noProof="0" dirty="0">
                <a:ln>
                  <a:noFill/>
                </a:ln>
                <a:solidFill>
                  <a:srgbClr val="333333"/>
                </a:solidFill>
                <a:effectLst/>
                <a:uLnTx/>
                <a:uFillTx/>
                <a:latin typeface="Calibri"/>
                <a:ea typeface="+mn-ea"/>
                <a:cs typeface="+mn-cs"/>
              </a:rPr>
              <a:t>intervalos regulares, o time reflete em como ficar mais efetivo, então, se ajustam e otimizam seu comportamento de acordo</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p:txBody>
      </p:sp>
      <p:sp>
        <p:nvSpPr>
          <p:cNvPr id="7" name="Espaço Reservado para Rodapé 6"/>
          <p:cNvSpPr>
            <a:spLocks noGrp="1"/>
          </p:cNvSpPr>
          <p:nvPr>
            <p:ph type="ftr" sz="quarter" idx="11"/>
          </p:nvPr>
        </p:nvSpPr>
        <p:spPr>
          <a:xfrm>
            <a:off x="4038601" y="6466931"/>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2" name="CaixaDeTexto 11">
            <a:extLst>
              <a:ext uri="{FF2B5EF4-FFF2-40B4-BE49-F238E27FC236}">
                <a16:creationId xmlns:a16="http://schemas.microsoft.com/office/drawing/2014/main" xmlns="" id="{AF27F5EA-A710-4BC6-BAF2-F13947371E72}"/>
              </a:ext>
            </a:extLst>
          </p:cNvPr>
          <p:cNvSpPr txBox="1"/>
          <p:nvPr/>
        </p:nvSpPr>
        <p:spPr>
          <a:xfrm>
            <a:off x="463683" y="1466359"/>
            <a:ext cx="1025987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srgbClr val="333333"/>
                </a:solidFill>
                <a:effectLst/>
                <a:uLnTx/>
                <a:uFillTx/>
                <a:latin typeface="Gill Sans MT" panose="020B0502020104020203" pitchFamily="34" charset="0"/>
                <a:ea typeface="+mn-ea"/>
                <a:cs typeface="+mn-cs"/>
              </a:rPr>
              <a:t>Os 12 princípios do Manifesto </a:t>
            </a:r>
            <a:r>
              <a:rPr kumimoji="0" lang="pt-BR" sz="3200" b="1" i="0" u="none" strike="noStrike" kern="1200" cap="none" spc="0" normalizeH="0" baseline="0" noProof="0" dirty="0" smtClean="0">
                <a:ln>
                  <a:noFill/>
                </a:ln>
                <a:solidFill>
                  <a:srgbClr val="333333"/>
                </a:solidFill>
                <a:effectLst/>
                <a:uLnTx/>
                <a:uFillTx/>
                <a:latin typeface="Gill Sans MT" panose="020B0502020104020203" pitchFamily="34" charset="0"/>
                <a:ea typeface="+mn-ea"/>
                <a:cs typeface="+mn-cs"/>
              </a:rPr>
              <a:t>Ágil</a:t>
            </a:r>
            <a:endParaRPr kumimoji="0" lang="pt-BR" sz="3200" b="1" i="0" u="none" strike="noStrike" kern="1200" cap="none" spc="0" normalizeH="0" baseline="0" noProof="0" dirty="0">
              <a:ln>
                <a:noFill/>
              </a:ln>
              <a:solidFill>
                <a:srgbClr val="333333"/>
              </a:solidFill>
              <a:effectLst/>
              <a:uLnTx/>
              <a:uFillTx/>
              <a:latin typeface="Gill Sans MT" panose="020B0502020104020203" pitchFamily="34" charset="0"/>
              <a:ea typeface="+mn-ea"/>
              <a:cs typeface="+mn-cs"/>
            </a:endParaRPr>
          </a:p>
        </p:txBody>
      </p:sp>
      <p:sp>
        <p:nvSpPr>
          <p:cNvPr id="8" name="CaixaDeTexto 7"/>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144512157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2" name="Retângulo 1">
            <a:extLst>
              <a:ext uri="{FF2B5EF4-FFF2-40B4-BE49-F238E27FC236}">
                <a16:creationId xmlns:a16="http://schemas.microsoft.com/office/drawing/2014/main" xmlns="" id="{B3311B30-DFD4-4286-BEE1-4A3C67EB655C}"/>
              </a:ext>
            </a:extLst>
          </p:cNvPr>
          <p:cNvSpPr/>
          <p:nvPr/>
        </p:nvSpPr>
        <p:spPr>
          <a:xfrm>
            <a:off x="360883" y="2223933"/>
            <a:ext cx="11470235" cy="3477875"/>
          </a:xfrm>
          <a:prstGeom prst="rect">
            <a:avLst/>
          </a:prstGeom>
        </p:spPr>
        <p:txBody>
          <a:bodyPr wrap="square">
            <a:spAutoFit/>
          </a:bodyPr>
          <a:lstStyle/>
          <a:p>
            <a:pPr marL="2325688" marR="0" lvl="0" indent="-2325688" algn="l" defTabSz="914400" rtl="0" eaLnBrk="1" fontAlgn="auto" latinLnBrk="0" hangingPunct="1">
              <a:lnSpc>
                <a:spcPct val="100000"/>
              </a:lnSpc>
              <a:spcBef>
                <a:spcPts val="0"/>
              </a:spcBef>
              <a:spcAft>
                <a:spcPts val="1200"/>
              </a:spcAft>
              <a:buClrTx/>
              <a:buSzTx/>
              <a:buFontTx/>
              <a:buNone/>
              <a:tabLst/>
              <a:defRPr/>
            </a:pP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                        Crystal: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Família </a:t>
            </a:r>
            <a:r>
              <a:rPr kumimoji="0" lang="pt-BR" sz="2000" b="0" i="0" u="none" strike="noStrike" kern="1200" cap="none" spc="0" normalizeH="0" baseline="0" noProof="0" dirty="0">
                <a:ln>
                  <a:noFill/>
                </a:ln>
                <a:solidFill>
                  <a:srgbClr val="333333"/>
                </a:solidFill>
                <a:effectLst/>
                <a:uLnTx/>
                <a:uFillTx/>
                <a:latin typeface="Calibri"/>
                <a:ea typeface="+mn-ea"/>
                <a:cs typeface="+mn-cs"/>
              </a:rPr>
              <a:t>de metodologias de desenvolvimento de software e, como os cristais, possui diferentes cores e rigidez, referindo-se ao tamanho e ao nível crítico do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projeto;</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2325688" marR="0" lvl="0" indent="-2325688" algn="l" defTabSz="914400" rtl="0" eaLnBrk="1" fontAlgn="auto" latinLnBrk="0" hangingPunct="1">
              <a:lnSpc>
                <a:spcPct val="100000"/>
              </a:lnSpc>
              <a:spcBef>
                <a:spcPts val="0"/>
              </a:spcBef>
              <a:spcAft>
                <a:spcPts val="1200"/>
              </a:spcAft>
              <a:buClrTx/>
              <a:buSzTx/>
              <a:buFontTx/>
              <a:buNone/>
              <a:tabLst/>
              <a:defRPr/>
            </a:pP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          Daily  Meeting: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Reunião </a:t>
            </a:r>
            <a:r>
              <a:rPr kumimoji="0" lang="pt-BR" sz="2000" b="0" i="0" u="none" strike="noStrike" kern="1200" cap="none" spc="0" normalizeH="0" baseline="0" noProof="0" dirty="0">
                <a:ln>
                  <a:noFill/>
                </a:ln>
                <a:solidFill>
                  <a:srgbClr val="333333"/>
                </a:solidFill>
                <a:effectLst/>
                <a:uLnTx/>
                <a:uFillTx/>
                <a:latin typeface="Calibri"/>
                <a:ea typeface="+mn-ea"/>
                <a:cs typeface="+mn-cs"/>
              </a:rPr>
              <a:t>diária, de curto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período, </a:t>
            </a:r>
            <a:r>
              <a:rPr kumimoji="0" lang="pt-BR" sz="2000" b="0" i="0" u="none" strike="noStrike" kern="1200" cap="none" spc="0" normalizeH="0" baseline="0" noProof="0" dirty="0">
                <a:ln>
                  <a:noFill/>
                </a:ln>
                <a:solidFill>
                  <a:srgbClr val="333333"/>
                </a:solidFill>
                <a:effectLst/>
                <a:uLnTx/>
                <a:uFillTx/>
                <a:latin typeface="Calibri"/>
                <a:ea typeface="+mn-ea"/>
                <a:cs typeface="+mn-cs"/>
              </a:rPr>
              <a:t>para avaliar o prosseguimento de uma Sprint, onde estão presentes todos os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interessados;</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2325688" marR="0" lvl="0" indent="-2325688" algn="l" defTabSz="914400" rtl="0" eaLnBrk="1" fontAlgn="auto" latinLnBrk="0" hangingPunct="1">
              <a:lnSpc>
                <a:spcPct val="100000"/>
              </a:lnSpc>
              <a:spcBef>
                <a:spcPts val="0"/>
              </a:spcBef>
              <a:spcAft>
                <a:spcPts val="1200"/>
              </a:spcAft>
              <a:buClrTx/>
              <a:buSzTx/>
              <a:buFontTx/>
              <a:buNone/>
              <a:tabLst/>
              <a:defRPr/>
            </a:pP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                               PO:</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 	</a:t>
            </a:r>
            <a:r>
              <a:rPr kumimoji="0" lang="pt-BR" sz="2000" b="0" i="0" u="none" strike="noStrike" kern="1200" cap="none" spc="0" normalizeH="0" baseline="0" noProof="0" dirty="0" err="1" smtClean="0">
                <a:ln>
                  <a:noFill/>
                </a:ln>
                <a:solidFill>
                  <a:srgbClr val="333333"/>
                </a:solidFill>
                <a:effectLst/>
                <a:uLnTx/>
                <a:uFillTx/>
                <a:latin typeface="Calibri"/>
                <a:ea typeface="+mn-ea"/>
                <a:cs typeface="+mn-cs"/>
              </a:rPr>
              <a:t>Product</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Owner</a:t>
            </a:r>
            <a:r>
              <a:rPr kumimoji="0" lang="pt-BR" sz="2000" b="0" i="0" u="none" strike="noStrike" kern="1200" cap="none" spc="0" normalizeH="0" baseline="0" noProof="0" dirty="0">
                <a:ln>
                  <a:noFill/>
                </a:ln>
                <a:solidFill>
                  <a:srgbClr val="333333"/>
                </a:solidFill>
                <a:effectLst/>
                <a:uLnTx/>
                <a:uFillTx/>
                <a:latin typeface="Calibri"/>
                <a:ea typeface="+mn-ea"/>
                <a:cs typeface="+mn-cs"/>
              </a:rPr>
              <a:t> (dono do produto</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 - responsável </a:t>
            </a:r>
            <a:r>
              <a:rPr kumimoji="0" lang="pt-BR" sz="2000" b="0" i="0" u="none" strike="noStrike" kern="1200" cap="none" spc="0" normalizeH="0" baseline="0" noProof="0" dirty="0">
                <a:ln>
                  <a:noFill/>
                </a:ln>
                <a:solidFill>
                  <a:srgbClr val="333333"/>
                </a:solidFill>
                <a:effectLst/>
                <a:uLnTx/>
                <a:uFillTx/>
                <a:latin typeface="Calibri"/>
                <a:ea typeface="+mn-ea"/>
                <a:cs typeface="+mn-cs"/>
              </a:rPr>
              <a:t>por maximizar o valor do trabalho que a equipe executa,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através do gerenciamento</a:t>
            </a:r>
            <a:r>
              <a:rPr kumimoji="0" lang="pt-BR" sz="2000" b="0" i="0" u="none" strike="noStrike" kern="1200" cap="none" spc="0" normalizeH="0" baseline="0" noProof="0" dirty="0">
                <a:ln>
                  <a:noFill/>
                </a:ln>
                <a:solidFill>
                  <a:srgbClr val="333333"/>
                </a:solidFill>
                <a:effectLst/>
                <a:uLnTx/>
                <a:uFillTx/>
                <a:latin typeface="Calibri"/>
                <a:ea typeface="+mn-ea"/>
                <a:cs typeface="+mn-cs"/>
              </a:rPr>
              <a:t> do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Product</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Backlog</a:t>
            </a:r>
            <a:r>
              <a:rPr kumimoji="0" lang="pt-BR" sz="2000" b="0" i="0" u="none" strike="noStrike" kern="1200" cap="none" spc="0" normalizeH="0" baseline="0" noProof="0" dirty="0">
                <a:ln>
                  <a:noFill/>
                </a:ln>
                <a:solidFill>
                  <a:srgbClr val="333333"/>
                </a:solidFill>
                <a:effectLst/>
                <a:uLnTx/>
                <a:uFillTx/>
                <a:latin typeface="Calibri"/>
                <a:ea typeface="+mn-ea"/>
                <a:cs typeface="+mn-cs"/>
              </a:rPr>
              <a:t> e garantir o valor do trabalho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realizado;</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2325688" marR="0" lvl="0" indent="-2325688" algn="l" defTabSz="914400" rtl="0" eaLnBrk="1" fontAlgn="auto" latinLnBrk="0" hangingPunct="1">
              <a:lnSpc>
                <a:spcPct val="100000"/>
              </a:lnSpc>
              <a:spcBef>
                <a:spcPts val="0"/>
              </a:spcBef>
              <a:spcAft>
                <a:spcPts val="1200"/>
              </a:spcAft>
              <a:buClrTx/>
              <a:buSzTx/>
              <a:buFontTx/>
              <a:buNone/>
              <a:tabLst/>
              <a:defRPr/>
            </a:pP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       </a:t>
            </a:r>
            <a:r>
              <a:rPr kumimoji="0" lang="pt-BR" sz="2000" b="1" i="0" u="none" strike="noStrike" kern="1200" cap="none" spc="0" normalizeH="0" baseline="0" noProof="0" dirty="0" err="1" smtClean="0">
                <a:ln>
                  <a:noFill/>
                </a:ln>
                <a:solidFill>
                  <a:srgbClr val="333333"/>
                </a:solidFill>
                <a:effectLst/>
                <a:uLnTx/>
                <a:uFillTx/>
                <a:latin typeface="Calibri"/>
                <a:ea typeface="+mn-ea"/>
                <a:cs typeface="+mn-cs"/>
              </a:rPr>
              <a:t>Product</a:t>
            </a: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 </a:t>
            </a:r>
            <a:r>
              <a:rPr kumimoji="0" lang="pt-BR" sz="2000" b="1" i="0" u="none" strike="noStrike" kern="1200" cap="none" spc="0" normalizeH="0" baseline="0" noProof="0" dirty="0" err="1" smtClean="0">
                <a:ln>
                  <a:noFill/>
                </a:ln>
                <a:solidFill>
                  <a:srgbClr val="333333"/>
                </a:solidFill>
                <a:effectLst/>
                <a:uLnTx/>
                <a:uFillTx/>
                <a:latin typeface="Calibri"/>
                <a:ea typeface="+mn-ea"/>
                <a:cs typeface="+mn-cs"/>
              </a:rPr>
              <a:t>Backlog</a:t>
            </a: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	Lista </a:t>
            </a:r>
            <a:r>
              <a:rPr kumimoji="0" lang="pt-BR" sz="2000" b="0" i="0" u="none" strike="noStrike" kern="1200" cap="none" spc="0" normalizeH="0" baseline="0" noProof="0" dirty="0">
                <a:ln>
                  <a:noFill/>
                </a:ln>
                <a:solidFill>
                  <a:srgbClr val="333333"/>
                </a:solidFill>
                <a:effectLst/>
                <a:uLnTx/>
                <a:uFillTx/>
                <a:latin typeface="Calibri"/>
                <a:ea typeface="+mn-ea"/>
                <a:cs typeface="+mn-cs"/>
              </a:rPr>
              <a:t>contendo todas as funcionalidades desejadas para um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produto;</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2325688" marR="0" lvl="0" indent="-2325688" algn="l" defTabSz="914400" rtl="0" eaLnBrk="1" fontAlgn="auto" latinLnBrk="0" hangingPunct="1">
              <a:lnSpc>
                <a:spcPct val="100000"/>
              </a:lnSpc>
              <a:spcBef>
                <a:spcPts val="0"/>
              </a:spcBef>
              <a:spcAft>
                <a:spcPts val="1200"/>
              </a:spcAft>
              <a:buClrTx/>
              <a:buSzTx/>
              <a:buFontTx/>
              <a:buNone/>
              <a:tabLst/>
              <a:defRPr/>
            </a:pP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                          Sprint:</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	Desenvolvimento </a:t>
            </a:r>
            <a:r>
              <a:rPr kumimoji="0" lang="pt-BR" sz="2000" b="0" i="0" u="none" strike="noStrike" kern="1200" cap="none" spc="0" normalizeH="0" baseline="0" noProof="0" dirty="0">
                <a:ln>
                  <a:noFill/>
                </a:ln>
                <a:solidFill>
                  <a:srgbClr val="333333"/>
                </a:solidFill>
                <a:effectLst/>
                <a:uLnTx/>
                <a:uFillTx/>
                <a:latin typeface="Calibri"/>
                <a:ea typeface="+mn-ea"/>
                <a:cs typeface="+mn-cs"/>
              </a:rPr>
              <a:t>divido em ciclos, a cada ciclo temos uma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Sprint;</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p:txBody>
      </p:sp>
      <p:sp>
        <p:nvSpPr>
          <p:cNvPr id="7" name="Espaço Reservado para Rodapé 6"/>
          <p:cNvSpPr>
            <a:spLocks noGrp="1"/>
          </p:cNvSpPr>
          <p:nvPr>
            <p:ph type="ftr" sz="quarter" idx="11"/>
          </p:nvPr>
        </p:nvSpPr>
        <p:spPr>
          <a:xfrm>
            <a:off x="4038601" y="6455081"/>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CaixaDeTexto 5"/>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8" name="CaixaDeTexto 7">
            <a:extLst>
              <a:ext uri="{FF2B5EF4-FFF2-40B4-BE49-F238E27FC236}">
                <a16:creationId xmlns:a16="http://schemas.microsoft.com/office/drawing/2014/main" xmlns="" id="{AF27F5EA-A710-4BC6-BAF2-F13947371E72}"/>
              </a:ext>
            </a:extLst>
          </p:cNvPr>
          <p:cNvSpPr txBox="1"/>
          <p:nvPr/>
        </p:nvSpPr>
        <p:spPr>
          <a:xfrm>
            <a:off x="463683" y="1166103"/>
            <a:ext cx="1025987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smtClean="0">
                <a:ln>
                  <a:noFill/>
                </a:ln>
                <a:solidFill>
                  <a:srgbClr val="333333"/>
                </a:solidFill>
                <a:effectLst/>
                <a:uLnTx/>
                <a:uFillTx/>
                <a:latin typeface="Gill Sans MT" panose="020B0502020104020203" pitchFamily="34" charset="0"/>
                <a:ea typeface="+mn-ea"/>
                <a:cs typeface="+mn-cs"/>
              </a:rPr>
              <a:t>Termos e Nomenclaturas</a:t>
            </a:r>
            <a:r>
              <a:rPr kumimoji="0" lang="pt-BR" sz="3200" b="1" i="0" u="none" strike="noStrike" kern="1200" cap="none" spc="0" normalizeH="0" noProof="0" dirty="0" smtClean="0">
                <a:ln>
                  <a:noFill/>
                </a:ln>
                <a:solidFill>
                  <a:srgbClr val="333333"/>
                </a:solidFill>
                <a:effectLst/>
                <a:uLnTx/>
                <a:uFillTx/>
                <a:latin typeface="Gill Sans MT" panose="020B0502020104020203" pitchFamily="34" charset="0"/>
                <a:ea typeface="+mn-ea"/>
                <a:cs typeface="+mn-cs"/>
              </a:rPr>
              <a:t> Ágil</a:t>
            </a:r>
            <a:endParaRPr kumimoji="0" lang="pt-BR" sz="3200" b="1" i="0" u="none" strike="noStrike" kern="1200" cap="none" spc="0" normalizeH="0" baseline="0" noProof="0" dirty="0">
              <a:ln>
                <a:noFill/>
              </a:ln>
              <a:solidFill>
                <a:srgbClr val="333333"/>
              </a:solidFill>
              <a:effectLst/>
              <a:uLnTx/>
              <a:uFillTx/>
              <a:latin typeface="Gill Sans MT" panose="020B0502020104020203" pitchFamily="34" charset="0"/>
              <a:ea typeface="+mn-ea"/>
              <a:cs typeface="+mn-cs"/>
            </a:endParaRPr>
          </a:p>
        </p:txBody>
      </p:sp>
    </p:spTree>
    <p:extLst>
      <p:ext uri="{BB962C8B-B14F-4D97-AF65-F5344CB8AC3E}">
        <p14:creationId xmlns:p14="http://schemas.microsoft.com/office/powerpoint/2010/main" xmlns="" val="26883244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2" name="Retângulo 1">
            <a:extLst>
              <a:ext uri="{FF2B5EF4-FFF2-40B4-BE49-F238E27FC236}">
                <a16:creationId xmlns:a16="http://schemas.microsoft.com/office/drawing/2014/main" xmlns="" id="{B3311B30-DFD4-4286-BEE1-4A3C67EB655C}"/>
              </a:ext>
            </a:extLst>
          </p:cNvPr>
          <p:cNvSpPr/>
          <p:nvPr/>
        </p:nvSpPr>
        <p:spPr>
          <a:xfrm>
            <a:off x="336820" y="1862330"/>
            <a:ext cx="11518362" cy="4324261"/>
          </a:xfrm>
          <a:prstGeom prst="rect">
            <a:avLst/>
          </a:prstGeom>
        </p:spPr>
        <p:txBody>
          <a:bodyPr wrap="square">
            <a:spAutoFit/>
          </a:bodyPr>
          <a:lstStyle/>
          <a:p>
            <a:pPr marL="2155825" marR="0" lvl="0" indent="-2155825" algn="l" defTabSz="914400" rtl="0" eaLnBrk="1" fontAlgn="auto" latinLnBrk="0" hangingPunct="1">
              <a:lnSpc>
                <a:spcPct val="100000"/>
              </a:lnSpc>
              <a:spcBef>
                <a:spcPts val="0"/>
              </a:spcBef>
              <a:spcAft>
                <a:spcPts val="600"/>
              </a:spcAft>
              <a:buClrTx/>
              <a:buSzTx/>
              <a:buFontTx/>
              <a:buNone/>
              <a:tabLst/>
              <a:defRPr/>
            </a:pP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                    </a:t>
            </a:r>
            <a:r>
              <a:rPr kumimoji="0" lang="pt-BR" sz="2000" b="1" i="0" u="none" strike="noStrike" kern="1200" cap="none" spc="0" normalizeH="0" baseline="0" noProof="0" dirty="0" err="1" smtClean="0">
                <a:ln>
                  <a:noFill/>
                </a:ln>
                <a:solidFill>
                  <a:srgbClr val="333333"/>
                </a:solidFill>
                <a:effectLst/>
                <a:uLnTx/>
                <a:uFillTx/>
                <a:latin typeface="Calibri"/>
                <a:ea typeface="+mn-ea"/>
                <a:cs typeface="+mn-cs"/>
              </a:rPr>
              <a:t>Scrum</a:t>
            </a: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a:t>
            </a:r>
            <a:r>
              <a:rPr kumimoji="0" lang="pt-BR" sz="2000" b="0" i="0" u="none" strike="noStrike" kern="1200" cap="none" spc="0" normalizeH="0" baseline="0" noProof="0" dirty="0">
                <a:ln>
                  <a:noFill/>
                </a:ln>
                <a:solidFill>
                  <a:srgbClr val="333333"/>
                </a:solidFill>
                <a:effectLst/>
                <a:uLnTx/>
                <a:uFillTx/>
                <a:latin typeface="Calibri"/>
                <a:ea typeface="+mn-ea"/>
                <a:cs typeface="+mn-cs"/>
              </a:rPr>
              <a:t>	Metodologia de desenvolvimento de software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ágil</a:t>
            </a:r>
            <a:r>
              <a:rPr kumimoji="0" lang="pt-BR" sz="2000" b="0" i="0" u="none" strike="noStrike" kern="1200" cap="none" spc="0" normalizeH="0" baseline="0" noProof="0" dirty="0">
                <a:ln>
                  <a:noFill/>
                </a:ln>
                <a:solidFill>
                  <a:srgbClr val="333333"/>
                </a:solidFill>
                <a:effectLst/>
                <a:uLnTx/>
                <a:uFillTx/>
                <a:latin typeface="Calibri"/>
                <a:ea typeface="+mn-ea"/>
                <a:cs typeface="+mn-cs"/>
              </a:rPr>
              <a:t>;</a:t>
            </a:r>
            <a:endParaRPr kumimoji="0" lang="pt-BR" sz="2000" b="0" i="0" u="none" strike="noStrike" kern="1200" cap="none" spc="0" normalizeH="0" baseline="0" noProof="0" dirty="0" smtClean="0">
              <a:ln>
                <a:noFill/>
              </a:ln>
              <a:solidFill>
                <a:srgbClr val="333333"/>
              </a:solidFill>
              <a:effectLst/>
              <a:uLnTx/>
              <a:uFillTx/>
              <a:latin typeface="Calibri"/>
              <a:ea typeface="+mn-ea"/>
              <a:cs typeface="+mn-cs"/>
            </a:endParaRPr>
          </a:p>
          <a:p>
            <a:pPr marL="2155825" marR="0" lvl="0" indent="-2155825" algn="l" defTabSz="914400" rtl="0" eaLnBrk="1" fontAlgn="auto" latinLnBrk="0" hangingPunct="1">
              <a:lnSpc>
                <a:spcPct val="100000"/>
              </a:lnSpc>
              <a:spcBef>
                <a:spcPts val="0"/>
              </a:spcBef>
              <a:spcAft>
                <a:spcPts val="600"/>
              </a:spcAft>
              <a:buClrTx/>
              <a:buSzTx/>
              <a:buFontTx/>
              <a:buNone/>
              <a:tabLst/>
              <a:defRPr/>
            </a:pPr>
            <a:endParaRPr kumimoji="0" lang="pt-BR" sz="2000" b="1" i="0" u="none" strike="noStrike" kern="1200" cap="none" spc="0" normalizeH="0" baseline="0" noProof="0" dirty="0" smtClean="0">
              <a:ln>
                <a:noFill/>
              </a:ln>
              <a:solidFill>
                <a:srgbClr val="333333"/>
              </a:solidFill>
              <a:effectLst/>
              <a:uLnTx/>
              <a:uFillTx/>
              <a:latin typeface="Calibri"/>
              <a:ea typeface="+mn-ea"/>
              <a:cs typeface="+mn-cs"/>
            </a:endParaRPr>
          </a:p>
          <a:p>
            <a:pPr marL="2155825" marR="0" lvl="0" indent="-2155825" algn="l" defTabSz="914400" rtl="0" eaLnBrk="1" fontAlgn="auto" latinLnBrk="0" hangingPunct="1">
              <a:lnSpc>
                <a:spcPct val="100000"/>
              </a:lnSpc>
              <a:spcBef>
                <a:spcPts val="0"/>
              </a:spcBef>
              <a:spcAft>
                <a:spcPts val="600"/>
              </a:spcAft>
              <a:buClrTx/>
              <a:buSzTx/>
              <a:buFontTx/>
              <a:buNone/>
              <a:tabLst/>
              <a:defRPr/>
            </a:pP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                   </a:t>
            </a:r>
            <a:r>
              <a:rPr kumimoji="0" lang="pt-BR" sz="2000" b="1" i="0" u="none" strike="noStrike" kern="1200" cap="none" spc="0" normalizeH="0" baseline="0" noProof="0" dirty="0" err="1" smtClean="0">
                <a:ln>
                  <a:noFill/>
                </a:ln>
                <a:solidFill>
                  <a:srgbClr val="333333"/>
                </a:solidFill>
                <a:effectLst/>
                <a:uLnTx/>
                <a:uFillTx/>
                <a:latin typeface="Calibri"/>
                <a:ea typeface="+mn-ea"/>
                <a:cs typeface="+mn-cs"/>
              </a:rPr>
              <a:t>Kanban</a:t>
            </a:r>
            <a:r>
              <a:rPr kumimoji="0" lang="pt-BR" sz="2000" b="1"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E</a:t>
            </a:r>
            <a:r>
              <a:rPr kumimoji="0" lang="pt-PT" altLang="pt-BR" sz="2000" b="0" i="0" u="none" strike="noStrike" kern="1200" cap="none" spc="0" normalizeH="0" baseline="0" noProof="0" dirty="0" smtClean="0">
                <a:ln>
                  <a:noFill/>
                </a:ln>
                <a:solidFill>
                  <a:srgbClr val="333333"/>
                </a:solidFill>
                <a:effectLst/>
                <a:uLnTx/>
                <a:uFillTx/>
                <a:latin typeface="Calibri"/>
                <a:ea typeface="+mn-ea"/>
                <a:cs typeface="+mn-cs"/>
              </a:rPr>
              <a:t>strutura </a:t>
            </a:r>
            <a:r>
              <a:rPr kumimoji="0" lang="pt-PT" altLang="pt-BR" sz="2000" b="0" i="0" u="none" strike="noStrike" kern="1200" cap="none" spc="0" normalizeH="0" baseline="0" noProof="0" dirty="0">
                <a:ln>
                  <a:noFill/>
                </a:ln>
                <a:solidFill>
                  <a:srgbClr val="333333"/>
                </a:solidFill>
                <a:effectLst/>
                <a:uLnTx/>
                <a:uFillTx/>
                <a:latin typeface="Calibri"/>
                <a:ea typeface="+mn-ea"/>
                <a:cs typeface="+mn-cs"/>
              </a:rPr>
              <a:t>popular usada para implementar desenvolvimento de software </a:t>
            </a:r>
            <a:r>
              <a:rPr kumimoji="0" lang="pt-PT" altLang="pt-BR" sz="2000" b="0" i="0" u="none" strike="noStrike" kern="1200" cap="none" spc="0" normalizeH="0" baseline="0" noProof="0" dirty="0" smtClean="0">
                <a:ln>
                  <a:noFill/>
                </a:ln>
                <a:solidFill>
                  <a:srgbClr val="333333"/>
                </a:solidFill>
                <a:effectLst/>
                <a:uLnTx/>
                <a:uFillTx/>
                <a:latin typeface="Calibri"/>
                <a:ea typeface="+mn-ea"/>
                <a:cs typeface="+mn-cs"/>
              </a:rPr>
              <a:t>ágil; </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2155825" marR="0" lvl="0" indent="-2155825" algn="l" defTabSz="914400" rtl="0" eaLnBrk="1" fontAlgn="auto" latinLnBrk="0" hangingPunct="1">
              <a:lnSpc>
                <a:spcPct val="100000"/>
              </a:lnSpc>
              <a:spcBef>
                <a:spcPts val="0"/>
              </a:spcBef>
              <a:spcAft>
                <a:spcPts val="600"/>
              </a:spcAft>
              <a:buClrTx/>
              <a:buSzTx/>
              <a:buFontTx/>
              <a:buNone/>
              <a:tabLst/>
              <a:defRPr/>
            </a:pPr>
            <a:endParaRPr kumimoji="0" lang="pt-BR" sz="2000" b="1" i="0" u="none" strike="noStrike" kern="1200" cap="none" spc="0" normalizeH="0" baseline="0" noProof="0" dirty="0" smtClean="0">
              <a:ln>
                <a:noFill/>
              </a:ln>
              <a:solidFill>
                <a:srgbClr val="333333"/>
              </a:solidFill>
              <a:effectLst/>
              <a:uLnTx/>
              <a:uFillTx/>
              <a:latin typeface="Calibri"/>
              <a:ea typeface="+mn-ea"/>
              <a:cs typeface="+mn-cs"/>
            </a:endParaRPr>
          </a:p>
          <a:p>
            <a:pPr marL="2155825" marR="0" lvl="0" indent="-2155825" algn="l" defTabSz="914400" rtl="0" eaLnBrk="1" fontAlgn="auto" latinLnBrk="0" hangingPunct="1">
              <a:lnSpc>
                <a:spcPct val="100000"/>
              </a:lnSpc>
              <a:spcBef>
                <a:spcPts val="0"/>
              </a:spcBef>
              <a:spcAft>
                <a:spcPts val="600"/>
              </a:spcAft>
              <a:buClrTx/>
              <a:buSzTx/>
              <a:buFontTx/>
              <a:buNone/>
              <a:tabLst/>
              <a:defRPr/>
            </a:pP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          </a:t>
            </a:r>
            <a:r>
              <a:rPr kumimoji="0" lang="pt-BR" sz="2000" b="1" i="0" u="none" strike="noStrike" kern="1200" cap="none" spc="0" normalizeH="0" baseline="0" noProof="0" dirty="0" err="1" smtClean="0">
                <a:ln>
                  <a:noFill/>
                </a:ln>
                <a:solidFill>
                  <a:srgbClr val="333333"/>
                </a:solidFill>
                <a:effectLst/>
                <a:uLnTx/>
                <a:uFillTx/>
                <a:latin typeface="Calibri"/>
                <a:ea typeface="+mn-ea"/>
                <a:cs typeface="+mn-cs"/>
              </a:rPr>
              <a:t>Stakeholders</a:t>
            </a: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	Público </a:t>
            </a:r>
            <a:r>
              <a:rPr kumimoji="0" lang="pt-BR" sz="2000" b="0" i="0" u="none" strike="noStrike" kern="1200" cap="none" spc="0" normalizeH="0" baseline="0" noProof="0" dirty="0">
                <a:ln>
                  <a:noFill/>
                </a:ln>
                <a:solidFill>
                  <a:srgbClr val="333333"/>
                </a:solidFill>
                <a:effectLst/>
                <a:uLnTx/>
                <a:uFillTx/>
                <a:latin typeface="Calibri"/>
                <a:ea typeface="+mn-ea"/>
                <a:cs typeface="+mn-cs"/>
              </a:rPr>
              <a:t>estratégico e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corresponde à uma </a:t>
            </a:r>
            <a:r>
              <a:rPr kumimoji="0" lang="pt-BR" sz="2000" b="0" i="0" u="none" strike="noStrike" kern="1200" cap="none" spc="0" normalizeH="0" baseline="0" noProof="0" dirty="0">
                <a:ln>
                  <a:noFill/>
                </a:ln>
                <a:solidFill>
                  <a:srgbClr val="333333"/>
                </a:solidFill>
                <a:effectLst/>
                <a:uLnTx/>
                <a:uFillTx/>
                <a:latin typeface="Calibri"/>
                <a:ea typeface="+mn-ea"/>
                <a:cs typeface="+mn-cs"/>
              </a:rPr>
              <a:t>pessoa ou grupo que tem interesse em uma empresa, negócio ou indústria, podendo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ou não </a:t>
            </a:r>
            <a:r>
              <a:rPr kumimoji="0" lang="pt-BR" sz="2000" b="0" i="0" u="none" strike="noStrike" kern="1200" cap="none" spc="0" normalizeH="0" baseline="0" noProof="0" dirty="0">
                <a:ln>
                  <a:noFill/>
                </a:ln>
                <a:solidFill>
                  <a:srgbClr val="333333"/>
                </a:solidFill>
                <a:effectLst/>
                <a:uLnTx/>
                <a:uFillTx/>
                <a:latin typeface="Calibri"/>
                <a:ea typeface="+mn-ea"/>
                <a:cs typeface="+mn-cs"/>
              </a:rPr>
              <a:t>ter feito um investimento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neles. Em </a:t>
            </a:r>
            <a:r>
              <a:rPr kumimoji="0" lang="pt-BR" sz="2000" b="0" i="0" u="none" strike="noStrike" kern="1200" cap="none" spc="0" normalizeH="0" baseline="0" noProof="0" dirty="0">
                <a:ln>
                  <a:noFill/>
                </a:ln>
                <a:solidFill>
                  <a:srgbClr val="333333"/>
                </a:solidFill>
                <a:effectLst/>
                <a:uLnTx/>
                <a:uFillTx/>
                <a:latin typeface="Calibri"/>
                <a:ea typeface="+mn-ea"/>
                <a:cs typeface="+mn-cs"/>
              </a:rPr>
              <a:t>engenharia de software são todos os interessados no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projeto;</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2155825" marR="0" lvl="0" indent="-2155825" algn="l" defTabSz="914400" rtl="0" eaLnBrk="1" fontAlgn="auto" latinLnBrk="0" hangingPunct="1">
              <a:lnSpc>
                <a:spcPct val="100000"/>
              </a:lnSpc>
              <a:spcBef>
                <a:spcPts val="0"/>
              </a:spcBef>
              <a:spcAft>
                <a:spcPts val="600"/>
              </a:spcAft>
              <a:buClrTx/>
              <a:buSzTx/>
              <a:buFontTx/>
              <a:buNone/>
              <a:tabLst/>
              <a:defRPr/>
            </a:pP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                         TDD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 	Test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Driven</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Development</a:t>
            </a:r>
            <a:r>
              <a:rPr kumimoji="0" lang="pt-BR" sz="2000" b="0" i="0" u="none" strike="noStrike" kern="1200" cap="none" spc="0" normalizeH="0" baseline="0" noProof="0" dirty="0">
                <a:ln>
                  <a:noFill/>
                </a:ln>
                <a:solidFill>
                  <a:srgbClr val="333333"/>
                </a:solidFill>
                <a:effectLst/>
                <a:uLnTx/>
                <a:uFillTx/>
                <a:latin typeface="Calibri"/>
                <a:ea typeface="+mn-ea"/>
                <a:cs typeface="+mn-cs"/>
              </a:rPr>
              <a:t> ou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Desenvolvimento </a:t>
            </a:r>
            <a:r>
              <a:rPr kumimoji="0" lang="pt-BR" sz="2000" b="0" i="0" u="none" strike="noStrike" kern="1200" cap="none" spc="0" normalizeH="0" baseline="0" noProof="0" dirty="0">
                <a:ln>
                  <a:noFill/>
                </a:ln>
                <a:solidFill>
                  <a:srgbClr val="333333"/>
                </a:solidFill>
                <a:effectLst/>
                <a:uLnTx/>
                <a:uFillTx/>
                <a:latin typeface="Calibri"/>
                <a:ea typeface="+mn-ea"/>
                <a:cs typeface="+mn-cs"/>
              </a:rPr>
              <a:t>dirigido por testes é uma técnica de desenvolvimento de software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baseada em </a:t>
            </a:r>
            <a:r>
              <a:rPr kumimoji="0" lang="pt-BR" sz="2000" b="0" i="0" u="none" strike="noStrike" kern="1200" cap="none" spc="0" normalizeH="0" baseline="0" noProof="0" dirty="0">
                <a:ln>
                  <a:noFill/>
                </a:ln>
                <a:solidFill>
                  <a:srgbClr val="333333"/>
                </a:solidFill>
                <a:effectLst/>
                <a:uLnTx/>
                <a:uFillTx/>
                <a:latin typeface="Calibri"/>
                <a:ea typeface="+mn-ea"/>
                <a:cs typeface="+mn-cs"/>
              </a:rPr>
              <a:t>um ciclo curto de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repetições;</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2155825" marR="0" lvl="0" indent="-2155825" algn="l" defTabSz="914400" rtl="0" eaLnBrk="1" fontAlgn="auto" latinLnBrk="0" hangingPunct="1">
              <a:lnSpc>
                <a:spcPct val="100000"/>
              </a:lnSpc>
              <a:spcBef>
                <a:spcPts val="0"/>
              </a:spcBef>
              <a:spcAft>
                <a:spcPts val="600"/>
              </a:spcAft>
              <a:buClrTx/>
              <a:buSzTx/>
              <a:buFontTx/>
              <a:buNone/>
              <a:tabLst/>
              <a:defRPr/>
            </a:pPr>
            <a:endParaRPr kumimoji="0" lang="pt-BR" sz="2000" b="1" i="0" u="none" strike="noStrike" kern="1200" cap="none" spc="0" normalizeH="0" baseline="0" noProof="0" dirty="0" smtClean="0">
              <a:ln>
                <a:noFill/>
              </a:ln>
              <a:solidFill>
                <a:srgbClr val="333333"/>
              </a:solidFill>
              <a:effectLst/>
              <a:uLnTx/>
              <a:uFillTx/>
              <a:latin typeface="Calibri"/>
              <a:ea typeface="+mn-ea"/>
              <a:cs typeface="+mn-cs"/>
            </a:endParaRPr>
          </a:p>
          <a:p>
            <a:pPr marL="2155825" marR="0" lvl="0" indent="-2155825" algn="l" defTabSz="914400" rtl="0" eaLnBrk="1" fontAlgn="auto" latinLnBrk="0" hangingPunct="1">
              <a:lnSpc>
                <a:spcPct val="100000"/>
              </a:lnSpc>
              <a:spcBef>
                <a:spcPts val="0"/>
              </a:spcBef>
              <a:spcAft>
                <a:spcPts val="600"/>
              </a:spcAft>
              <a:buClrTx/>
              <a:buSzTx/>
              <a:buFontTx/>
              <a:buNone/>
              <a:tabLst/>
              <a:defRPr/>
            </a:pP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                          XP: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	Extreme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Programming</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é </a:t>
            </a:r>
            <a:r>
              <a:rPr kumimoji="0" lang="pt-BR" sz="2000" b="0" i="0" u="none" strike="noStrike" kern="1200" cap="none" spc="0" normalizeH="0" baseline="0" noProof="0" dirty="0">
                <a:ln>
                  <a:noFill/>
                </a:ln>
                <a:solidFill>
                  <a:srgbClr val="333333"/>
                </a:solidFill>
                <a:effectLst/>
                <a:uLnTx/>
                <a:uFillTx/>
                <a:latin typeface="Calibri"/>
                <a:ea typeface="+mn-ea"/>
                <a:cs typeface="+mn-cs"/>
              </a:rPr>
              <a:t>uma metodologia de desenvolvimento de software, nascida nos Estados Unidos ao final da década de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90.</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p:txBody>
      </p:sp>
      <p:sp>
        <p:nvSpPr>
          <p:cNvPr id="7" name="Espaço Reservado para Rodapé 6"/>
          <p:cNvSpPr>
            <a:spLocks noGrp="1"/>
          </p:cNvSpPr>
          <p:nvPr>
            <p:ph type="ftr" sz="quarter" idx="11"/>
          </p:nvPr>
        </p:nvSpPr>
        <p:spPr>
          <a:xfrm>
            <a:off x="4376474" y="6441703"/>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CaixaDeTexto 5"/>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8" name="CaixaDeTexto 7">
            <a:extLst>
              <a:ext uri="{FF2B5EF4-FFF2-40B4-BE49-F238E27FC236}">
                <a16:creationId xmlns:a16="http://schemas.microsoft.com/office/drawing/2014/main" xmlns="" id="{AF27F5EA-A710-4BC6-BAF2-F13947371E72}"/>
              </a:ext>
            </a:extLst>
          </p:cNvPr>
          <p:cNvSpPr txBox="1"/>
          <p:nvPr/>
        </p:nvSpPr>
        <p:spPr>
          <a:xfrm>
            <a:off x="463683" y="1166103"/>
            <a:ext cx="1025987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smtClean="0">
                <a:ln>
                  <a:noFill/>
                </a:ln>
                <a:solidFill>
                  <a:srgbClr val="333333"/>
                </a:solidFill>
                <a:effectLst/>
                <a:uLnTx/>
                <a:uFillTx/>
                <a:latin typeface="Gill Sans MT" panose="020B0502020104020203" pitchFamily="34" charset="0"/>
                <a:ea typeface="+mn-ea"/>
                <a:cs typeface="+mn-cs"/>
              </a:rPr>
              <a:t>Termos e Nomenclaturas</a:t>
            </a:r>
            <a:r>
              <a:rPr kumimoji="0" lang="pt-BR" sz="3200" b="1" i="0" u="none" strike="noStrike" kern="1200" cap="none" spc="0" normalizeH="0" noProof="0" dirty="0" smtClean="0">
                <a:ln>
                  <a:noFill/>
                </a:ln>
                <a:solidFill>
                  <a:srgbClr val="333333"/>
                </a:solidFill>
                <a:effectLst/>
                <a:uLnTx/>
                <a:uFillTx/>
                <a:latin typeface="Gill Sans MT" panose="020B0502020104020203" pitchFamily="34" charset="0"/>
                <a:ea typeface="+mn-ea"/>
                <a:cs typeface="+mn-cs"/>
              </a:rPr>
              <a:t> Ágil</a:t>
            </a:r>
            <a:endParaRPr kumimoji="0" lang="pt-BR" sz="3200" b="1" i="0" u="none" strike="noStrike" kern="1200" cap="none" spc="0" normalizeH="0" baseline="0" noProof="0" dirty="0">
              <a:ln>
                <a:noFill/>
              </a:ln>
              <a:solidFill>
                <a:srgbClr val="333333"/>
              </a:solidFill>
              <a:effectLst/>
              <a:uLnTx/>
              <a:uFillTx/>
              <a:latin typeface="Gill Sans MT" panose="020B0502020104020203" pitchFamily="34" charset="0"/>
              <a:ea typeface="+mn-ea"/>
              <a:cs typeface="+mn-cs"/>
            </a:endParaRPr>
          </a:p>
        </p:txBody>
      </p:sp>
    </p:spTree>
    <p:extLst>
      <p:ext uri="{BB962C8B-B14F-4D97-AF65-F5344CB8AC3E}">
        <p14:creationId xmlns:p14="http://schemas.microsoft.com/office/powerpoint/2010/main" xmlns="" val="150118805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63" name="CaixaDeTexto 62"/>
          <p:cNvSpPr txBox="1"/>
          <p:nvPr/>
        </p:nvSpPr>
        <p:spPr>
          <a:xfrm>
            <a:off x="235250" y="975187"/>
            <a:ext cx="8282449"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000" b="1" i="0" u="none" strike="noStrike" kern="1200" cap="none" spc="0" normalizeH="0" baseline="0" noProof="0" dirty="0">
                <a:ln>
                  <a:noFill/>
                </a:ln>
                <a:solidFill>
                  <a:prstClr val="black"/>
                </a:solidFill>
                <a:effectLst/>
                <a:uLnTx/>
                <a:uFillTx/>
                <a:ea typeface="+mn-ea"/>
                <a:cs typeface="+mn-cs"/>
              </a:rPr>
              <a:t>Cerimônias </a:t>
            </a:r>
            <a:r>
              <a:rPr kumimoji="0" lang="pt-BR" sz="3000" b="1" i="0" u="none" strike="noStrike" kern="1200" cap="none" spc="0" normalizeH="0" baseline="0" noProof="0" dirty="0" smtClean="0">
                <a:ln>
                  <a:noFill/>
                </a:ln>
                <a:solidFill>
                  <a:prstClr val="black"/>
                </a:solidFill>
                <a:effectLst/>
                <a:uLnTx/>
                <a:uFillTx/>
                <a:ea typeface="+mn-ea"/>
                <a:cs typeface="+mn-cs"/>
              </a:rPr>
              <a:t>Ágil</a:t>
            </a:r>
            <a:endParaRPr kumimoji="0" lang="pt-BR" sz="3000" b="1" i="0" u="none" strike="noStrike" kern="1200" cap="none" spc="0" normalizeH="0" baseline="0" noProof="0" dirty="0">
              <a:ln>
                <a:noFill/>
              </a:ln>
              <a:solidFill>
                <a:prstClr val="black"/>
              </a:solidFill>
              <a:effectLst/>
              <a:uLnTx/>
              <a:uFillTx/>
              <a:ea typeface="+mn-ea"/>
              <a:cs typeface="+mn-cs"/>
            </a:endParaRPr>
          </a:p>
        </p:txBody>
      </p:sp>
      <p:sp>
        <p:nvSpPr>
          <p:cNvPr id="2" name="Retângulo 1">
            <a:extLst>
              <a:ext uri="{FF2B5EF4-FFF2-40B4-BE49-F238E27FC236}">
                <a16:creationId xmlns:a16="http://schemas.microsoft.com/office/drawing/2014/main" xmlns="" id="{8E821C40-0295-46D8-81AF-1E273B0192F9}"/>
              </a:ext>
            </a:extLst>
          </p:cNvPr>
          <p:cNvSpPr/>
          <p:nvPr/>
        </p:nvSpPr>
        <p:spPr>
          <a:xfrm>
            <a:off x="145357" y="1714803"/>
            <a:ext cx="8465243" cy="4708981"/>
          </a:xfrm>
          <a:prstGeom prst="rect">
            <a:avLst/>
          </a:prstGeom>
        </p:spPr>
        <p:txBody>
          <a:bodyPr wrap="square">
            <a:spAutoFit/>
          </a:bodyPr>
          <a:lstStyle/>
          <a:p>
            <a:pPr marL="3138488" marR="0" lvl="0" indent="-2976563" algn="l" defTabSz="914400" rtl="0" eaLnBrk="1" fontAlgn="auto" latinLnBrk="0" hangingPunct="1">
              <a:lnSpc>
                <a:spcPct val="100000"/>
              </a:lnSpc>
              <a:spcBef>
                <a:spcPts val="0"/>
              </a:spcBef>
              <a:spcAft>
                <a:spcPts val="0"/>
              </a:spcAft>
              <a:buClrTx/>
              <a:buSzTx/>
              <a:buFontTx/>
              <a:buNone/>
              <a:tabLst/>
              <a:defRPr/>
            </a:pP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    Sprint </a:t>
            </a:r>
            <a:r>
              <a:rPr kumimoji="0" lang="pt-BR" sz="2000" b="1" i="0" u="none" strike="noStrike" kern="1200" cap="none" spc="0" normalizeH="0" baseline="0" noProof="0" dirty="0">
                <a:ln>
                  <a:noFill/>
                </a:ln>
                <a:solidFill>
                  <a:srgbClr val="333333"/>
                </a:solidFill>
                <a:effectLst/>
                <a:uLnTx/>
                <a:uFillTx/>
                <a:latin typeface="Calibri"/>
                <a:ea typeface="+mn-ea"/>
                <a:cs typeface="+mn-cs"/>
              </a:rPr>
              <a:t>Planning </a:t>
            </a: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Meeting:</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Realizado </a:t>
            </a:r>
            <a:r>
              <a:rPr kumimoji="0" lang="pt-BR" sz="2000" b="0" i="0" u="none" strike="noStrike" kern="1200" cap="none" spc="0" normalizeH="0" baseline="0" noProof="0" dirty="0">
                <a:ln>
                  <a:noFill/>
                </a:ln>
                <a:solidFill>
                  <a:srgbClr val="333333"/>
                </a:solidFill>
                <a:effectLst/>
                <a:uLnTx/>
                <a:uFillTx/>
                <a:latin typeface="Calibri"/>
                <a:ea typeface="+mn-ea"/>
                <a:cs typeface="+mn-cs"/>
              </a:rPr>
              <a:t>no início de cada Sprint para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alinhar </a:t>
            </a:r>
            <a:r>
              <a:rPr kumimoji="0" lang="pt-BR" sz="2000" b="0" i="0" u="none" strike="noStrike" kern="1200" cap="none" spc="0" normalizeH="0" baseline="0" noProof="0" dirty="0">
                <a:ln>
                  <a:noFill/>
                </a:ln>
                <a:solidFill>
                  <a:srgbClr val="333333"/>
                </a:solidFill>
                <a:effectLst/>
                <a:uLnTx/>
                <a:uFillTx/>
                <a:latin typeface="Calibri"/>
                <a:ea typeface="+mn-ea"/>
                <a:cs typeface="+mn-cs"/>
              </a:rPr>
              <a:t>tudo que será feito, para que o produto final atenda às necessidades do cliente final.</a:t>
            </a:r>
          </a:p>
          <a:p>
            <a:pPr marL="3138488" marR="0" lvl="0" indent="-2976563" algn="l" defTabSz="914400" rtl="0" eaLnBrk="1" fontAlgn="auto" latinLnBrk="0" hangingPunct="1">
              <a:lnSpc>
                <a:spcPct val="100000"/>
              </a:lnSpc>
              <a:spcBef>
                <a:spcPts val="0"/>
              </a:spcBef>
              <a:spcAft>
                <a:spcPts val="0"/>
              </a:spcAft>
              <a:buClrTx/>
              <a:buSzTx/>
              <a:buFontTx/>
              <a:buNone/>
              <a:tabLst/>
              <a:defRPr/>
            </a:pPr>
            <a:endParaRPr kumimoji="0" lang="pt-BR" sz="2000" b="0" i="0" u="none" strike="noStrike" kern="1200" cap="none" spc="0" normalizeH="0" baseline="0" noProof="0" dirty="0">
              <a:ln>
                <a:noFill/>
              </a:ln>
              <a:solidFill>
                <a:srgbClr val="58595B"/>
              </a:solidFill>
              <a:effectLst/>
              <a:uLnTx/>
              <a:uFillTx/>
              <a:latin typeface="Calibri"/>
              <a:ea typeface="+mn-ea"/>
              <a:cs typeface="+mn-cs"/>
            </a:endParaRPr>
          </a:p>
          <a:p>
            <a:pPr marL="3138488" marR="0" lvl="0" indent="-2976563" algn="l" defTabSz="914400" rtl="0" eaLnBrk="1" fontAlgn="auto" latinLnBrk="0" hangingPunct="1">
              <a:lnSpc>
                <a:spcPct val="100000"/>
              </a:lnSpc>
              <a:spcBef>
                <a:spcPts val="0"/>
              </a:spcBef>
              <a:spcAft>
                <a:spcPts val="0"/>
              </a:spcAft>
              <a:buClrTx/>
              <a:buSzTx/>
              <a:buFontTx/>
              <a:buNone/>
              <a:tabLst/>
              <a:defRPr/>
            </a:pP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                          Daily </a:t>
            </a:r>
            <a:r>
              <a:rPr kumimoji="0" lang="pt-BR" sz="2000" b="1" i="0" u="none" strike="noStrike" kern="1200" cap="none" spc="0" normalizeH="0" baseline="0" noProof="0" dirty="0" err="1" smtClean="0">
                <a:ln>
                  <a:noFill/>
                </a:ln>
                <a:solidFill>
                  <a:srgbClr val="333333"/>
                </a:solidFill>
                <a:effectLst/>
                <a:uLnTx/>
                <a:uFillTx/>
                <a:latin typeface="Calibri"/>
                <a:ea typeface="+mn-ea"/>
                <a:cs typeface="+mn-cs"/>
              </a:rPr>
              <a:t>Scrum</a:t>
            </a: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Reunião </a:t>
            </a:r>
            <a:r>
              <a:rPr kumimoji="0" lang="pt-BR" sz="2000" b="0" i="0" u="none" strike="noStrike" kern="1200" cap="none" spc="0" normalizeH="0" baseline="0" noProof="0" dirty="0">
                <a:ln>
                  <a:noFill/>
                </a:ln>
                <a:solidFill>
                  <a:srgbClr val="333333"/>
                </a:solidFill>
                <a:effectLst/>
                <a:uLnTx/>
                <a:uFillTx/>
                <a:latin typeface="Calibri"/>
                <a:ea typeface="+mn-ea"/>
                <a:cs typeface="+mn-cs"/>
              </a:rPr>
              <a:t>matinal diária, curta, para que todos falem sobre o dia anterior, eventuais problemas que terão que ser resolvidos e o que pretendem fazer nesse dia.</a:t>
            </a:r>
          </a:p>
          <a:p>
            <a:pPr marL="3138488" marR="0" lvl="0" indent="-2976563" algn="l" defTabSz="914400" rtl="0" eaLnBrk="1" fontAlgn="auto" latinLnBrk="0" hangingPunct="1">
              <a:lnSpc>
                <a:spcPct val="100000"/>
              </a:lnSpc>
              <a:spcBef>
                <a:spcPts val="0"/>
              </a:spcBef>
              <a:spcAft>
                <a:spcPts val="0"/>
              </a:spcAft>
              <a:buClrTx/>
              <a:buSzTx/>
              <a:buFontTx/>
              <a:buNone/>
              <a:tabLst/>
              <a:defRPr/>
            </a:pP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3138488" marR="0" lvl="0" indent="-2976563" algn="l" defTabSz="914400" rtl="0" eaLnBrk="1" fontAlgn="auto" latinLnBrk="0" hangingPunct="1">
              <a:lnSpc>
                <a:spcPct val="100000"/>
              </a:lnSpc>
              <a:spcBef>
                <a:spcPts val="0"/>
              </a:spcBef>
              <a:spcAft>
                <a:spcPts val="0"/>
              </a:spcAft>
              <a:buClrTx/>
              <a:buSzTx/>
              <a:buFontTx/>
              <a:buNone/>
              <a:tabLst/>
              <a:defRPr/>
            </a:pP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    Sprint </a:t>
            </a:r>
            <a:r>
              <a:rPr kumimoji="0" lang="pt-BR" sz="2000" b="1" i="0" u="none" strike="noStrike" kern="1200" cap="none" spc="0" normalizeH="0" baseline="0" noProof="0" dirty="0" err="1">
                <a:ln>
                  <a:noFill/>
                </a:ln>
                <a:solidFill>
                  <a:srgbClr val="333333"/>
                </a:solidFill>
                <a:effectLst/>
                <a:uLnTx/>
                <a:uFillTx/>
                <a:latin typeface="Calibri"/>
                <a:ea typeface="+mn-ea"/>
                <a:cs typeface="+mn-cs"/>
              </a:rPr>
              <a:t>Review</a:t>
            </a:r>
            <a:r>
              <a:rPr kumimoji="0" lang="pt-BR" sz="2000" b="1" i="0" u="none" strike="noStrike" kern="1200" cap="none" spc="0" normalizeH="0" baseline="0" noProof="0" dirty="0">
                <a:ln>
                  <a:noFill/>
                </a:ln>
                <a:solidFill>
                  <a:srgbClr val="333333"/>
                </a:solidFill>
                <a:effectLst/>
                <a:uLnTx/>
                <a:uFillTx/>
                <a:latin typeface="Calibri"/>
                <a:ea typeface="+mn-ea"/>
                <a:cs typeface="+mn-cs"/>
              </a:rPr>
              <a:t> </a:t>
            </a: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Meeting:</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	Equipe </a:t>
            </a:r>
            <a:r>
              <a:rPr kumimoji="0" lang="pt-BR" sz="2000" b="0" i="0" u="none" strike="noStrike" kern="1200" cap="none" spc="0" normalizeH="0" baseline="0" noProof="0" dirty="0">
                <a:ln>
                  <a:noFill/>
                </a:ln>
                <a:solidFill>
                  <a:srgbClr val="333333"/>
                </a:solidFill>
                <a:effectLst/>
                <a:uLnTx/>
                <a:uFillTx/>
                <a:latin typeface="Calibri"/>
                <a:ea typeface="+mn-ea"/>
                <a:cs typeface="+mn-cs"/>
              </a:rPr>
              <a:t>envolvida no projeto apresenta ao grupo as funcionalidades que foram implementadas durante o Sprint em foco.</a:t>
            </a:r>
          </a:p>
          <a:p>
            <a:pPr marL="3138488" marR="0" lvl="0" indent="-2976563" algn="l" defTabSz="914400" rtl="0" eaLnBrk="1" fontAlgn="auto" latinLnBrk="0" hangingPunct="1">
              <a:lnSpc>
                <a:spcPct val="100000"/>
              </a:lnSpc>
              <a:spcBef>
                <a:spcPts val="0"/>
              </a:spcBef>
              <a:spcAft>
                <a:spcPts val="0"/>
              </a:spcAft>
              <a:buClrTx/>
              <a:buSzTx/>
              <a:buFontTx/>
              <a:buNone/>
              <a:tabLst/>
              <a:defRPr/>
            </a:pP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3138488" marR="0" lvl="0" indent="-2976563" algn="l" defTabSz="914400" rtl="0" eaLnBrk="1" fontAlgn="auto" latinLnBrk="0" hangingPunct="1">
              <a:lnSpc>
                <a:spcPct val="100000"/>
              </a:lnSpc>
              <a:spcBef>
                <a:spcPts val="0"/>
              </a:spcBef>
              <a:spcAft>
                <a:spcPts val="0"/>
              </a:spcAft>
              <a:buClrTx/>
              <a:buSzTx/>
              <a:buFontTx/>
              <a:buNone/>
              <a:tabLst/>
              <a:defRPr/>
            </a:pP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         Sprint </a:t>
            </a:r>
            <a:r>
              <a:rPr kumimoji="0" lang="pt-BR" sz="2000" b="1" i="0" u="none" strike="noStrike" kern="1200" cap="none" spc="0" normalizeH="0" baseline="0" noProof="0" dirty="0" err="1" smtClean="0">
                <a:ln>
                  <a:noFill/>
                </a:ln>
                <a:solidFill>
                  <a:srgbClr val="333333"/>
                </a:solidFill>
                <a:effectLst/>
                <a:uLnTx/>
                <a:uFillTx/>
                <a:latin typeface="Calibri"/>
                <a:ea typeface="+mn-ea"/>
                <a:cs typeface="+mn-cs"/>
              </a:rPr>
              <a:t>Retrospective</a:t>
            </a: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	</a:t>
            </a:r>
            <a:r>
              <a:rPr kumimoji="0" lang="pt-BR" sz="2000" b="0" i="0" u="none" strike="noStrike" kern="1200" cap="none" spc="0" normalizeH="0" baseline="0" noProof="0" dirty="0">
                <a:ln>
                  <a:noFill/>
                </a:ln>
                <a:solidFill>
                  <a:srgbClr val="333333"/>
                </a:solidFill>
                <a:effectLst/>
                <a:uLnTx/>
                <a:uFillTx/>
                <a:latin typeface="Calibri"/>
                <a:ea typeface="+mn-ea"/>
                <a:cs typeface="+mn-cs"/>
              </a:rPr>
              <a:t>R</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einício </a:t>
            </a:r>
            <a:r>
              <a:rPr kumimoji="0" lang="pt-BR" sz="2000" b="0" i="0" u="none" strike="noStrike" kern="1200" cap="none" spc="0" normalizeH="0" baseline="0" noProof="0" dirty="0">
                <a:ln>
                  <a:noFill/>
                </a:ln>
                <a:solidFill>
                  <a:srgbClr val="333333"/>
                </a:solidFill>
                <a:effectLst/>
                <a:uLnTx/>
                <a:uFillTx/>
                <a:latin typeface="Calibri"/>
                <a:ea typeface="+mn-ea"/>
                <a:cs typeface="+mn-cs"/>
              </a:rPr>
              <a:t>do ciclo, usando os aprendizados desse Sprint para se planejar o próximo.</a:t>
            </a:r>
          </a:p>
        </p:txBody>
      </p:sp>
      <p:pic>
        <p:nvPicPr>
          <p:cNvPr id="11" name="Picture 2" descr="Resultado de imagem para cerimonia ageis">
            <a:extLst>
              <a:ext uri="{FF2B5EF4-FFF2-40B4-BE49-F238E27FC236}">
                <a16:creationId xmlns:a16="http://schemas.microsoft.com/office/drawing/2014/main" xmlns="" id="{E262CA73-969E-4E98-BAE8-E7C5518B9A77}"/>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8700493" y="2323946"/>
            <a:ext cx="3180104" cy="2887920"/>
          </a:xfrm>
          <a:prstGeom prst="rect">
            <a:avLst/>
          </a:prstGeom>
          <a:noFill/>
          <a:extLst>
            <a:ext uri="{909E8E84-426E-40DD-AFC4-6F175D3DCCD1}">
              <a14:hiddenFill xmlns:a14="http://schemas.microsoft.com/office/drawing/2010/main" xmlns="">
                <a:solidFill>
                  <a:srgbClr val="FFFFFF"/>
                </a:solidFill>
              </a14:hiddenFill>
            </a:ext>
          </a:extLst>
        </p:spPr>
      </p:pic>
      <p:sp>
        <p:nvSpPr>
          <p:cNvPr id="7" name="Espaço Reservado para Rodapé 6"/>
          <p:cNvSpPr>
            <a:spLocks noGrp="1"/>
          </p:cNvSpPr>
          <p:nvPr>
            <p:ph type="ftr" sz="quarter" idx="11"/>
          </p:nvPr>
        </p:nvSpPr>
        <p:spPr>
          <a:xfrm>
            <a:off x="4038601" y="6441703"/>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CaixaDeTexto 7"/>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311498307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63" name="CaixaDeTexto 62"/>
          <p:cNvSpPr txBox="1"/>
          <p:nvPr/>
        </p:nvSpPr>
        <p:spPr>
          <a:xfrm>
            <a:off x="235252" y="895881"/>
            <a:ext cx="8282449"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000" b="1" i="0" u="none" strike="noStrike" kern="1200" cap="none" spc="0" normalizeH="0" baseline="0" noProof="0" dirty="0">
                <a:ln>
                  <a:noFill/>
                </a:ln>
                <a:solidFill>
                  <a:prstClr val="black"/>
                </a:solidFill>
                <a:effectLst/>
                <a:uLnTx/>
                <a:uFillTx/>
                <a:ea typeface="+mn-ea"/>
                <a:cs typeface="+mn-cs"/>
              </a:rPr>
              <a:t>Artefatos</a:t>
            </a:r>
          </a:p>
        </p:txBody>
      </p:sp>
      <p:sp>
        <p:nvSpPr>
          <p:cNvPr id="2" name="Retângulo 1">
            <a:extLst>
              <a:ext uri="{FF2B5EF4-FFF2-40B4-BE49-F238E27FC236}">
                <a16:creationId xmlns:a16="http://schemas.microsoft.com/office/drawing/2014/main" xmlns="" id="{8E821C40-0295-46D8-81AF-1E273B0192F9}"/>
              </a:ext>
            </a:extLst>
          </p:cNvPr>
          <p:cNvSpPr/>
          <p:nvPr/>
        </p:nvSpPr>
        <p:spPr>
          <a:xfrm>
            <a:off x="432497" y="1668596"/>
            <a:ext cx="5663504" cy="447814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Metodologia Ágil </a:t>
            </a:r>
            <a:r>
              <a:rPr kumimoji="0" lang="pt-BR" sz="2000" b="1" i="0" u="none" strike="noStrike" kern="1200" cap="none" spc="0" normalizeH="0" baseline="0" noProof="0" dirty="0" err="1" smtClean="0">
                <a:ln>
                  <a:noFill/>
                </a:ln>
                <a:solidFill>
                  <a:srgbClr val="333333"/>
                </a:solidFill>
                <a:effectLst/>
                <a:uLnTx/>
                <a:uFillTx/>
                <a:latin typeface="Calibri"/>
                <a:ea typeface="+mn-ea"/>
                <a:cs typeface="+mn-cs"/>
              </a:rPr>
              <a:t>Scrum</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t>
            </a:r>
          </a:p>
          <a:p>
            <a:pPr marL="450850" marR="0" lvl="0" indent="-450850" algn="l"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Prioriza </a:t>
            </a:r>
            <a:r>
              <a:rPr kumimoji="0" lang="pt-BR" sz="2000" b="0" i="0" u="none" strike="noStrike" kern="1200" cap="none" spc="0" normalizeH="0" baseline="0" noProof="0" dirty="0">
                <a:ln>
                  <a:noFill/>
                </a:ln>
                <a:solidFill>
                  <a:srgbClr val="333333"/>
                </a:solidFill>
                <a:effectLst/>
                <a:uLnTx/>
                <a:uFillTx/>
                <a:latin typeface="Calibri"/>
                <a:ea typeface="+mn-ea"/>
                <a:cs typeface="+mn-cs"/>
              </a:rPr>
              <a:t>a entrega do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software;</a:t>
            </a:r>
          </a:p>
          <a:p>
            <a:pPr marL="450850" marR="0" lvl="0" indent="-450850" algn="l"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Documentação sucinta;</a:t>
            </a:r>
          </a:p>
          <a:p>
            <a:pPr marL="450850" marR="0" lvl="0" indent="-450850" algn="l"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Controle das atividades rotineiras.</a:t>
            </a:r>
          </a:p>
          <a:p>
            <a:pPr marL="342900" marR="0" lvl="0" indent="-342900" algn="l" defTabSz="914400" rtl="0" eaLnBrk="1" fontAlgn="auto" latinLnBrk="0" hangingPunct="1">
              <a:lnSpc>
                <a:spcPct val="100000"/>
              </a:lnSpc>
              <a:spcBef>
                <a:spcPts val="0"/>
              </a:spcBef>
              <a:spcAft>
                <a:spcPts val="600"/>
              </a:spcAft>
              <a:buClrTx/>
              <a:buSzTx/>
              <a:buFont typeface="Wingdings" panose="05000000000000000000" pitchFamily="2" charset="2"/>
              <a:buChar char="v"/>
              <a:tabLst/>
              <a:defRPr/>
            </a:pPr>
            <a:endParaRPr kumimoji="0" lang="pt-BR" sz="2000" b="0" i="0" u="none" strike="noStrike" kern="1200" cap="none" spc="0" normalizeH="0" baseline="0" noProof="0" dirty="0" smtClean="0">
              <a:ln>
                <a:noFill/>
              </a:ln>
              <a:solidFill>
                <a:srgbClr val="333333"/>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pt-BR" sz="2000" b="1" i="0" u="none" strike="noStrike" kern="1200" cap="none" spc="0" normalizeH="0" baseline="0" noProof="0" dirty="0" smtClean="0">
                <a:ln>
                  <a:noFill/>
                </a:ln>
                <a:solidFill>
                  <a:srgbClr val="333333"/>
                </a:solidFill>
                <a:effectLst/>
                <a:uLnTx/>
                <a:uFillTx/>
                <a:latin typeface="Calibri"/>
                <a:ea typeface="+mn-ea"/>
                <a:cs typeface="+mn-cs"/>
              </a:rPr>
              <a:t>4 Artefatos fundamentais</a:t>
            </a:r>
          </a:p>
          <a:p>
            <a:pPr marL="450850" marR="0" lvl="0" indent="-450850" algn="just"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err="1" smtClean="0">
                <a:ln>
                  <a:noFill/>
                </a:ln>
                <a:solidFill>
                  <a:srgbClr val="333333"/>
                </a:solidFill>
                <a:effectLst/>
                <a:uLnTx/>
                <a:uFillTx/>
                <a:latin typeface="Calibri"/>
                <a:ea typeface="+mn-ea"/>
                <a:cs typeface="+mn-cs"/>
              </a:rPr>
              <a:t>Product</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 </a:t>
            </a:r>
            <a:r>
              <a:rPr kumimoji="0" lang="pt-BR" sz="2000" b="0" i="0" u="none" strike="noStrike" kern="1200" cap="none" spc="0" normalizeH="0" baseline="0" noProof="0" dirty="0" err="1" smtClean="0">
                <a:ln>
                  <a:noFill/>
                </a:ln>
                <a:solidFill>
                  <a:srgbClr val="333333"/>
                </a:solidFill>
                <a:effectLst/>
                <a:uLnTx/>
                <a:uFillTx/>
                <a:latin typeface="Calibri"/>
                <a:ea typeface="+mn-ea"/>
                <a:cs typeface="+mn-cs"/>
              </a:rPr>
              <a:t>Backlog</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just"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err="1">
                <a:ln>
                  <a:noFill/>
                </a:ln>
                <a:solidFill>
                  <a:srgbClr val="333333"/>
                </a:solidFill>
                <a:effectLst/>
                <a:uLnTx/>
                <a:uFillTx/>
                <a:latin typeface="Calibri"/>
                <a:ea typeface="+mn-ea"/>
                <a:cs typeface="+mn-cs"/>
              </a:rPr>
              <a:t>User</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Story</a:t>
            </a:r>
            <a:r>
              <a:rPr kumimoji="0" lang="pt-BR" sz="2000" b="0" i="0" u="none" strike="noStrike" kern="1200" cap="none" spc="0" normalizeH="0" baseline="0" noProof="0" dirty="0">
                <a:ln>
                  <a:noFill/>
                </a:ln>
                <a:solidFill>
                  <a:srgbClr val="333333"/>
                </a:solidFill>
                <a:effectLst/>
                <a:uLnTx/>
                <a:uFillTx/>
                <a:latin typeface="Calibri"/>
                <a:ea typeface="+mn-ea"/>
                <a:cs typeface="+mn-cs"/>
              </a:rPr>
              <a:t>;</a:t>
            </a:r>
          </a:p>
          <a:p>
            <a:pPr marL="450850" marR="0" lvl="0" indent="-450850" algn="just"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a:ln>
                  <a:noFill/>
                </a:ln>
                <a:solidFill>
                  <a:srgbClr val="333333"/>
                </a:solidFill>
                <a:effectLst/>
                <a:uLnTx/>
                <a:uFillTx/>
                <a:latin typeface="Calibri"/>
                <a:ea typeface="+mn-ea"/>
                <a:cs typeface="+mn-cs"/>
              </a:rPr>
              <a:t>Sprint Backlog;</a:t>
            </a:r>
          </a:p>
          <a:p>
            <a:pPr marL="450850" marR="0" lvl="0" indent="-450850" algn="just"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a:ln>
                  <a:noFill/>
                </a:ln>
                <a:solidFill>
                  <a:srgbClr val="333333"/>
                </a:solidFill>
                <a:effectLst/>
                <a:uLnTx/>
                <a:uFillTx/>
                <a:latin typeface="Calibri"/>
                <a:ea typeface="+mn-ea"/>
                <a:cs typeface="+mn-cs"/>
              </a:rPr>
              <a:t>Gráfico de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Burn</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Down.</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p:txBody>
      </p:sp>
      <p:pic>
        <p:nvPicPr>
          <p:cNvPr id="14340" name="Picture 4" descr="engrenagem-do-scrum1">
            <a:extLst>
              <a:ext uri="{FF2B5EF4-FFF2-40B4-BE49-F238E27FC236}">
                <a16:creationId xmlns:a16="http://schemas.microsoft.com/office/drawing/2014/main" xmlns="" id="{4F58A7E4-528A-40CB-8476-6BA1D5F640C2}"/>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873579" y="1397660"/>
            <a:ext cx="5962353" cy="4507320"/>
          </a:xfrm>
          <a:prstGeom prst="rect">
            <a:avLst/>
          </a:prstGeom>
          <a:noFill/>
          <a:extLst>
            <a:ext uri="{909E8E84-426E-40DD-AFC4-6F175D3DCCD1}">
              <a14:hiddenFill xmlns:a14="http://schemas.microsoft.com/office/drawing/2010/main" xmlns="">
                <a:solidFill>
                  <a:srgbClr val="FFFFFF"/>
                </a:solidFill>
              </a14:hiddenFill>
            </a:ext>
          </a:extLst>
        </p:spPr>
      </p:pic>
      <p:sp>
        <p:nvSpPr>
          <p:cNvPr id="7" name="Espaço Reservado para Rodapé 6"/>
          <p:cNvSpPr>
            <a:spLocks noGrp="1"/>
          </p:cNvSpPr>
          <p:nvPr>
            <p:ph type="ftr" sz="quarter" idx="11"/>
          </p:nvPr>
        </p:nvSpPr>
        <p:spPr>
          <a:xfrm>
            <a:off x="4038601" y="6441703"/>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CaixaDeTexto 7"/>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209147313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ixaDeTexto 6">
            <a:extLst>
              <a:ext uri="{FF2B5EF4-FFF2-40B4-BE49-F238E27FC236}">
                <a16:creationId xmlns:a16="http://schemas.microsoft.com/office/drawing/2014/main" xmlns="" id="{AF27F5EA-A710-4BC6-BAF2-F13947371E72}"/>
              </a:ext>
            </a:extLst>
          </p:cNvPr>
          <p:cNvSpPr txBox="1"/>
          <p:nvPr/>
        </p:nvSpPr>
        <p:spPr>
          <a:xfrm>
            <a:off x="559430" y="1101522"/>
            <a:ext cx="655105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rPr>
              <a:t> Modelo </a:t>
            </a:r>
            <a:r>
              <a:rPr kumimoji="0" lang="pt-BR" sz="3200" b="1" i="0" u="none" strike="noStrike" kern="1200" cap="none" spc="0" normalizeH="0" baseline="0" noProof="0" dirty="0" smtClean="0">
                <a:ln>
                  <a:noFill/>
                </a:ln>
                <a:solidFill>
                  <a:prstClr val="black"/>
                </a:solidFill>
                <a:effectLst/>
                <a:uLnTx/>
                <a:uFillTx/>
                <a:latin typeface="+mj-lt"/>
                <a:ea typeface="Gill Sans MT" charset="0"/>
                <a:cs typeface="Gill Sans MT" charset="0"/>
              </a:rPr>
              <a:t>Ágil – Introdução ao </a:t>
            </a:r>
            <a:r>
              <a:rPr kumimoji="0" lang="pt-BR" sz="3200" b="1" i="0" u="none" strike="noStrike" kern="1200" cap="none" spc="0" normalizeH="0" baseline="0" noProof="0" dirty="0" err="1" smtClean="0">
                <a:ln>
                  <a:noFill/>
                </a:ln>
                <a:solidFill>
                  <a:prstClr val="black"/>
                </a:solidFill>
                <a:effectLst/>
                <a:uLnTx/>
                <a:uFillTx/>
                <a:latin typeface="+mj-lt"/>
                <a:ea typeface="Gill Sans MT" charset="0"/>
                <a:cs typeface="Gill Sans MT" charset="0"/>
              </a:rPr>
              <a:t>Scrum</a:t>
            </a:r>
            <a:endPar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endParaRPr>
          </a:p>
        </p:txBody>
      </p:sp>
      <p:sp>
        <p:nvSpPr>
          <p:cNvPr id="8" name="CaixaDeTexto 7"/>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grpSp>
        <p:nvGrpSpPr>
          <p:cNvPr id="10" name="Grupo 9"/>
          <p:cNvGrpSpPr/>
          <p:nvPr/>
        </p:nvGrpSpPr>
        <p:grpSpPr>
          <a:xfrm>
            <a:off x="459318" y="1592218"/>
            <a:ext cx="11205633" cy="4710112"/>
            <a:chOff x="459318" y="1592218"/>
            <a:chExt cx="11205633" cy="4710112"/>
          </a:xfrm>
        </p:grpSpPr>
        <p:grpSp>
          <p:nvGrpSpPr>
            <p:cNvPr id="3" name="Agrupar 5"/>
            <p:cNvGrpSpPr>
              <a:grpSpLocks/>
            </p:cNvGrpSpPr>
            <p:nvPr/>
          </p:nvGrpSpPr>
          <p:grpSpPr bwMode="auto">
            <a:xfrm>
              <a:off x="459318" y="1592218"/>
              <a:ext cx="11205633" cy="4710112"/>
              <a:chOff x="344625" y="1455262"/>
              <a:chExt cx="8404088" cy="4710042"/>
            </a:xfrm>
          </p:grpSpPr>
          <p:pic>
            <p:nvPicPr>
              <p:cNvPr id="23556" name="Imagem 2"/>
              <p:cNvPicPr>
                <a:picLocks noChangeAspect="1"/>
              </p:cNvPicPr>
              <p:nvPr/>
            </p:nvPicPr>
            <p:blipFill>
              <a:blip r:embed="rId2" cstate="print"/>
              <a:srcRect l="12672" t="16400" r="12672" b="10001"/>
              <a:stretch>
                <a:fillRect/>
              </a:stretch>
            </p:blipFill>
            <p:spPr bwMode="auto">
              <a:xfrm>
                <a:off x="344625" y="1455262"/>
                <a:ext cx="8310287" cy="4608512"/>
              </a:xfrm>
              <a:prstGeom prst="rect">
                <a:avLst/>
              </a:prstGeom>
              <a:noFill/>
              <a:ln w="9525">
                <a:noFill/>
                <a:miter lim="800000"/>
                <a:headEnd/>
                <a:tailEnd/>
              </a:ln>
            </p:spPr>
          </p:pic>
          <p:sp>
            <p:nvSpPr>
              <p:cNvPr id="4" name="Retângulo 3"/>
              <p:cNvSpPr/>
              <p:nvPr/>
            </p:nvSpPr>
            <p:spPr>
              <a:xfrm>
                <a:off x="8028000" y="5804947"/>
                <a:ext cx="720713" cy="36035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grpSp>
        <p:sp>
          <p:nvSpPr>
            <p:cNvPr id="9" name="Retângulo 8"/>
            <p:cNvSpPr/>
            <p:nvPr/>
          </p:nvSpPr>
          <p:spPr>
            <a:xfrm>
              <a:off x="4913194" y="1746913"/>
              <a:ext cx="1842448" cy="4094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63" name="CaixaDeTexto 62"/>
          <p:cNvSpPr txBox="1"/>
          <p:nvPr/>
        </p:nvSpPr>
        <p:spPr>
          <a:xfrm>
            <a:off x="179493" y="1457003"/>
            <a:ext cx="8864147"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000" i="0" u="none" strike="noStrike" kern="1200" cap="none" spc="0" normalizeH="0" baseline="0" noProof="0" dirty="0">
                <a:ln>
                  <a:noFill/>
                </a:ln>
                <a:solidFill>
                  <a:prstClr val="black"/>
                </a:solidFill>
                <a:effectLst/>
                <a:uLnTx/>
                <a:uFillTx/>
                <a:ea typeface="+mn-ea"/>
                <a:cs typeface="+mn-cs"/>
              </a:rPr>
              <a:t>Introdução ao Scrum</a:t>
            </a:r>
          </a:p>
        </p:txBody>
      </p:sp>
      <p:sp>
        <p:nvSpPr>
          <p:cNvPr id="2" name="Espaço Reservado para Rodapé 1"/>
          <p:cNvSpPr>
            <a:spLocks noGrp="1"/>
          </p:cNvSpPr>
          <p:nvPr>
            <p:ph type="ftr" sz="quarter" idx="11"/>
          </p:nvPr>
        </p:nvSpPr>
        <p:spPr>
          <a:xfrm>
            <a:off x="4025902" y="6466931"/>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0" name="Retângulo 9"/>
          <p:cNvSpPr/>
          <p:nvPr/>
        </p:nvSpPr>
        <p:spPr>
          <a:xfrm>
            <a:off x="320712" y="2125834"/>
            <a:ext cx="11375419" cy="3477875"/>
          </a:xfrm>
          <a:prstGeom prst="rect">
            <a:avLst/>
          </a:prstGeom>
        </p:spPr>
        <p:txBody>
          <a:bodyPr wrap="square">
            <a:spAutoFit/>
          </a:bodyPr>
          <a:lstStyle/>
          <a:p>
            <a:pPr marL="450850" marR="0" lvl="0" indent="-4508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Metodologia </a:t>
            </a:r>
            <a:r>
              <a:rPr kumimoji="0" lang="pt-BR" sz="2000" b="0" i="0" u="none" strike="noStrike" kern="1200" cap="none" spc="0" normalizeH="0" baseline="0" noProof="0" dirty="0">
                <a:ln>
                  <a:noFill/>
                </a:ln>
                <a:solidFill>
                  <a:srgbClr val="333333"/>
                </a:solidFill>
                <a:effectLst/>
                <a:uLnTx/>
                <a:uFillTx/>
                <a:latin typeface="Calibri"/>
                <a:ea typeface="+mn-ea"/>
                <a:cs typeface="+mn-cs"/>
              </a:rPr>
              <a:t>ágil para gestão e planejamento de projetos de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software;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0" i="0" u="none" strike="noStrike" kern="1200" cap="none" spc="0" normalizeH="0" baseline="0" noProof="0" dirty="0" smtClean="0">
              <a:ln>
                <a:noFill/>
              </a:ln>
              <a:solidFill>
                <a:srgbClr val="333333"/>
              </a:solidFill>
              <a:effectLst/>
              <a:uLnTx/>
              <a:uFillTx/>
              <a:latin typeface="Calibri"/>
              <a:ea typeface="+mn-ea"/>
              <a:cs typeface="+mn-cs"/>
            </a:endParaRPr>
          </a:p>
          <a:p>
            <a:pPr marL="450850" marR="0" lvl="0" indent="-4508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Os projetos </a:t>
            </a:r>
            <a:r>
              <a:rPr kumimoji="0" lang="pt-BR" sz="2000" b="0" i="0" u="none" strike="noStrike" kern="1200" cap="none" spc="0" normalizeH="0" baseline="0" noProof="0" dirty="0">
                <a:ln>
                  <a:noFill/>
                </a:ln>
                <a:solidFill>
                  <a:srgbClr val="333333"/>
                </a:solidFill>
                <a:effectLst/>
                <a:uLnTx/>
                <a:uFillTx/>
                <a:latin typeface="Calibri"/>
                <a:ea typeface="+mn-ea"/>
                <a:cs typeface="+mn-cs"/>
              </a:rPr>
              <a:t>são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divididos </a:t>
            </a:r>
            <a:r>
              <a:rPr kumimoji="0" lang="pt-BR" sz="2000" b="0" i="0" u="none" strike="noStrike" kern="1200" cap="none" spc="0" normalizeH="0" baseline="0" noProof="0" dirty="0">
                <a:ln>
                  <a:noFill/>
                </a:ln>
                <a:solidFill>
                  <a:srgbClr val="333333"/>
                </a:solidFill>
                <a:effectLst/>
                <a:uLnTx/>
                <a:uFillTx/>
                <a:latin typeface="Calibri"/>
                <a:ea typeface="+mn-ea"/>
                <a:cs typeface="+mn-cs"/>
              </a:rPr>
              <a:t>em ciclos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 iterações (tipicamente </a:t>
            </a:r>
            <a:r>
              <a:rPr kumimoji="0" lang="pt-BR" sz="2000" b="0" i="0" u="none" strike="noStrike" kern="1200" cap="none" spc="0" normalizeH="0" baseline="0" noProof="0" dirty="0">
                <a:ln>
                  <a:noFill/>
                </a:ln>
                <a:solidFill>
                  <a:srgbClr val="333333"/>
                </a:solidFill>
                <a:effectLst/>
                <a:uLnTx/>
                <a:uFillTx/>
                <a:latin typeface="Calibri"/>
                <a:ea typeface="+mn-ea"/>
                <a:cs typeface="+mn-cs"/>
              </a:rPr>
              <a:t>mensais) chamados de </a:t>
            </a:r>
            <a:r>
              <a:rPr kumimoji="0" lang="pt-BR" sz="2000" b="0" i="0" u="none" strike="noStrike" kern="1200" cap="none" spc="0" normalizeH="0" baseline="0" noProof="0" dirty="0" err="1" smtClean="0">
                <a:ln>
                  <a:noFill/>
                </a:ln>
                <a:solidFill>
                  <a:srgbClr val="333333"/>
                </a:solidFill>
                <a:effectLst/>
                <a:uLnTx/>
                <a:uFillTx/>
                <a:latin typeface="Calibri"/>
                <a:ea typeface="+mn-ea"/>
                <a:cs typeface="+mn-cs"/>
              </a:rPr>
              <a:t>Sprints</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0" i="0" u="none" strike="noStrike" kern="1200" cap="none" spc="0" normalizeH="0" baseline="0" noProof="0" dirty="0" smtClean="0">
              <a:ln>
                <a:noFill/>
              </a:ln>
              <a:solidFill>
                <a:srgbClr val="333333"/>
              </a:solidFill>
              <a:effectLst/>
              <a:uLnTx/>
              <a:uFillTx/>
              <a:latin typeface="Calibri"/>
              <a:ea typeface="+mn-ea"/>
              <a:cs typeface="+mn-cs"/>
            </a:endParaRPr>
          </a:p>
          <a:p>
            <a:pPr marL="450850" marR="0" lvl="0" indent="-4508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pt-BR" sz="2000" b="0" i="0" u="none" strike="noStrike" kern="1200" cap="none" spc="0" normalizeH="0" baseline="0" noProof="0" dirty="0">
                <a:ln>
                  <a:noFill/>
                </a:ln>
                <a:solidFill>
                  <a:srgbClr val="333333"/>
                </a:solidFill>
                <a:effectLst/>
                <a:uLnTx/>
                <a:uFillTx/>
                <a:latin typeface="Calibri"/>
                <a:ea typeface="+mn-ea"/>
                <a:cs typeface="+mn-cs"/>
              </a:rPr>
              <a:t>O Sprint representa um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time box </a:t>
            </a:r>
            <a:r>
              <a:rPr kumimoji="0" lang="pt-BR" sz="2000" b="0" i="0" u="none" strike="noStrike" kern="1200" cap="none" spc="0" normalizeH="0" baseline="0" noProof="0" dirty="0">
                <a:ln>
                  <a:noFill/>
                </a:ln>
                <a:solidFill>
                  <a:srgbClr val="333333"/>
                </a:solidFill>
                <a:effectLst/>
                <a:uLnTx/>
                <a:uFillTx/>
                <a:latin typeface="Calibri"/>
                <a:ea typeface="+mn-ea"/>
                <a:cs typeface="+mn-cs"/>
              </a:rPr>
              <a:t>dentro do qual um conjunto de atividades deve ser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executado;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0" i="0" u="none" strike="noStrike" kern="1200" cap="none" spc="0" normalizeH="0" baseline="0" noProof="0" dirty="0" smtClean="0">
              <a:ln>
                <a:noFill/>
              </a:ln>
              <a:solidFill>
                <a:srgbClr val="333333"/>
              </a:solidFill>
              <a:effectLst/>
              <a:uLnTx/>
              <a:uFillTx/>
              <a:latin typeface="Calibri"/>
              <a:ea typeface="+mn-ea"/>
              <a:cs typeface="+mn-cs"/>
            </a:endParaRPr>
          </a:p>
          <a:p>
            <a:pPr marL="450850" marR="0" lvl="0" indent="-4508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As </a:t>
            </a:r>
            <a:r>
              <a:rPr kumimoji="0" lang="pt-BR" sz="2000" b="0" i="0" u="none" strike="noStrike" kern="1200" cap="none" spc="0" normalizeH="0" baseline="0" noProof="0" dirty="0">
                <a:ln>
                  <a:noFill/>
                </a:ln>
                <a:solidFill>
                  <a:srgbClr val="333333"/>
                </a:solidFill>
                <a:effectLst/>
                <a:uLnTx/>
                <a:uFillTx/>
                <a:latin typeface="Calibri"/>
                <a:ea typeface="+mn-ea"/>
                <a:cs typeface="+mn-cs"/>
              </a:rPr>
              <a:t>funcionalidades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do projeto que serão implementadas formam uma </a:t>
            </a:r>
            <a:r>
              <a:rPr kumimoji="0" lang="pt-BR" sz="2000" b="0" i="0" u="none" strike="noStrike" kern="1200" cap="none" spc="0" normalizeH="0" baseline="0" noProof="0" dirty="0">
                <a:ln>
                  <a:noFill/>
                </a:ln>
                <a:solidFill>
                  <a:srgbClr val="333333"/>
                </a:solidFill>
                <a:effectLst/>
                <a:uLnTx/>
                <a:uFillTx/>
                <a:latin typeface="Calibri"/>
                <a:ea typeface="+mn-ea"/>
                <a:cs typeface="+mn-cs"/>
              </a:rPr>
              <a:t>lista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conhecida </a:t>
            </a:r>
            <a:r>
              <a:rPr kumimoji="0" lang="pt-BR" sz="2000" b="0" i="0" u="none" strike="noStrike" kern="1200" cap="none" spc="0" normalizeH="0" baseline="0" noProof="0" dirty="0">
                <a:ln>
                  <a:noFill/>
                </a:ln>
                <a:solidFill>
                  <a:srgbClr val="333333"/>
                </a:solidFill>
                <a:effectLst/>
                <a:uLnTx/>
                <a:uFillTx/>
                <a:latin typeface="Calibri"/>
                <a:ea typeface="+mn-ea"/>
                <a:cs typeface="+mn-cs"/>
              </a:rPr>
              <a:t>como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Product</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err="1" smtClean="0">
                <a:ln>
                  <a:noFill/>
                </a:ln>
                <a:solidFill>
                  <a:srgbClr val="333333"/>
                </a:solidFill>
                <a:effectLst/>
                <a:uLnTx/>
                <a:uFillTx/>
                <a:latin typeface="Calibri"/>
                <a:ea typeface="+mn-ea"/>
                <a:cs typeface="+mn-cs"/>
              </a:rPr>
              <a:t>Backlog</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0" i="0" u="none" strike="noStrike" kern="1200" cap="none" spc="0" normalizeH="0" baseline="0" noProof="0" dirty="0" smtClean="0">
              <a:ln>
                <a:noFill/>
              </a:ln>
              <a:solidFill>
                <a:srgbClr val="333333"/>
              </a:solidFill>
              <a:effectLst/>
              <a:uLnTx/>
              <a:uFillTx/>
              <a:latin typeface="Calibri"/>
              <a:ea typeface="+mn-ea"/>
              <a:cs typeface="+mn-cs"/>
            </a:endParaRPr>
          </a:p>
          <a:p>
            <a:pPr marL="450850" marR="0" lvl="0" indent="-4508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pt-BR" sz="2000" b="0" i="0" u="none" strike="noStrike" kern="1200" cap="none" spc="0" normalizeH="0" baseline="0" noProof="0" dirty="0">
                <a:ln>
                  <a:noFill/>
                </a:ln>
                <a:solidFill>
                  <a:srgbClr val="333333"/>
                </a:solidFill>
                <a:effectLst/>
                <a:uLnTx/>
                <a:uFillTx/>
                <a:latin typeface="Calibri"/>
                <a:ea typeface="+mn-ea"/>
                <a:cs typeface="+mn-cs"/>
              </a:rPr>
              <a:t>No início de cada Sprint, faz-se um Sprint Planning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Meeting onde o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Product</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Owner</a:t>
            </a:r>
            <a:r>
              <a:rPr kumimoji="0" lang="pt-BR" sz="2000" b="0" i="0" u="none" strike="noStrike" kern="1200" cap="none" spc="0" normalizeH="0" baseline="0" noProof="0" dirty="0">
                <a:ln>
                  <a:noFill/>
                </a:ln>
                <a:solidFill>
                  <a:srgbClr val="333333"/>
                </a:solidFill>
                <a:effectLst/>
                <a:uLnTx/>
                <a:uFillTx/>
                <a:latin typeface="Calibri"/>
                <a:ea typeface="+mn-ea"/>
                <a:cs typeface="+mn-cs"/>
              </a:rPr>
              <a:t> prioriza os itens do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Product</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err="1" smtClean="0">
                <a:ln>
                  <a:noFill/>
                </a:ln>
                <a:solidFill>
                  <a:srgbClr val="333333"/>
                </a:solidFill>
                <a:effectLst/>
                <a:uLnTx/>
                <a:uFillTx/>
                <a:latin typeface="Calibri"/>
                <a:ea typeface="+mn-ea"/>
                <a:cs typeface="+mn-cs"/>
              </a:rPr>
              <a:t>Backlog</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 e </a:t>
            </a:r>
            <a:r>
              <a:rPr kumimoji="0" lang="pt-BR" sz="2000" b="0" i="0" u="none" strike="noStrike" kern="1200" cap="none" spc="0" normalizeH="0" baseline="0" noProof="0" dirty="0">
                <a:ln>
                  <a:noFill/>
                </a:ln>
                <a:solidFill>
                  <a:srgbClr val="333333"/>
                </a:solidFill>
                <a:effectLst/>
                <a:uLnTx/>
                <a:uFillTx/>
                <a:latin typeface="Calibri"/>
                <a:ea typeface="+mn-ea"/>
                <a:cs typeface="+mn-cs"/>
              </a:rPr>
              <a:t>a equipe seleciona as atividades que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poderão ser implementadas;</a:t>
            </a:r>
          </a:p>
        </p:txBody>
      </p:sp>
      <p:sp>
        <p:nvSpPr>
          <p:cNvPr id="6" name="CaixaDeTexto 5"/>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30139032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63" name="CaixaDeTexto 62"/>
          <p:cNvSpPr txBox="1"/>
          <p:nvPr/>
        </p:nvSpPr>
        <p:spPr>
          <a:xfrm>
            <a:off x="179493" y="1388763"/>
            <a:ext cx="8864147"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000" i="0" u="none" strike="noStrike" kern="1200" cap="none" spc="0" normalizeH="0" baseline="0" noProof="0" dirty="0">
                <a:ln>
                  <a:noFill/>
                </a:ln>
                <a:solidFill>
                  <a:prstClr val="black"/>
                </a:solidFill>
                <a:effectLst/>
                <a:uLnTx/>
                <a:uFillTx/>
                <a:ea typeface="+mn-ea"/>
                <a:cs typeface="+mn-cs"/>
              </a:rPr>
              <a:t>Introdução ao Scrum</a:t>
            </a:r>
          </a:p>
        </p:txBody>
      </p:sp>
      <p:sp>
        <p:nvSpPr>
          <p:cNvPr id="2" name="Espaço Reservado para Rodapé 1"/>
          <p:cNvSpPr>
            <a:spLocks noGrp="1"/>
          </p:cNvSpPr>
          <p:nvPr>
            <p:ph type="ftr" sz="quarter" idx="11"/>
          </p:nvPr>
        </p:nvSpPr>
        <p:spPr>
          <a:xfrm>
            <a:off x="4025902" y="6466931"/>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Espaço Reservado para Número de Slide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B08DBC-7CE1-4917-8697-D7D5E25F18EC}" type="slidenum">
              <a:rPr kumimoji="0" lang="pt-B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pt-B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0" name="Retângulo 9"/>
          <p:cNvSpPr/>
          <p:nvPr/>
        </p:nvSpPr>
        <p:spPr>
          <a:xfrm>
            <a:off x="320712" y="2267767"/>
            <a:ext cx="11375419" cy="3170099"/>
          </a:xfrm>
          <a:prstGeom prst="rect">
            <a:avLst/>
          </a:prstGeom>
        </p:spPr>
        <p:txBody>
          <a:bodyPr wrap="square">
            <a:spAutoFit/>
          </a:bodyPr>
          <a:lstStyle/>
          <a:p>
            <a:pPr marL="450850" marR="0" lvl="0" indent="-4508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As </a:t>
            </a:r>
            <a:r>
              <a:rPr kumimoji="0" lang="pt-BR" sz="2000" b="0" i="0" u="none" strike="noStrike" kern="1200" cap="none" spc="0" normalizeH="0" baseline="0" noProof="0" dirty="0">
                <a:ln>
                  <a:noFill/>
                </a:ln>
                <a:solidFill>
                  <a:srgbClr val="333333"/>
                </a:solidFill>
                <a:effectLst/>
                <a:uLnTx/>
                <a:uFillTx/>
                <a:latin typeface="Calibri"/>
                <a:ea typeface="+mn-ea"/>
                <a:cs typeface="+mn-cs"/>
              </a:rPr>
              <a:t>tarefas alocadas em um Sprint são transferidas do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Product</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Backlog</a:t>
            </a:r>
            <a:r>
              <a:rPr kumimoji="0" lang="pt-BR" sz="2000" b="0" i="0" u="none" strike="noStrike" kern="1200" cap="none" spc="0" normalizeH="0" baseline="0" noProof="0" dirty="0">
                <a:ln>
                  <a:noFill/>
                </a:ln>
                <a:solidFill>
                  <a:srgbClr val="333333"/>
                </a:solidFill>
                <a:effectLst/>
                <a:uLnTx/>
                <a:uFillTx/>
                <a:latin typeface="Calibri"/>
                <a:ea typeface="+mn-ea"/>
                <a:cs typeface="+mn-cs"/>
              </a:rPr>
              <a:t> para o Sprint </a:t>
            </a:r>
            <a:r>
              <a:rPr kumimoji="0" lang="pt-BR" sz="2000" b="0" i="0" u="none" strike="noStrike" kern="1200" cap="none" spc="0" normalizeH="0" baseline="0" noProof="0" dirty="0" err="1" smtClean="0">
                <a:ln>
                  <a:noFill/>
                </a:ln>
                <a:solidFill>
                  <a:srgbClr val="333333"/>
                </a:solidFill>
                <a:effectLst/>
                <a:uLnTx/>
                <a:uFillTx/>
                <a:latin typeface="Calibri"/>
                <a:ea typeface="+mn-ea"/>
                <a:cs typeface="+mn-cs"/>
              </a:rPr>
              <a:t>Backlog</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0" i="0" u="none" strike="noStrike" kern="1200" cap="none" spc="0" normalizeH="0" baseline="0" noProof="0" dirty="0" smtClean="0">
              <a:ln>
                <a:noFill/>
              </a:ln>
              <a:solidFill>
                <a:srgbClr val="333333"/>
              </a:solidFill>
              <a:effectLst/>
              <a:uLnTx/>
              <a:uFillTx/>
              <a:latin typeface="Calibri"/>
              <a:ea typeface="+mn-ea"/>
              <a:cs typeface="+mn-cs"/>
            </a:endParaRPr>
          </a:p>
          <a:p>
            <a:pPr marL="450850" marR="0" lvl="0" indent="-4508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 Daily </a:t>
            </a:r>
            <a:r>
              <a:rPr kumimoji="0" lang="pt-BR" sz="2000" b="0" i="0" u="none" strike="noStrike" kern="1200" cap="none" spc="0" normalizeH="0" baseline="0" noProof="0" dirty="0" err="1" smtClean="0">
                <a:ln>
                  <a:noFill/>
                </a:ln>
                <a:solidFill>
                  <a:srgbClr val="333333"/>
                </a:solidFill>
                <a:effectLst/>
                <a:uLnTx/>
                <a:uFillTx/>
                <a:latin typeface="Calibri"/>
                <a:ea typeface="+mn-ea"/>
                <a:cs typeface="+mn-cs"/>
              </a:rPr>
              <a:t>Scrum</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 é realizada diariamente, normalmente pela manhã, para disseminar conhecimento sobre o que foi realizado e priorizar as atividades do dia;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0" i="0" u="none" strike="noStrike" kern="1200" cap="none" spc="0" normalizeH="0" baseline="0" noProof="0" dirty="0" smtClean="0">
              <a:ln>
                <a:noFill/>
              </a:ln>
              <a:solidFill>
                <a:srgbClr val="333333"/>
              </a:solidFill>
              <a:effectLst/>
              <a:uLnTx/>
              <a:uFillTx/>
              <a:latin typeface="Calibri"/>
              <a:ea typeface="+mn-ea"/>
              <a:cs typeface="+mn-cs"/>
            </a:endParaRPr>
          </a:p>
          <a:p>
            <a:pPr marL="450850" marR="0" lvl="0" indent="-4508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pt-BR" sz="2000" b="0" i="0" u="none" strike="noStrike" kern="1200" cap="none" spc="0" normalizeH="0" baseline="0" noProof="0" dirty="0">
                <a:ln>
                  <a:noFill/>
                </a:ln>
                <a:solidFill>
                  <a:srgbClr val="333333"/>
                </a:solidFill>
                <a:effectLst/>
                <a:uLnTx/>
                <a:uFillTx/>
                <a:latin typeface="Calibri"/>
                <a:ea typeface="+mn-ea"/>
                <a:cs typeface="+mn-cs"/>
              </a:rPr>
              <a:t>Ao final de um Sprint, a equipe apresenta as funcionalidades implementadas em uma Sprint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Review</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Meeting;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0" i="0" u="none" strike="noStrike" kern="1200" cap="none" spc="0" normalizeH="0" baseline="0" noProof="0" dirty="0" smtClean="0">
              <a:ln>
                <a:noFill/>
              </a:ln>
              <a:solidFill>
                <a:srgbClr val="333333"/>
              </a:solidFill>
              <a:effectLst/>
              <a:uLnTx/>
              <a:uFillTx/>
              <a:latin typeface="Calibri"/>
              <a:ea typeface="+mn-ea"/>
              <a:cs typeface="+mn-cs"/>
            </a:endParaRPr>
          </a:p>
          <a:p>
            <a:pPr marL="450850" marR="0" lvl="0" indent="-4508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 Sprint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Retrospective</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é realizada ao final da Sprint e </a:t>
            </a:r>
            <a:r>
              <a:rPr kumimoji="0" lang="pt-BR" sz="2000" b="0" i="0" u="none" strike="noStrike" kern="1200" cap="none" spc="0" normalizeH="0" baseline="0" noProof="0" dirty="0">
                <a:ln>
                  <a:noFill/>
                </a:ln>
                <a:solidFill>
                  <a:srgbClr val="333333"/>
                </a:solidFill>
                <a:effectLst/>
                <a:uLnTx/>
                <a:uFillTx/>
                <a:latin typeface="Calibri"/>
                <a:ea typeface="+mn-ea"/>
                <a:cs typeface="+mn-cs"/>
              </a:rPr>
              <a:t>a equipe parte para o planejamento do próximo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Sprint</a:t>
            </a:r>
            <a:r>
              <a:rPr kumimoji="0" lang="pt-BR" sz="2000" b="0" i="0" u="none" strike="noStrike" kern="1200" cap="none" spc="0" normalizeH="0" baseline="0" noProof="0" dirty="0">
                <a:ln>
                  <a:noFill/>
                </a:ln>
                <a:solidFill>
                  <a:srgbClr val="333333"/>
                </a:solidFill>
                <a:effectLst/>
                <a:uLnTx/>
                <a:uFillTx/>
                <a:latin typeface="Calibri"/>
                <a:ea typeface="+mn-ea"/>
                <a:cs typeface="+mn-cs"/>
              </a:rPr>
              <a:t>;</a:t>
            </a:r>
            <a:endParaRPr kumimoji="0" lang="pt-BR"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CaixaDeTexto 6"/>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44332943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2" name="Retângulo 1">
            <a:extLst>
              <a:ext uri="{FF2B5EF4-FFF2-40B4-BE49-F238E27FC236}">
                <a16:creationId xmlns:a16="http://schemas.microsoft.com/office/drawing/2014/main" xmlns="" id="{75359CA1-22A6-44DF-9F4D-73841C6D8471}"/>
              </a:ext>
            </a:extLst>
          </p:cNvPr>
          <p:cNvSpPr/>
          <p:nvPr/>
        </p:nvSpPr>
        <p:spPr>
          <a:xfrm>
            <a:off x="397210" y="1875568"/>
            <a:ext cx="5679440"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2800" i="0" u="none" strike="noStrike" kern="1200" cap="none" spc="0" normalizeH="0" baseline="0" noProof="0" dirty="0" smtClean="0">
                <a:ln>
                  <a:noFill/>
                </a:ln>
                <a:solidFill>
                  <a:srgbClr val="232323"/>
                </a:solidFill>
                <a:effectLst/>
                <a:uLnTx/>
                <a:uFillTx/>
                <a:latin typeface="Gill Sans MT" panose="020B0502020104020203" pitchFamily="34" charset="0"/>
                <a:ea typeface="+mn-ea"/>
                <a:cs typeface="+mn-cs"/>
              </a:rPr>
              <a:t>Reunião </a:t>
            </a:r>
            <a:r>
              <a:rPr kumimoji="0" lang="pt-BR" sz="2800" i="0" u="none" strike="noStrike" kern="1200" cap="none" spc="0" normalizeH="0" baseline="0" noProof="0" dirty="0">
                <a:ln>
                  <a:noFill/>
                </a:ln>
                <a:solidFill>
                  <a:srgbClr val="232323"/>
                </a:solidFill>
                <a:effectLst/>
                <a:uLnTx/>
                <a:uFillTx/>
                <a:latin typeface="Gill Sans MT" panose="020B0502020104020203" pitchFamily="34" charset="0"/>
                <a:ea typeface="+mn-ea"/>
                <a:cs typeface="+mn-cs"/>
              </a:rPr>
              <a:t>Diária (Daily Scrum Meeting)</a:t>
            </a:r>
          </a:p>
        </p:txBody>
      </p:sp>
      <p:sp>
        <p:nvSpPr>
          <p:cNvPr id="7" name="Retângulo 6">
            <a:extLst>
              <a:ext uri="{FF2B5EF4-FFF2-40B4-BE49-F238E27FC236}">
                <a16:creationId xmlns:a16="http://schemas.microsoft.com/office/drawing/2014/main" xmlns="" id="{126AD02E-C860-4D87-BD52-1BDEFCDC7A81}"/>
              </a:ext>
            </a:extLst>
          </p:cNvPr>
          <p:cNvSpPr/>
          <p:nvPr/>
        </p:nvSpPr>
        <p:spPr>
          <a:xfrm>
            <a:off x="597419" y="2477019"/>
            <a:ext cx="8013181" cy="3862596"/>
          </a:xfrm>
          <a:prstGeom prst="rect">
            <a:avLst/>
          </a:prstGeom>
        </p:spPr>
        <p:txBody>
          <a:bodyPr wrap="square">
            <a:spAutoFit/>
          </a:bodyPr>
          <a:lstStyle/>
          <a:p>
            <a:pPr marL="450850" marR="0" lvl="0" indent="-450850" algn="just" defTabSz="914400" rtl="0" eaLnBrk="1" fontAlgn="auto" latinLnBrk="0" hangingPunct="1">
              <a:lnSpc>
                <a:spcPct val="100000"/>
              </a:lnSpc>
              <a:spcBef>
                <a:spcPts val="0"/>
              </a:spcBef>
              <a:spcAft>
                <a:spcPts val="60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232323"/>
                </a:solidFill>
                <a:effectLst/>
                <a:uLnTx/>
                <a:uFillTx/>
                <a:latin typeface="Calibri"/>
                <a:ea typeface="+mn-ea"/>
                <a:cs typeface="+mn-cs"/>
              </a:rPr>
              <a:t>Reunião rápida;</a:t>
            </a:r>
          </a:p>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pt-BR" sz="2000" b="0" i="0" u="none" strike="noStrike" kern="1200" cap="none" spc="0" normalizeH="0" baseline="0" noProof="0" dirty="0" smtClean="0">
              <a:ln>
                <a:noFill/>
              </a:ln>
              <a:solidFill>
                <a:srgbClr val="232323"/>
              </a:solidFill>
              <a:effectLst/>
              <a:uLnTx/>
              <a:uFillTx/>
              <a:latin typeface="Calibri"/>
              <a:ea typeface="+mn-ea"/>
              <a:cs typeface="+mn-cs"/>
            </a:endParaRPr>
          </a:p>
          <a:p>
            <a:pPr marL="450850" marR="0" lvl="0" indent="-450850" algn="just" defTabSz="914400" rtl="0" eaLnBrk="1" fontAlgn="auto" latinLnBrk="0" hangingPunct="1">
              <a:lnSpc>
                <a:spcPct val="100000"/>
              </a:lnSpc>
              <a:spcBef>
                <a:spcPts val="0"/>
              </a:spcBef>
              <a:spcAft>
                <a:spcPts val="60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232323"/>
                </a:solidFill>
                <a:effectLst/>
                <a:uLnTx/>
                <a:uFillTx/>
                <a:latin typeface="Calibri"/>
                <a:ea typeface="+mn-ea"/>
                <a:cs typeface="+mn-cs"/>
              </a:rPr>
              <a:t>Conhecimento do andamento da Sprint;</a:t>
            </a:r>
          </a:p>
          <a:p>
            <a:pPr marL="450850" marR="0" lvl="0" indent="-450850" algn="just" defTabSz="914400" rtl="0" eaLnBrk="1" fontAlgn="auto" latinLnBrk="0" hangingPunct="1">
              <a:lnSpc>
                <a:spcPct val="100000"/>
              </a:lnSpc>
              <a:spcBef>
                <a:spcPts val="0"/>
              </a:spcBef>
              <a:spcAft>
                <a:spcPts val="600"/>
              </a:spcAft>
              <a:buClrTx/>
              <a:buSzTx/>
              <a:buFont typeface="Wingdings" panose="05000000000000000000" pitchFamily="2" charset="2"/>
              <a:buChar char="v"/>
              <a:tabLst/>
              <a:defRPr/>
            </a:pPr>
            <a:endParaRPr kumimoji="0" lang="pt-BR" sz="2000" b="0" i="0" u="none" strike="noStrike" kern="1200" cap="none" spc="0" normalizeH="0" baseline="0" noProof="0" dirty="0" smtClean="0">
              <a:ln>
                <a:noFill/>
              </a:ln>
              <a:solidFill>
                <a:srgbClr val="232323"/>
              </a:solidFill>
              <a:effectLst/>
              <a:uLnTx/>
              <a:uFillTx/>
              <a:latin typeface="Calibri"/>
              <a:ea typeface="+mn-ea"/>
              <a:cs typeface="+mn-cs"/>
            </a:endParaRPr>
          </a:p>
          <a:p>
            <a:pPr marL="450850" marR="0" lvl="0" indent="-450850" algn="just" defTabSz="914400" rtl="0" eaLnBrk="1" fontAlgn="auto" latinLnBrk="0" hangingPunct="1">
              <a:lnSpc>
                <a:spcPct val="100000"/>
              </a:lnSpc>
              <a:spcBef>
                <a:spcPts val="0"/>
              </a:spcBef>
              <a:spcAft>
                <a:spcPts val="60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232323"/>
                </a:solidFill>
                <a:effectLst/>
                <a:uLnTx/>
                <a:uFillTx/>
                <a:latin typeface="Calibri"/>
                <a:ea typeface="+mn-ea"/>
                <a:cs typeface="+mn-cs"/>
              </a:rPr>
              <a:t>Cada membro da equipe relata:</a:t>
            </a:r>
          </a:p>
          <a:p>
            <a:pPr marL="982663" marR="0" lvl="2" indent="-525463" algn="just" defTabSz="91440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pt-BR" sz="2000" b="0" i="0" u="none" strike="noStrike" kern="1200" cap="none" spc="0" normalizeH="0" baseline="0" noProof="0" dirty="0" smtClean="0">
                <a:ln>
                  <a:noFill/>
                </a:ln>
                <a:solidFill>
                  <a:srgbClr val="232323"/>
                </a:solidFill>
                <a:effectLst/>
                <a:uLnTx/>
                <a:uFillTx/>
                <a:latin typeface="Calibri"/>
                <a:ea typeface="+mn-ea"/>
                <a:cs typeface="+mn-cs"/>
              </a:rPr>
              <a:t>O que fez;</a:t>
            </a:r>
          </a:p>
          <a:p>
            <a:pPr marL="982663" marR="0" lvl="2" indent="-525463" algn="just" defTabSz="91440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pt-BR" sz="2000" b="0" i="0" u="none" strike="noStrike" kern="1200" cap="none" spc="0" normalizeH="0" baseline="0" noProof="0" dirty="0" smtClean="0">
                <a:ln>
                  <a:noFill/>
                </a:ln>
                <a:solidFill>
                  <a:srgbClr val="232323"/>
                </a:solidFill>
                <a:effectLst/>
                <a:uLnTx/>
                <a:uFillTx/>
                <a:latin typeface="Calibri"/>
                <a:ea typeface="+mn-ea"/>
                <a:cs typeface="+mn-cs"/>
              </a:rPr>
              <a:t>O que pretende fazer;</a:t>
            </a:r>
          </a:p>
          <a:p>
            <a:pPr marL="982663" marR="0" lvl="2" indent="-525463" algn="just" defTabSz="91440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pt-BR" sz="2000" b="0" i="0" u="none" strike="noStrike" kern="1200" cap="none" spc="0" normalizeH="0" baseline="0" noProof="0" dirty="0" smtClean="0">
                <a:ln>
                  <a:noFill/>
                </a:ln>
                <a:solidFill>
                  <a:srgbClr val="232323"/>
                </a:solidFill>
                <a:effectLst/>
                <a:uLnTx/>
                <a:uFillTx/>
                <a:latin typeface="Calibri"/>
                <a:ea typeface="+mn-ea"/>
                <a:cs typeface="+mn-cs"/>
              </a:rPr>
              <a:t>Impedimentos encontrados.</a:t>
            </a:r>
          </a:p>
          <a:p>
            <a:pPr marL="457200" marR="0" lvl="2" indent="0" algn="just" defTabSz="914400" rtl="0" eaLnBrk="1" fontAlgn="auto" latinLnBrk="0" hangingPunct="1">
              <a:lnSpc>
                <a:spcPct val="100000"/>
              </a:lnSpc>
              <a:spcBef>
                <a:spcPts val="0"/>
              </a:spcBef>
              <a:spcAft>
                <a:spcPts val="600"/>
              </a:spcAft>
              <a:buClrTx/>
              <a:buSzTx/>
              <a:buFontTx/>
              <a:buNone/>
              <a:tabLst/>
              <a:defRPr/>
            </a:pPr>
            <a:endParaRPr kumimoji="0" lang="pt-BR" sz="2000" b="0" i="0" u="none" strike="noStrike" kern="1200" cap="none" spc="0" normalizeH="0" baseline="0" noProof="0" dirty="0" smtClean="0">
              <a:ln>
                <a:noFill/>
              </a:ln>
              <a:solidFill>
                <a:srgbClr val="232323"/>
              </a:solidFill>
              <a:effectLst/>
              <a:uLnTx/>
              <a:uFillTx/>
              <a:latin typeface="Calibri"/>
              <a:ea typeface="+mn-ea"/>
              <a:cs typeface="+mn-cs"/>
            </a:endParaRPr>
          </a:p>
          <a:p>
            <a:pPr marL="450850" marR="0" lvl="0" indent="-450850" algn="just" defTabSz="914400" rtl="0" eaLnBrk="1" fontAlgn="auto" latinLnBrk="0" hangingPunct="1">
              <a:lnSpc>
                <a:spcPct val="100000"/>
              </a:lnSpc>
              <a:spcBef>
                <a:spcPts val="0"/>
              </a:spcBef>
              <a:spcAft>
                <a:spcPts val="600"/>
              </a:spcAft>
              <a:buClrTx/>
              <a:buSzTx/>
              <a:buFont typeface="Wingdings" panose="05000000000000000000" pitchFamily="2" charset="2"/>
              <a:buChar char="v"/>
              <a:tabLst/>
              <a:defRPr/>
            </a:pPr>
            <a:r>
              <a:rPr kumimoji="0" lang="pt-BR" sz="2000" b="0" i="0" u="none" strike="noStrike" kern="1200" cap="none" spc="0" normalizeH="0" baseline="0" noProof="0" dirty="0">
                <a:ln>
                  <a:noFill/>
                </a:ln>
                <a:solidFill>
                  <a:srgbClr val="232323"/>
                </a:solidFill>
                <a:effectLst/>
                <a:uLnTx/>
                <a:uFillTx/>
                <a:latin typeface="Calibri"/>
                <a:ea typeface="+mn-ea"/>
                <a:cs typeface="+mn-cs"/>
              </a:rPr>
              <a:t>Análise de medidas necessárias</a:t>
            </a:r>
            <a:r>
              <a:rPr kumimoji="0" lang="pt-BR" sz="2000" b="0" i="0" u="none" strike="noStrike" kern="1200" cap="none" spc="0" normalizeH="0" baseline="0" noProof="0" dirty="0" smtClean="0">
                <a:ln>
                  <a:noFill/>
                </a:ln>
                <a:solidFill>
                  <a:srgbClr val="232323"/>
                </a:solidFill>
                <a:effectLst/>
                <a:uLnTx/>
                <a:uFillTx/>
                <a:latin typeface="Calibri"/>
                <a:ea typeface="+mn-ea"/>
                <a:cs typeface="+mn-cs"/>
              </a:rPr>
              <a:t>;</a:t>
            </a:r>
            <a:endParaRPr kumimoji="0" lang="pt-BR" sz="2000" b="0" i="0" u="none" strike="noStrike" kern="1200" cap="none" spc="0" normalizeH="0" baseline="0" noProof="0" dirty="0">
              <a:ln>
                <a:noFill/>
              </a:ln>
              <a:solidFill>
                <a:srgbClr val="232323"/>
              </a:solidFill>
              <a:effectLst/>
              <a:uLnTx/>
              <a:uFillTx/>
              <a:latin typeface="Calibri"/>
              <a:ea typeface="+mn-ea"/>
              <a:cs typeface="+mn-cs"/>
            </a:endParaRPr>
          </a:p>
        </p:txBody>
      </p:sp>
      <p:pic>
        <p:nvPicPr>
          <p:cNvPr id="11268" name="Picture 4" descr="Resultado de imagem para daily scrum">
            <a:extLst>
              <a:ext uri="{FF2B5EF4-FFF2-40B4-BE49-F238E27FC236}">
                <a16:creationId xmlns:a16="http://schemas.microsoft.com/office/drawing/2014/main" xmlns="" id="{2CD7316F-D2CB-40FA-916C-2AAA498D353B}"/>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903681" y="2820458"/>
            <a:ext cx="4572000" cy="2528257"/>
          </a:xfrm>
          <a:prstGeom prst="rect">
            <a:avLst/>
          </a:prstGeom>
          <a:noFill/>
          <a:extLst>
            <a:ext uri="{909E8E84-426E-40DD-AFC4-6F175D3DCCD1}">
              <a14:hiddenFill xmlns:a14="http://schemas.microsoft.com/office/drawing/2010/main" xmlns="">
                <a:solidFill>
                  <a:srgbClr val="FFFFFF"/>
                </a:solidFill>
              </a14:hiddenFill>
            </a:ext>
          </a:extLst>
        </p:spPr>
      </p:pic>
      <p:sp>
        <p:nvSpPr>
          <p:cNvPr id="8" name="Espaço Reservado para Rodapé 7"/>
          <p:cNvSpPr>
            <a:spLocks noGrp="1"/>
          </p:cNvSpPr>
          <p:nvPr>
            <p:ph type="ftr" sz="quarter" idx="11"/>
          </p:nvPr>
        </p:nvSpPr>
        <p:spPr>
          <a:xfrm>
            <a:off x="4038601" y="6455081"/>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0" name="CaixaDeTexto 9">
            <a:extLst>
              <a:ext uri="{FF2B5EF4-FFF2-40B4-BE49-F238E27FC236}">
                <a16:creationId xmlns:a16="http://schemas.microsoft.com/office/drawing/2014/main" xmlns="" id="{AF27F5EA-A710-4BC6-BAF2-F13947371E72}"/>
              </a:ext>
            </a:extLst>
          </p:cNvPr>
          <p:cNvSpPr txBox="1"/>
          <p:nvPr/>
        </p:nvSpPr>
        <p:spPr>
          <a:xfrm>
            <a:off x="559430" y="910450"/>
            <a:ext cx="655105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rPr>
              <a:t> Modelo </a:t>
            </a:r>
            <a:r>
              <a:rPr kumimoji="0" lang="pt-BR" sz="3200" b="1" i="0" u="none" strike="noStrike" kern="1200" cap="none" spc="0" normalizeH="0" baseline="0" noProof="0" dirty="0" smtClean="0">
                <a:ln>
                  <a:noFill/>
                </a:ln>
                <a:solidFill>
                  <a:prstClr val="black"/>
                </a:solidFill>
                <a:effectLst/>
                <a:uLnTx/>
                <a:uFillTx/>
                <a:latin typeface="+mj-lt"/>
                <a:ea typeface="Gill Sans MT" charset="0"/>
                <a:cs typeface="Gill Sans MT" charset="0"/>
              </a:rPr>
              <a:t>Ágil – Introdução ao </a:t>
            </a:r>
            <a:r>
              <a:rPr kumimoji="0" lang="pt-BR" sz="3200" b="1" i="0" u="none" strike="noStrike" kern="1200" cap="none" spc="0" normalizeH="0" baseline="0" noProof="0" dirty="0" err="1" smtClean="0">
                <a:ln>
                  <a:noFill/>
                </a:ln>
                <a:solidFill>
                  <a:prstClr val="black"/>
                </a:solidFill>
                <a:effectLst/>
                <a:uLnTx/>
                <a:uFillTx/>
                <a:latin typeface="+mj-lt"/>
                <a:ea typeface="Gill Sans MT" charset="0"/>
                <a:cs typeface="Gill Sans MT" charset="0"/>
              </a:rPr>
              <a:t>Scrum</a:t>
            </a:r>
            <a:endPar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endParaRPr>
          </a:p>
        </p:txBody>
      </p:sp>
      <p:sp>
        <p:nvSpPr>
          <p:cNvPr id="11" name="CaixaDeTexto 10"/>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412903407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8" name="Retângulo 7">
            <a:extLst>
              <a:ext uri="{FF2B5EF4-FFF2-40B4-BE49-F238E27FC236}">
                <a16:creationId xmlns:a16="http://schemas.microsoft.com/office/drawing/2014/main" xmlns="" id="{984E2D5D-CF57-4535-8BD6-F7D82B1F42B9}"/>
              </a:ext>
            </a:extLst>
          </p:cNvPr>
          <p:cNvSpPr/>
          <p:nvPr/>
        </p:nvSpPr>
        <p:spPr>
          <a:xfrm>
            <a:off x="343367" y="2636193"/>
            <a:ext cx="8053148" cy="2554545"/>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Lista com todas </a:t>
            </a:r>
            <a:r>
              <a:rPr kumimoji="0" lang="pt-BR" sz="2000" b="0" i="0" u="none" strike="noStrike" kern="1200" cap="none" spc="0" normalizeH="0" baseline="0" noProof="0" dirty="0">
                <a:ln>
                  <a:noFill/>
                </a:ln>
                <a:solidFill>
                  <a:srgbClr val="333333"/>
                </a:solidFill>
                <a:effectLst/>
                <a:uLnTx/>
                <a:uFillTx/>
                <a:latin typeface="Calibri"/>
                <a:ea typeface="+mn-ea"/>
                <a:cs typeface="+mn-cs"/>
              </a:rPr>
              <a:t>as funcionalidades desejadas para um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produto;</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pt-BR" sz="2000" b="0" i="0" u="none" strike="noStrike" kern="1200" cap="none" spc="0" normalizeH="0" baseline="0" noProof="0" dirty="0" smtClean="0">
              <a:ln>
                <a:noFill/>
              </a:ln>
              <a:solidFill>
                <a:srgbClr val="333333"/>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Definido </a:t>
            </a:r>
            <a:r>
              <a:rPr kumimoji="0" lang="pt-BR" sz="2000" b="0" i="0" u="none" strike="noStrike" kern="1200" cap="none" spc="0" normalizeH="0" baseline="0" noProof="0" dirty="0">
                <a:ln>
                  <a:noFill/>
                </a:ln>
                <a:solidFill>
                  <a:srgbClr val="333333"/>
                </a:solidFill>
                <a:effectLst/>
                <a:uLnTx/>
                <a:uFillTx/>
                <a:latin typeface="Calibri"/>
                <a:ea typeface="+mn-ea"/>
                <a:cs typeface="+mn-cs"/>
              </a:rPr>
              <a:t>pelo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Product</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err="1" smtClean="0">
                <a:ln>
                  <a:noFill/>
                </a:ln>
                <a:solidFill>
                  <a:srgbClr val="333333"/>
                </a:solidFill>
                <a:effectLst/>
                <a:uLnTx/>
                <a:uFillTx/>
                <a:latin typeface="Calibri"/>
                <a:ea typeface="+mn-ea"/>
                <a:cs typeface="+mn-cs"/>
              </a:rPr>
              <a:t>Owner</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pt-BR" sz="2000" b="0" i="0" u="none" strike="noStrike" kern="1200" cap="none" spc="0" normalizeH="0" baseline="0" noProof="0" dirty="0" smtClean="0">
              <a:ln>
                <a:noFill/>
              </a:ln>
              <a:solidFill>
                <a:srgbClr val="333333"/>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O </a:t>
            </a:r>
            <a:r>
              <a:rPr kumimoji="0" lang="pt-BR" sz="2000" b="0" i="0" u="none" strike="noStrike" kern="1200" cap="none" spc="0" normalizeH="0" baseline="0" noProof="0" dirty="0" err="1" smtClean="0">
                <a:ln>
                  <a:noFill/>
                </a:ln>
                <a:solidFill>
                  <a:srgbClr val="333333"/>
                </a:solidFill>
                <a:effectLst/>
                <a:uLnTx/>
                <a:uFillTx/>
                <a:latin typeface="Calibri"/>
                <a:ea typeface="+mn-ea"/>
                <a:cs typeface="+mn-cs"/>
              </a:rPr>
              <a:t>Product</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 </a:t>
            </a:r>
            <a:r>
              <a:rPr kumimoji="0" lang="pt-BR" sz="2000" b="0" i="0" u="none" strike="noStrike" kern="1200" cap="none" spc="0" normalizeH="0" baseline="0" noProof="0" dirty="0">
                <a:ln>
                  <a:noFill/>
                </a:ln>
                <a:solidFill>
                  <a:srgbClr val="333333"/>
                </a:solidFill>
                <a:effectLst/>
                <a:uLnTx/>
                <a:uFillTx/>
                <a:latin typeface="Calibri"/>
                <a:ea typeface="+mn-ea"/>
                <a:cs typeface="+mn-cs"/>
              </a:rPr>
              <a:t>Backlog não precisa estar completo no início de um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projeto;</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pt-BR" sz="2000" b="0" i="0" u="none" strike="noStrike" kern="1200" cap="none" spc="0" normalizeH="0" baseline="0" noProof="0" dirty="0" smtClean="0">
              <a:ln>
                <a:noFill/>
              </a:ln>
              <a:solidFill>
                <a:srgbClr val="333333"/>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O </a:t>
            </a:r>
            <a:r>
              <a:rPr kumimoji="0" lang="pt-BR" sz="2000" b="0" i="0" u="none" strike="noStrike" kern="1200" cap="none" spc="0" normalizeH="0" baseline="0" noProof="0" dirty="0" err="1" smtClean="0">
                <a:ln>
                  <a:noFill/>
                </a:ln>
                <a:solidFill>
                  <a:srgbClr val="333333"/>
                </a:solidFill>
                <a:effectLst/>
                <a:uLnTx/>
                <a:uFillTx/>
                <a:latin typeface="Calibri"/>
                <a:ea typeface="+mn-ea"/>
                <a:cs typeface="+mn-cs"/>
              </a:rPr>
              <a:t>Product</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 </a:t>
            </a:r>
            <a:r>
              <a:rPr kumimoji="0" lang="pt-BR" sz="2000" b="0" i="0" u="none" strike="noStrike" kern="1200" cap="none" spc="0" normalizeH="0" baseline="0" noProof="0" dirty="0">
                <a:ln>
                  <a:noFill/>
                </a:ln>
                <a:solidFill>
                  <a:srgbClr val="333333"/>
                </a:solidFill>
                <a:effectLst/>
                <a:uLnTx/>
                <a:uFillTx/>
                <a:latin typeface="Calibri"/>
                <a:ea typeface="+mn-ea"/>
                <a:cs typeface="+mn-cs"/>
              </a:rPr>
              <a:t>Backlog cresce e muda à medida que se aprende mais sobre o produto e seus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usuários;</a:t>
            </a:r>
          </a:p>
        </p:txBody>
      </p:sp>
      <p:sp>
        <p:nvSpPr>
          <p:cNvPr id="10" name="Retângulo 9">
            <a:extLst>
              <a:ext uri="{FF2B5EF4-FFF2-40B4-BE49-F238E27FC236}">
                <a16:creationId xmlns:a16="http://schemas.microsoft.com/office/drawing/2014/main" xmlns="" id="{FDBF4568-6279-4264-85DC-83DE7007D6C1}"/>
              </a:ext>
            </a:extLst>
          </p:cNvPr>
          <p:cNvSpPr/>
          <p:nvPr/>
        </p:nvSpPr>
        <p:spPr>
          <a:xfrm>
            <a:off x="179493" y="1812270"/>
            <a:ext cx="3540969" cy="58477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srgbClr val="232323"/>
                </a:solidFill>
                <a:effectLst/>
                <a:uLnTx/>
                <a:uFillTx/>
                <a:latin typeface="Gill Sans MT" panose="020B0502020104020203" pitchFamily="34" charset="0"/>
                <a:ea typeface="+mn-ea"/>
                <a:cs typeface="+mn-cs"/>
              </a:rPr>
              <a:t> </a:t>
            </a:r>
            <a:r>
              <a:rPr kumimoji="0" lang="pt-BR" sz="3200" b="1" i="0" u="none" strike="noStrike" kern="1200" cap="none" spc="0" normalizeH="0" baseline="0" noProof="0" dirty="0" err="1">
                <a:ln>
                  <a:noFill/>
                </a:ln>
                <a:solidFill>
                  <a:srgbClr val="232323"/>
                </a:solidFill>
                <a:effectLst/>
                <a:uLnTx/>
                <a:uFillTx/>
                <a:latin typeface="Gill Sans MT" panose="020B0502020104020203" pitchFamily="34" charset="0"/>
                <a:ea typeface="+mn-ea"/>
                <a:cs typeface="+mn-cs"/>
              </a:rPr>
              <a:t>Product</a:t>
            </a:r>
            <a:r>
              <a:rPr kumimoji="0" lang="pt-BR" sz="3200" b="1" i="0" u="none" strike="noStrike" kern="1200" cap="none" spc="0" normalizeH="0" baseline="0" noProof="0" dirty="0">
                <a:ln>
                  <a:noFill/>
                </a:ln>
                <a:solidFill>
                  <a:srgbClr val="232323"/>
                </a:solidFill>
                <a:effectLst/>
                <a:uLnTx/>
                <a:uFillTx/>
                <a:latin typeface="Gill Sans MT" panose="020B0502020104020203" pitchFamily="34" charset="0"/>
                <a:ea typeface="+mn-ea"/>
                <a:cs typeface="+mn-cs"/>
              </a:rPr>
              <a:t> Backlog</a:t>
            </a:r>
            <a:r>
              <a:rPr kumimoji="0" lang="pt-BR" sz="2800" b="1" i="0" u="none" strike="noStrike" kern="1200" cap="none" spc="0" normalizeH="0" baseline="0" noProof="0" dirty="0">
                <a:ln>
                  <a:noFill/>
                </a:ln>
                <a:solidFill>
                  <a:srgbClr val="232323"/>
                </a:solidFill>
                <a:effectLst/>
                <a:uLnTx/>
                <a:uFillTx/>
                <a:latin typeface="Gill Sans MT" panose="020B0502020104020203" pitchFamily="34" charset="0"/>
                <a:ea typeface="+mn-ea"/>
                <a:cs typeface="+mn-cs"/>
              </a:rPr>
              <a:t> </a:t>
            </a:r>
          </a:p>
        </p:txBody>
      </p:sp>
      <p:pic>
        <p:nvPicPr>
          <p:cNvPr id="13314" name="Picture 2" descr="User Stories                        Business               Story Points&#10;                                                  ...">
            <a:extLst>
              <a:ext uri="{FF2B5EF4-FFF2-40B4-BE49-F238E27FC236}">
                <a16:creationId xmlns:a16="http://schemas.microsoft.com/office/drawing/2014/main" xmlns="" id="{AE76F502-753F-48D7-9E34-25729145E20C}"/>
              </a:ext>
            </a:extLst>
          </p:cNvPr>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16604" t="7410" r="17304" b="8621"/>
          <a:stretch/>
        </p:blipFill>
        <p:spPr bwMode="auto">
          <a:xfrm>
            <a:off x="8572024" y="2104657"/>
            <a:ext cx="3270771" cy="3116587"/>
          </a:xfrm>
          <a:prstGeom prst="rect">
            <a:avLst/>
          </a:prstGeom>
          <a:noFill/>
          <a:extLst>
            <a:ext uri="{909E8E84-426E-40DD-AFC4-6F175D3DCCD1}">
              <a14:hiddenFill xmlns:a14="http://schemas.microsoft.com/office/drawing/2010/main" xmlns="">
                <a:solidFill>
                  <a:srgbClr val="FFFFFF"/>
                </a:solidFill>
              </a14:hiddenFill>
            </a:ext>
          </a:extLst>
        </p:spPr>
      </p:pic>
      <p:sp>
        <p:nvSpPr>
          <p:cNvPr id="2" name="Espaço Reservado para Rodapé 1"/>
          <p:cNvSpPr>
            <a:spLocks noGrp="1"/>
          </p:cNvSpPr>
          <p:nvPr>
            <p:ph type="ftr" sz="quarter" idx="11"/>
          </p:nvPr>
        </p:nvSpPr>
        <p:spPr>
          <a:xfrm>
            <a:off x="4038601" y="6418011"/>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1" name="CaixaDeTexto 10">
            <a:extLst>
              <a:ext uri="{FF2B5EF4-FFF2-40B4-BE49-F238E27FC236}">
                <a16:creationId xmlns:a16="http://schemas.microsoft.com/office/drawing/2014/main" xmlns="" id="{AF27F5EA-A710-4BC6-BAF2-F13947371E72}"/>
              </a:ext>
            </a:extLst>
          </p:cNvPr>
          <p:cNvSpPr txBox="1"/>
          <p:nvPr/>
        </p:nvSpPr>
        <p:spPr>
          <a:xfrm>
            <a:off x="559430" y="910450"/>
            <a:ext cx="655105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rPr>
              <a:t> Modelo </a:t>
            </a:r>
            <a:r>
              <a:rPr kumimoji="0" lang="pt-BR" sz="3200" b="1" i="0" u="none" strike="noStrike" kern="1200" cap="none" spc="0" normalizeH="0" baseline="0" noProof="0" dirty="0" smtClean="0">
                <a:ln>
                  <a:noFill/>
                </a:ln>
                <a:solidFill>
                  <a:prstClr val="black"/>
                </a:solidFill>
                <a:effectLst/>
                <a:uLnTx/>
                <a:uFillTx/>
                <a:latin typeface="+mj-lt"/>
                <a:ea typeface="Gill Sans MT" charset="0"/>
                <a:cs typeface="Gill Sans MT" charset="0"/>
              </a:rPr>
              <a:t>Ágil – Introdução ao </a:t>
            </a:r>
            <a:r>
              <a:rPr kumimoji="0" lang="pt-BR" sz="3200" b="1" i="0" u="none" strike="noStrike" kern="1200" cap="none" spc="0" normalizeH="0" baseline="0" noProof="0" dirty="0" err="1" smtClean="0">
                <a:ln>
                  <a:noFill/>
                </a:ln>
                <a:solidFill>
                  <a:prstClr val="black"/>
                </a:solidFill>
                <a:effectLst/>
                <a:uLnTx/>
                <a:uFillTx/>
                <a:latin typeface="+mj-lt"/>
                <a:ea typeface="Gill Sans MT" charset="0"/>
                <a:cs typeface="Gill Sans MT" charset="0"/>
              </a:rPr>
              <a:t>Scrum</a:t>
            </a:r>
            <a:endPar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endParaRPr>
          </a:p>
        </p:txBody>
      </p:sp>
      <p:sp>
        <p:nvSpPr>
          <p:cNvPr id="12" name="CaixaDeTexto 11"/>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172549948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tângulo 7">
            <a:extLst>
              <a:ext uri="{FF2B5EF4-FFF2-40B4-BE49-F238E27FC236}">
                <a16:creationId xmlns:a16="http://schemas.microsoft.com/office/drawing/2014/main" xmlns="" id="{984E2D5D-CF57-4535-8BD6-F7D82B1F42B9}"/>
              </a:ext>
            </a:extLst>
          </p:cNvPr>
          <p:cNvSpPr/>
          <p:nvPr/>
        </p:nvSpPr>
        <p:spPr>
          <a:xfrm>
            <a:off x="343367" y="2622545"/>
            <a:ext cx="8053148" cy="2554545"/>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O</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Product</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Owner</a:t>
            </a:r>
            <a:r>
              <a:rPr kumimoji="0" lang="pt-BR" sz="2000" b="0" i="0" u="none" strike="noStrike" kern="1200" cap="none" spc="0" normalizeH="0" baseline="0" noProof="0" dirty="0">
                <a:ln>
                  <a:noFill/>
                </a:ln>
                <a:solidFill>
                  <a:srgbClr val="333333"/>
                </a:solidFill>
                <a:effectLst/>
                <a:uLnTx/>
                <a:uFillTx/>
                <a:latin typeface="Calibri"/>
                <a:ea typeface="+mn-ea"/>
                <a:cs typeface="+mn-cs"/>
              </a:rPr>
              <a:t> prioriza os itens do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Product</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Backlog</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durante </a:t>
            </a:r>
            <a:r>
              <a:rPr kumimoji="0" lang="pt-BR" sz="2000" b="0" i="0" u="none" strike="noStrike" kern="1200" cap="none" spc="0" normalizeH="0" baseline="0" noProof="0" dirty="0">
                <a:ln>
                  <a:noFill/>
                </a:ln>
                <a:solidFill>
                  <a:srgbClr val="333333"/>
                </a:solidFill>
                <a:effectLst/>
                <a:uLnTx/>
                <a:uFillTx/>
                <a:latin typeface="Calibri"/>
                <a:ea typeface="+mn-ea"/>
                <a:cs typeface="+mn-cs"/>
              </a:rPr>
              <a:t>o Sprint Planning Meeting,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e </a:t>
            </a:r>
            <a:r>
              <a:rPr kumimoji="0" lang="pt-BR" sz="2000" b="0" i="0" u="none" strike="noStrike" kern="1200" cap="none" spc="0" normalizeH="0" baseline="0" noProof="0" dirty="0">
                <a:ln>
                  <a:noFill/>
                </a:ln>
                <a:solidFill>
                  <a:srgbClr val="333333"/>
                </a:solidFill>
                <a:effectLst/>
                <a:uLnTx/>
                <a:uFillTx/>
                <a:latin typeface="Calibri"/>
                <a:ea typeface="+mn-ea"/>
                <a:cs typeface="+mn-cs"/>
              </a:rPr>
              <a:t>os descreve para a equipe. </a:t>
            </a:r>
            <a:endParaRPr kumimoji="0" lang="pt-BR" sz="2000" b="0" i="0" u="none" strike="noStrike" kern="1200" cap="none" spc="0" normalizeH="0" baseline="0" noProof="0" dirty="0" smtClean="0">
              <a:ln>
                <a:noFill/>
              </a:ln>
              <a:solidFill>
                <a:srgbClr val="333333"/>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pt-BR" sz="2000" b="0" i="0" u="none" strike="noStrike" kern="1200" cap="none" spc="0" normalizeH="0" baseline="0" noProof="0" dirty="0" smtClean="0">
              <a:ln>
                <a:noFill/>
              </a:ln>
              <a:solidFill>
                <a:srgbClr val="333333"/>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 </a:t>
            </a:r>
            <a:r>
              <a:rPr kumimoji="0" lang="pt-BR" sz="2000" b="0" i="0" u="none" strike="noStrike" kern="1200" cap="none" spc="0" normalizeH="0" baseline="0" noProof="0" dirty="0">
                <a:ln>
                  <a:noFill/>
                </a:ln>
                <a:solidFill>
                  <a:srgbClr val="333333"/>
                </a:solidFill>
                <a:effectLst/>
                <a:uLnTx/>
                <a:uFillTx/>
                <a:latin typeface="Calibri"/>
                <a:ea typeface="+mn-ea"/>
                <a:cs typeface="+mn-cs"/>
              </a:rPr>
              <a:t>equipe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define quais </a:t>
            </a:r>
            <a:r>
              <a:rPr kumimoji="0" lang="pt-BR" sz="2000" b="0" i="0" u="none" strike="noStrike" kern="1200" cap="none" spc="0" normalizeH="0" baseline="0" noProof="0" dirty="0">
                <a:ln>
                  <a:noFill/>
                </a:ln>
                <a:solidFill>
                  <a:srgbClr val="333333"/>
                </a:solidFill>
                <a:effectLst/>
                <a:uLnTx/>
                <a:uFillTx/>
                <a:latin typeface="Calibri"/>
                <a:ea typeface="+mn-ea"/>
                <a:cs typeface="+mn-cs"/>
              </a:rPr>
              <a:t>itens será capaz de completar durante a Sprint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que serão transferidos </a:t>
            </a:r>
            <a:r>
              <a:rPr kumimoji="0" lang="pt-BR" sz="2000" b="0" i="0" u="none" strike="noStrike" kern="1200" cap="none" spc="0" normalizeH="0" baseline="0" noProof="0" dirty="0">
                <a:ln>
                  <a:noFill/>
                </a:ln>
                <a:solidFill>
                  <a:srgbClr val="333333"/>
                </a:solidFill>
                <a:effectLst/>
                <a:uLnTx/>
                <a:uFillTx/>
                <a:latin typeface="Calibri"/>
                <a:ea typeface="+mn-ea"/>
                <a:cs typeface="+mn-cs"/>
              </a:rPr>
              <a:t>do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Product</a:t>
            </a:r>
            <a:r>
              <a:rPr kumimoji="0" lang="pt-BR" sz="2000" b="0" i="0" u="none" strike="noStrike" kern="1200" cap="none" spc="0" normalizeH="0" baseline="0" noProof="0" dirty="0">
                <a:ln>
                  <a:noFill/>
                </a:ln>
                <a:solidFill>
                  <a:srgbClr val="333333"/>
                </a:solidFill>
                <a:effectLst/>
                <a:uLnTx/>
                <a:uFillTx/>
                <a:latin typeface="Calibri"/>
                <a:ea typeface="+mn-ea"/>
                <a:cs typeface="+mn-cs"/>
              </a:rPr>
              <a:t> Backlog para o Sprint Backlog. </a:t>
            </a:r>
            <a:endParaRPr kumimoji="0" lang="pt-BR" sz="2000" b="0" i="0" u="none" strike="noStrike" kern="1200" cap="none" spc="0" normalizeH="0" baseline="0" noProof="0" dirty="0" smtClean="0">
              <a:ln>
                <a:noFill/>
              </a:ln>
              <a:solidFill>
                <a:srgbClr val="333333"/>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pt-BR" sz="2000" b="0" i="0" u="none" strike="noStrike" kern="1200" cap="none" spc="0" normalizeH="0" baseline="0" noProof="0" dirty="0" smtClean="0">
              <a:ln>
                <a:noFill/>
              </a:ln>
              <a:solidFill>
                <a:srgbClr val="333333"/>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Tarefas </a:t>
            </a:r>
            <a:r>
              <a:rPr kumimoji="0" lang="pt-BR" sz="2000" b="0" i="0" u="none" strike="noStrike" kern="1200" cap="none" spc="0" normalizeH="0" baseline="0" noProof="0" dirty="0">
                <a:ln>
                  <a:noFill/>
                </a:ln>
                <a:solidFill>
                  <a:srgbClr val="333333"/>
                </a:solidFill>
                <a:effectLst/>
                <a:uLnTx/>
                <a:uFillTx/>
                <a:latin typeface="Calibri"/>
                <a:ea typeface="+mn-ea"/>
                <a:cs typeface="+mn-cs"/>
              </a:rPr>
              <a:t>técnicas ou atividades diretamente relacionadas às funcionalidades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solicitadas podem </a:t>
            </a:r>
            <a:r>
              <a:rPr kumimoji="0" lang="pt-BR" sz="2000" b="0" i="0" u="none" strike="noStrike" kern="1200" cap="none" spc="0" normalizeH="0" baseline="0" noProof="0" dirty="0">
                <a:ln>
                  <a:noFill/>
                </a:ln>
                <a:solidFill>
                  <a:srgbClr val="333333"/>
                </a:solidFill>
                <a:effectLst/>
                <a:uLnTx/>
                <a:uFillTx/>
                <a:latin typeface="Calibri"/>
                <a:ea typeface="+mn-ea"/>
                <a:cs typeface="+mn-cs"/>
              </a:rPr>
              <a:t>fazer parte do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Product</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err="1" smtClean="0">
                <a:ln>
                  <a:noFill/>
                </a:ln>
                <a:solidFill>
                  <a:srgbClr val="333333"/>
                </a:solidFill>
                <a:effectLst/>
                <a:uLnTx/>
                <a:uFillTx/>
                <a:latin typeface="Calibri"/>
                <a:ea typeface="+mn-ea"/>
                <a:cs typeface="+mn-cs"/>
              </a:rPr>
              <a:t>Backlog</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p:txBody>
      </p:sp>
      <p:sp>
        <p:nvSpPr>
          <p:cNvPr id="10" name="Retângulo 9">
            <a:extLst>
              <a:ext uri="{FF2B5EF4-FFF2-40B4-BE49-F238E27FC236}">
                <a16:creationId xmlns:a16="http://schemas.microsoft.com/office/drawing/2014/main" xmlns="" id="{FDBF4568-6279-4264-85DC-83DE7007D6C1}"/>
              </a:ext>
            </a:extLst>
          </p:cNvPr>
          <p:cNvSpPr/>
          <p:nvPr/>
        </p:nvSpPr>
        <p:spPr>
          <a:xfrm>
            <a:off x="179493" y="1798622"/>
            <a:ext cx="3540969" cy="58477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srgbClr val="232323"/>
                </a:solidFill>
                <a:effectLst/>
                <a:uLnTx/>
                <a:uFillTx/>
                <a:latin typeface="Gill Sans MT" panose="020B0502020104020203" pitchFamily="34" charset="0"/>
                <a:ea typeface="+mn-ea"/>
                <a:cs typeface="+mn-cs"/>
              </a:rPr>
              <a:t> </a:t>
            </a:r>
            <a:r>
              <a:rPr kumimoji="0" lang="pt-BR" sz="3200" b="1" i="0" u="none" strike="noStrike" kern="1200" cap="none" spc="0" normalizeH="0" baseline="0" noProof="0" dirty="0" err="1">
                <a:ln>
                  <a:noFill/>
                </a:ln>
                <a:solidFill>
                  <a:srgbClr val="232323"/>
                </a:solidFill>
                <a:effectLst/>
                <a:uLnTx/>
                <a:uFillTx/>
                <a:latin typeface="Gill Sans MT" panose="020B0502020104020203" pitchFamily="34" charset="0"/>
                <a:ea typeface="+mn-ea"/>
                <a:cs typeface="+mn-cs"/>
              </a:rPr>
              <a:t>Product</a:t>
            </a:r>
            <a:r>
              <a:rPr kumimoji="0" lang="pt-BR" sz="3200" b="1" i="0" u="none" strike="noStrike" kern="1200" cap="none" spc="0" normalizeH="0" baseline="0" noProof="0" dirty="0">
                <a:ln>
                  <a:noFill/>
                </a:ln>
                <a:solidFill>
                  <a:srgbClr val="232323"/>
                </a:solidFill>
                <a:effectLst/>
                <a:uLnTx/>
                <a:uFillTx/>
                <a:latin typeface="Gill Sans MT" panose="020B0502020104020203" pitchFamily="34" charset="0"/>
                <a:ea typeface="+mn-ea"/>
                <a:cs typeface="+mn-cs"/>
              </a:rPr>
              <a:t> Backlog</a:t>
            </a:r>
            <a:r>
              <a:rPr kumimoji="0" lang="pt-BR" sz="2800" b="1" i="0" u="none" strike="noStrike" kern="1200" cap="none" spc="0" normalizeH="0" baseline="0" noProof="0" dirty="0">
                <a:ln>
                  <a:noFill/>
                </a:ln>
                <a:solidFill>
                  <a:srgbClr val="232323"/>
                </a:solidFill>
                <a:effectLst/>
                <a:uLnTx/>
                <a:uFillTx/>
                <a:latin typeface="Gill Sans MT" panose="020B0502020104020203" pitchFamily="34" charset="0"/>
                <a:ea typeface="+mn-ea"/>
                <a:cs typeface="+mn-cs"/>
              </a:rPr>
              <a:t> </a:t>
            </a:r>
          </a:p>
        </p:txBody>
      </p:sp>
      <p:pic>
        <p:nvPicPr>
          <p:cNvPr id="13314" name="Picture 2" descr="User Stories                        Business               Story Points&#10;                                                  ...">
            <a:extLst>
              <a:ext uri="{FF2B5EF4-FFF2-40B4-BE49-F238E27FC236}">
                <a16:creationId xmlns:a16="http://schemas.microsoft.com/office/drawing/2014/main" xmlns="" id="{AE76F502-753F-48D7-9E34-25729145E20C}"/>
              </a:ext>
            </a:extLst>
          </p:cNvPr>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16604" t="7410" r="17304" b="8621"/>
          <a:stretch/>
        </p:blipFill>
        <p:spPr bwMode="auto">
          <a:xfrm>
            <a:off x="8572024" y="2101563"/>
            <a:ext cx="3270771" cy="3116587"/>
          </a:xfrm>
          <a:prstGeom prst="rect">
            <a:avLst/>
          </a:prstGeom>
          <a:noFill/>
          <a:extLst>
            <a:ext uri="{909E8E84-426E-40DD-AFC4-6F175D3DCCD1}">
              <a14:hiddenFill xmlns:a14="http://schemas.microsoft.com/office/drawing/2010/main" xmlns="">
                <a:solidFill>
                  <a:srgbClr val="FFFFFF"/>
                </a:solidFill>
              </a14:hiddenFill>
            </a:ext>
          </a:extLst>
        </p:spPr>
      </p:pic>
      <p:sp>
        <p:nvSpPr>
          <p:cNvPr id="2" name="Espaço Reservado para Rodapé 1"/>
          <p:cNvSpPr>
            <a:spLocks noGrp="1"/>
          </p:cNvSpPr>
          <p:nvPr>
            <p:ph type="ftr" sz="quarter" idx="11"/>
          </p:nvPr>
        </p:nvSpPr>
        <p:spPr>
          <a:xfrm>
            <a:off x="4038601" y="6418011"/>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CaixaDeTexto 6">
            <a:extLst>
              <a:ext uri="{FF2B5EF4-FFF2-40B4-BE49-F238E27FC236}">
                <a16:creationId xmlns:a16="http://schemas.microsoft.com/office/drawing/2014/main" xmlns="" id="{AF27F5EA-A710-4BC6-BAF2-F13947371E72}"/>
              </a:ext>
            </a:extLst>
          </p:cNvPr>
          <p:cNvSpPr txBox="1"/>
          <p:nvPr/>
        </p:nvSpPr>
        <p:spPr>
          <a:xfrm>
            <a:off x="559430" y="910450"/>
            <a:ext cx="655105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rPr>
              <a:t> Modelo </a:t>
            </a:r>
            <a:r>
              <a:rPr kumimoji="0" lang="pt-BR" sz="3200" b="1" i="0" u="none" strike="noStrike" kern="1200" cap="none" spc="0" normalizeH="0" baseline="0" noProof="0" dirty="0" smtClean="0">
                <a:ln>
                  <a:noFill/>
                </a:ln>
                <a:solidFill>
                  <a:prstClr val="black"/>
                </a:solidFill>
                <a:effectLst/>
                <a:uLnTx/>
                <a:uFillTx/>
                <a:latin typeface="+mj-lt"/>
                <a:ea typeface="Gill Sans MT" charset="0"/>
                <a:cs typeface="Gill Sans MT" charset="0"/>
              </a:rPr>
              <a:t>Ágil – Introdução ao </a:t>
            </a:r>
            <a:r>
              <a:rPr kumimoji="0" lang="pt-BR" sz="3200" b="1" i="0" u="none" strike="noStrike" kern="1200" cap="none" spc="0" normalizeH="0" baseline="0" noProof="0" dirty="0" err="1" smtClean="0">
                <a:ln>
                  <a:noFill/>
                </a:ln>
                <a:solidFill>
                  <a:prstClr val="black"/>
                </a:solidFill>
                <a:effectLst/>
                <a:uLnTx/>
                <a:uFillTx/>
                <a:latin typeface="+mj-lt"/>
                <a:ea typeface="Gill Sans MT" charset="0"/>
                <a:cs typeface="Gill Sans MT" charset="0"/>
              </a:rPr>
              <a:t>Scrum</a:t>
            </a:r>
            <a:endPar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endParaRPr>
          </a:p>
        </p:txBody>
      </p:sp>
      <p:sp>
        <p:nvSpPr>
          <p:cNvPr id="9" name="CaixaDeTexto 8"/>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201463604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2" name="Retângulo 1">
            <a:extLst>
              <a:ext uri="{FF2B5EF4-FFF2-40B4-BE49-F238E27FC236}">
                <a16:creationId xmlns:a16="http://schemas.microsoft.com/office/drawing/2014/main" xmlns="" id="{75359CA1-22A6-44DF-9F4D-73841C6D8471}"/>
              </a:ext>
            </a:extLst>
          </p:cNvPr>
          <p:cNvSpPr/>
          <p:nvPr/>
        </p:nvSpPr>
        <p:spPr>
          <a:xfrm>
            <a:off x="397209" y="2019540"/>
            <a:ext cx="4989892" cy="58477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srgbClr val="232323"/>
                </a:solidFill>
                <a:effectLst/>
                <a:uLnTx/>
                <a:uFillTx/>
                <a:latin typeface="Gill Sans MT" panose="020B0502020104020203" pitchFamily="34" charset="0"/>
                <a:ea typeface="+mn-ea"/>
                <a:cs typeface="+mn-cs"/>
              </a:rPr>
              <a:t>O Dono do Produto - PO</a:t>
            </a:r>
          </a:p>
        </p:txBody>
      </p:sp>
      <p:sp>
        <p:nvSpPr>
          <p:cNvPr id="7" name="Retângulo 6">
            <a:extLst>
              <a:ext uri="{FF2B5EF4-FFF2-40B4-BE49-F238E27FC236}">
                <a16:creationId xmlns:a16="http://schemas.microsoft.com/office/drawing/2014/main" xmlns="" id="{126AD02E-C860-4D87-BD52-1BDEFCDC7A81}"/>
              </a:ext>
            </a:extLst>
          </p:cNvPr>
          <p:cNvSpPr/>
          <p:nvPr/>
        </p:nvSpPr>
        <p:spPr>
          <a:xfrm>
            <a:off x="494164" y="3385188"/>
            <a:ext cx="5401669" cy="101566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2000" b="0" i="0" u="none" strike="noStrike" kern="1200" cap="none" spc="0" normalizeH="0" baseline="0" noProof="0" dirty="0">
                <a:ln>
                  <a:noFill/>
                </a:ln>
                <a:solidFill>
                  <a:prstClr val="black"/>
                </a:solidFill>
                <a:effectLst/>
                <a:uLnTx/>
                <a:uFillTx/>
                <a:latin typeface="Calibri"/>
                <a:ea typeface="+mn-ea"/>
                <a:cs typeface="+mn-cs"/>
              </a:rPr>
              <a:t>O </a:t>
            </a:r>
            <a:r>
              <a:rPr kumimoji="0" lang="pt-BR" sz="2000" b="0" i="0" u="none" strike="noStrike" kern="1200" cap="none" spc="0" normalizeH="0" baseline="0" noProof="0" dirty="0" err="1">
                <a:ln>
                  <a:noFill/>
                </a:ln>
                <a:solidFill>
                  <a:prstClr val="black"/>
                </a:solidFill>
                <a:effectLst/>
                <a:uLnTx/>
                <a:uFillTx/>
                <a:latin typeface="Calibri"/>
                <a:ea typeface="+mn-ea"/>
                <a:cs typeface="+mn-cs"/>
              </a:rPr>
              <a:t>Product</a:t>
            </a:r>
            <a:r>
              <a:rPr kumimoji="0" lang="pt-BR" sz="2000" b="0" i="0" u="none" strike="noStrike" kern="1200" cap="none" spc="0" normalizeH="0" baseline="0" noProof="0" dirty="0">
                <a:ln>
                  <a:noFill/>
                </a:ln>
                <a:solidFill>
                  <a:prstClr val="black"/>
                </a:solidFill>
                <a:effectLst/>
                <a:uLnTx/>
                <a:uFillTx/>
                <a:latin typeface="Calibri"/>
                <a:ea typeface="+mn-ea"/>
                <a:cs typeface="+mn-cs"/>
              </a:rPr>
              <a:t> </a:t>
            </a:r>
            <a:r>
              <a:rPr kumimoji="0" lang="pt-BR" sz="2000" b="0" i="0" u="none" strike="noStrike" kern="1200" cap="none" spc="0" normalizeH="0" baseline="0" noProof="0" dirty="0" err="1">
                <a:ln>
                  <a:noFill/>
                </a:ln>
                <a:solidFill>
                  <a:prstClr val="black"/>
                </a:solidFill>
                <a:effectLst/>
                <a:uLnTx/>
                <a:uFillTx/>
                <a:latin typeface="Calibri"/>
                <a:ea typeface="+mn-ea"/>
                <a:cs typeface="+mn-cs"/>
              </a:rPr>
              <a:t>Owner</a:t>
            </a:r>
            <a:r>
              <a:rPr kumimoji="0" lang="pt-BR" sz="2000" b="0" i="0" u="none" strike="noStrike" kern="1200" cap="none" spc="0" normalizeH="0" baseline="0" noProof="0" dirty="0">
                <a:ln>
                  <a:noFill/>
                </a:ln>
                <a:solidFill>
                  <a:prstClr val="black"/>
                </a:solidFill>
                <a:effectLst/>
                <a:uLnTx/>
                <a:uFillTx/>
                <a:latin typeface="Calibri"/>
                <a:ea typeface="+mn-ea"/>
                <a:cs typeface="+mn-cs"/>
              </a:rPr>
              <a:t> é a pessoa que define os itens que compõem o </a:t>
            </a:r>
            <a:r>
              <a:rPr kumimoji="0" lang="pt-BR" sz="2000" b="1" i="0" u="none" strike="noStrike" kern="1200" cap="none" spc="0" normalizeH="0" baseline="0" noProof="0" dirty="0" err="1">
                <a:ln>
                  <a:noFill/>
                </a:ln>
                <a:solidFill>
                  <a:prstClr val="black"/>
                </a:solidFill>
                <a:effectLst/>
                <a:uLnTx/>
                <a:uFillTx/>
                <a:latin typeface="Calibri"/>
                <a:ea typeface="+mn-ea"/>
                <a:cs typeface="+mn-cs"/>
              </a:rPr>
              <a:t>Product</a:t>
            </a:r>
            <a:r>
              <a:rPr kumimoji="0" lang="pt-BR" sz="2000" b="1" i="0" u="none" strike="noStrike" kern="1200" cap="none" spc="0" normalizeH="0" baseline="0" noProof="0" dirty="0">
                <a:ln>
                  <a:noFill/>
                </a:ln>
                <a:solidFill>
                  <a:prstClr val="black"/>
                </a:solidFill>
                <a:effectLst/>
                <a:uLnTx/>
                <a:uFillTx/>
                <a:latin typeface="Calibri"/>
                <a:ea typeface="+mn-ea"/>
                <a:cs typeface="+mn-cs"/>
              </a:rPr>
              <a:t> Backlog </a:t>
            </a:r>
            <a:r>
              <a:rPr kumimoji="0" lang="pt-BR" sz="2000" b="0" i="0" u="none" strike="noStrike" kern="1200" cap="none" spc="0" normalizeH="0" baseline="0" noProof="0" dirty="0">
                <a:ln>
                  <a:noFill/>
                </a:ln>
                <a:solidFill>
                  <a:prstClr val="black"/>
                </a:solidFill>
                <a:effectLst/>
                <a:uLnTx/>
                <a:uFillTx/>
                <a:latin typeface="Calibri"/>
                <a:ea typeface="+mn-ea"/>
                <a:cs typeface="+mn-cs"/>
              </a:rPr>
              <a:t>e os prioriza nas </a:t>
            </a:r>
            <a:r>
              <a:rPr kumimoji="0" lang="pt-BR" sz="2000" b="1" i="0" u="none" strike="noStrike" kern="1200" cap="none" spc="0" normalizeH="0" baseline="0" noProof="0" dirty="0">
                <a:ln>
                  <a:noFill/>
                </a:ln>
                <a:solidFill>
                  <a:prstClr val="black"/>
                </a:solidFill>
                <a:effectLst/>
                <a:uLnTx/>
                <a:uFillTx/>
                <a:latin typeface="Calibri"/>
                <a:ea typeface="+mn-ea"/>
                <a:cs typeface="+mn-cs"/>
              </a:rPr>
              <a:t>Sprint Planning Meetings.</a:t>
            </a:r>
            <a:endParaRPr kumimoji="0" lang="pt-BR" sz="20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2290" name="Picture 2" descr="Resultado de imagem para product owner">
            <a:extLst>
              <a:ext uri="{FF2B5EF4-FFF2-40B4-BE49-F238E27FC236}">
                <a16:creationId xmlns:a16="http://schemas.microsoft.com/office/drawing/2014/main" xmlns="" id="{4B08D3B5-DAD7-4F30-B944-166A59D04C62}"/>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895833" y="2176084"/>
            <a:ext cx="5824383" cy="3589860"/>
          </a:xfrm>
          <a:prstGeom prst="rect">
            <a:avLst/>
          </a:prstGeom>
          <a:noFill/>
          <a:extLst>
            <a:ext uri="{909E8E84-426E-40DD-AFC4-6F175D3DCCD1}">
              <a14:hiddenFill xmlns:a14="http://schemas.microsoft.com/office/drawing/2010/main" xmlns="">
                <a:solidFill>
                  <a:srgbClr val="FFFFFF"/>
                </a:solidFill>
              </a14:hiddenFill>
            </a:ext>
          </a:extLst>
        </p:spPr>
      </p:pic>
      <p:sp>
        <p:nvSpPr>
          <p:cNvPr id="8" name="Espaço Reservado para Rodapé 7"/>
          <p:cNvSpPr>
            <a:spLocks noGrp="1"/>
          </p:cNvSpPr>
          <p:nvPr>
            <p:ph type="ftr" sz="quarter" idx="11"/>
          </p:nvPr>
        </p:nvSpPr>
        <p:spPr>
          <a:xfrm>
            <a:off x="3999522" y="6442725"/>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0" name="CaixaDeTexto 9">
            <a:extLst>
              <a:ext uri="{FF2B5EF4-FFF2-40B4-BE49-F238E27FC236}">
                <a16:creationId xmlns:a16="http://schemas.microsoft.com/office/drawing/2014/main" xmlns="" id="{AF27F5EA-A710-4BC6-BAF2-F13947371E72}"/>
              </a:ext>
            </a:extLst>
          </p:cNvPr>
          <p:cNvSpPr txBox="1"/>
          <p:nvPr/>
        </p:nvSpPr>
        <p:spPr>
          <a:xfrm>
            <a:off x="559430" y="910450"/>
            <a:ext cx="655105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rPr>
              <a:t> Modelo </a:t>
            </a:r>
            <a:r>
              <a:rPr kumimoji="0" lang="pt-BR" sz="3200" b="1" i="0" u="none" strike="noStrike" kern="1200" cap="none" spc="0" normalizeH="0" baseline="0" noProof="0" dirty="0" smtClean="0">
                <a:ln>
                  <a:noFill/>
                </a:ln>
                <a:solidFill>
                  <a:prstClr val="black"/>
                </a:solidFill>
                <a:effectLst/>
                <a:uLnTx/>
                <a:uFillTx/>
                <a:latin typeface="+mj-lt"/>
                <a:ea typeface="Gill Sans MT" charset="0"/>
                <a:cs typeface="Gill Sans MT" charset="0"/>
              </a:rPr>
              <a:t>Ágil – Introdução ao </a:t>
            </a:r>
            <a:r>
              <a:rPr kumimoji="0" lang="pt-BR" sz="3200" b="1" i="0" u="none" strike="noStrike" kern="1200" cap="none" spc="0" normalizeH="0" baseline="0" noProof="0" dirty="0" err="1" smtClean="0">
                <a:ln>
                  <a:noFill/>
                </a:ln>
                <a:solidFill>
                  <a:prstClr val="black"/>
                </a:solidFill>
                <a:effectLst/>
                <a:uLnTx/>
                <a:uFillTx/>
                <a:latin typeface="+mj-lt"/>
                <a:ea typeface="Gill Sans MT" charset="0"/>
                <a:cs typeface="Gill Sans MT" charset="0"/>
              </a:rPr>
              <a:t>Scrum</a:t>
            </a:r>
            <a:endPar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endParaRPr>
          </a:p>
        </p:txBody>
      </p:sp>
      <p:sp>
        <p:nvSpPr>
          <p:cNvPr id="11" name="CaixaDeTexto 10"/>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85427152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xmlns="" id="{75359CA1-22A6-44DF-9F4D-73841C6D8471}"/>
              </a:ext>
            </a:extLst>
          </p:cNvPr>
          <p:cNvSpPr/>
          <p:nvPr/>
        </p:nvSpPr>
        <p:spPr>
          <a:xfrm>
            <a:off x="397209" y="1746578"/>
            <a:ext cx="2792559" cy="5078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2700" i="0" u="none" strike="noStrike" kern="1200" cap="none" spc="0" normalizeH="0" baseline="0" noProof="0" dirty="0" smtClean="0">
                <a:ln>
                  <a:noFill/>
                </a:ln>
                <a:solidFill>
                  <a:srgbClr val="232323"/>
                </a:solidFill>
                <a:effectLst/>
                <a:uLnTx/>
                <a:uFillTx/>
                <a:latin typeface="Gill Sans MT" panose="020B0502020104020203" pitchFamily="34" charset="0"/>
                <a:ea typeface="+mn-ea"/>
                <a:cs typeface="+mn-cs"/>
              </a:rPr>
              <a:t>Gráfico </a:t>
            </a:r>
            <a:r>
              <a:rPr kumimoji="0" lang="pt-BR" sz="2700" i="0" u="none" strike="noStrike" kern="1200" cap="none" spc="0" normalizeH="0" baseline="0" noProof="0" dirty="0" err="1">
                <a:ln>
                  <a:noFill/>
                </a:ln>
                <a:solidFill>
                  <a:srgbClr val="232323"/>
                </a:solidFill>
                <a:effectLst/>
                <a:uLnTx/>
                <a:uFillTx/>
                <a:latin typeface="Gill Sans MT" panose="020B0502020104020203" pitchFamily="34" charset="0"/>
                <a:ea typeface="+mn-ea"/>
                <a:cs typeface="+mn-cs"/>
              </a:rPr>
              <a:t>Burndown</a:t>
            </a:r>
            <a:endParaRPr kumimoji="0" lang="pt-BR" sz="2700" i="0" u="none" strike="noStrike" kern="1200" cap="none" spc="0" normalizeH="0" baseline="0" noProof="0" dirty="0">
              <a:ln>
                <a:noFill/>
              </a:ln>
              <a:solidFill>
                <a:srgbClr val="232323"/>
              </a:solidFill>
              <a:effectLst/>
              <a:uLnTx/>
              <a:uFillTx/>
              <a:latin typeface="Gill Sans MT" panose="020B0502020104020203" pitchFamily="34" charset="0"/>
              <a:ea typeface="+mn-ea"/>
              <a:cs typeface="+mn-cs"/>
            </a:endParaRPr>
          </a:p>
        </p:txBody>
      </p:sp>
      <p:sp>
        <p:nvSpPr>
          <p:cNvPr id="8" name="Retângulo 7">
            <a:extLst>
              <a:ext uri="{FF2B5EF4-FFF2-40B4-BE49-F238E27FC236}">
                <a16:creationId xmlns:a16="http://schemas.microsoft.com/office/drawing/2014/main" xmlns="" id="{EC163398-ACA4-482C-BA5F-ADA01B31B469}"/>
              </a:ext>
            </a:extLst>
          </p:cNvPr>
          <p:cNvSpPr/>
          <p:nvPr/>
        </p:nvSpPr>
        <p:spPr>
          <a:xfrm>
            <a:off x="397209" y="2505369"/>
            <a:ext cx="5936776" cy="3170099"/>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Permite monitorar o progresso do projeto em relação a um planejamento, atualizado ao final de cada Sprint;</a:t>
            </a: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O </a:t>
            </a:r>
            <a:r>
              <a:rPr kumimoji="0" lang="pt-BR" sz="2000" b="0" i="0" u="none" strike="noStrike" kern="1200" cap="none" spc="0" normalizeH="0" baseline="0" noProof="0" dirty="0">
                <a:ln>
                  <a:noFill/>
                </a:ln>
                <a:solidFill>
                  <a:srgbClr val="333333"/>
                </a:solidFill>
                <a:effectLst/>
                <a:uLnTx/>
                <a:uFillTx/>
                <a:latin typeface="Calibri"/>
                <a:ea typeface="+mn-ea"/>
                <a:cs typeface="+mn-cs"/>
              </a:rPr>
              <a:t>eixo horizontal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representa os </a:t>
            </a:r>
            <a:r>
              <a:rPr kumimoji="0" lang="pt-BR" sz="2000" b="0" i="0" u="none" strike="noStrike" kern="1200" cap="none" spc="0" normalizeH="0" baseline="0" noProof="0" dirty="0">
                <a:ln>
                  <a:noFill/>
                </a:ln>
                <a:solidFill>
                  <a:srgbClr val="333333"/>
                </a:solidFill>
                <a:effectLst/>
                <a:uLnTx/>
                <a:uFillTx/>
                <a:latin typeface="Calibri"/>
                <a:ea typeface="+mn-ea"/>
                <a:cs typeface="+mn-cs"/>
              </a:rPr>
              <a:t>Sprints; </a:t>
            </a:r>
            <a:endParaRPr kumimoji="0" lang="pt-BR" sz="2000" b="0" i="0" u="none" strike="noStrike" kern="1200" cap="none" spc="0" normalizeH="0" baseline="0" noProof="0" dirty="0" smtClean="0">
              <a:ln>
                <a:noFill/>
              </a:ln>
              <a:solidFill>
                <a:srgbClr val="333333"/>
              </a:solidFill>
              <a:effectLst/>
              <a:uLnTx/>
              <a:uFillTx/>
              <a:latin typeface="Calibri"/>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pt-BR" sz="2000" b="0" i="0" u="none" strike="noStrike" kern="1200" cap="none" spc="0" normalizeH="0" baseline="0" noProof="0" dirty="0" smtClean="0">
              <a:ln>
                <a:noFill/>
              </a:ln>
              <a:solidFill>
                <a:srgbClr val="333333"/>
              </a:solidFill>
              <a:effectLst/>
              <a:uLnTx/>
              <a:uFillTx/>
              <a:latin typeface="Calibri"/>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O </a:t>
            </a:r>
            <a:r>
              <a:rPr kumimoji="0" lang="pt-BR" sz="2000" b="0" i="0" u="none" strike="noStrike" kern="1200" cap="none" spc="0" normalizeH="0" baseline="0" noProof="0" dirty="0">
                <a:ln>
                  <a:noFill/>
                </a:ln>
                <a:solidFill>
                  <a:srgbClr val="333333"/>
                </a:solidFill>
                <a:effectLst/>
                <a:uLnTx/>
                <a:uFillTx/>
                <a:latin typeface="Calibri"/>
                <a:ea typeface="+mn-ea"/>
                <a:cs typeface="+mn-cs"/>
              </a:rPr>
              <a:t>eixo vertical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representa a </a:t>
            </a:r>
            <a:r>
              <a:rPr kumimoji="0" lang="pt-BR" sz="2000" b="0" i="0" u="none" strike="noStrike" kern="1200" cap="none" spc="0" normalizeH="0" baseline="0" noProof="0" dirty="0">
                <a:ln>
                  <a:noFill/>
                </a:ln>
                <a:solidFill>
                  <a:srgbClr val="333333"/>
                </a:solidFill>
                <a:effectLst/>
                <a:uLnTx/>
                <a:uFillTx/>
                <a:latin typeface="Calibri"/>
                <a:ea typeface="+mn-ea"/>
                <a:cs typeface="+mn-cs"/>
              </a:rPr>
              <a:t>quantidade de trabalho que ainda precisa ser feita no início de cada Sprint.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 A </a:t>
            </a:r>
            <a:r>
              <a:rPr kumimoji="0" lang="pt-BR" sz="2000" b="0" i="0" u="none" strike="noStrike" kern="1200" cap="none" spc="0" normalizeH="0" baseline="0" noProof="0" dirty="0">
                <a:ln>
                  <a:noFill/>
                </a:ln>
                <a:solidFill>
                  <a:srgbClr val="333333"/>
                </a:solidFill>
                <a:effectLst/>
                <a:uLnTx/>
                <a:uFillTx/>
                <a:latin typeface="Calibri"/>
                <a:ea typeface="+mn-ea"/>
                <a:cs typeface="+mn-cs"/>
              </a:rPr>
              <a:t>unidade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representada por ser: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story</a:t>
            </a:r>
            <a:r>
              <a:rPr kumimoji="0" lang="pt-BR" sz="2000" b="0" i="0" u="none" strike="noStrike" kern="1200" cap="none" spc="0" normalizeH="0" baseline="0" noProof="0" dirty="0">
                <a:ln>
                  <a:noFill/>
                </a:ln>
                <a:solidFill>
                  <a:srgbClr val="333333"/>
                </a:solidFill>
                <a:effectLst/>
                <a:uLnTx/>
                <a:uFillTx/>
                <a:latin typeface="Calibri"/>
                <a:ea typeface="+mn-ea"/>
                <a:cs typeface="+mn-cs"/>
              </a:rPr>
              <a:t> points, dias ideais,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team</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err="1" smtClean="0">
                <a:ln>
                  <a:noFill/>
                </a:ln>
                <a:solidFill>
                  <a:srgbClr val="333333"/>
                </a:solidFill>
                <a:effectLst/>
                <a:uLnTx/>
                <a:uFillTx/>
                <a:latin typeface="Calibri"/>
                <a:ea typeface="+mn-ea"/>
                <a:cs typeface="+mn-cs"/>
              </a:rPr>
              <a:t>days</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 etc.</a:t>
            </a:r>
          </a:p>
        </p:txBody>
      </p:sp>
      <p:pic>
        <p:nvPicPr>
          <p:cNvPr id="14340" name="Picture 4" descr="Resultado de imagem para gráfico burndown">
            <a:extLst>
              <a:ext uri="{FF2B5EF4-FFF2-40B4-BE49-F238E27FC236}">
                <a16:creationId xmlns:a16="http://schemas.microsoft.com/office/drawing/2014/main" xmlns="" id="{F9811C11-F21E-44F1-B459-CB95F0682D20}"/>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7005323" y="2997271"/>
            <a:ext cx="4600575" cy="2771775"/>
          </a:xfrm>
          <a:prstGeom prst="rect">
            <a:avLst/>
          </a:prstGeom>
          <a:noFill/>
          <a:extLst>
            <a:ext uri="{909E8E84-426E-40DD-AFC4-6F175D3DCCD1}">
              <a14:hiddenFill xmlns:a14="http://schemas.microsoft.com/office/drawing/2010/main" xmlns="">
                <a:solidFill>
                  <a:srgbClr val="FFFFFF"/>
                </a:solidFill>
              </a14:hiddenFill>
            </a:ext>
          </a:extLst>
        </p:spPr>
      </p:pic>
      <p:sp>
        <p:nvSpPr>
          <p:cNvPr id="7" name="Espaço Reservado para Rodapé 6"/>
          <p:cNvSpPr>
            <a:spLocks noGrp="1"/>
          </p:cNvSpPr>
          <p:nvPr>
            <p:ph type="ftr" sz="quarter" idx="11"/>
          </p:nvPr>
        </p:nvSpPr>
        <p:spPr>
          <a:xfrm>
            <a:off x="4038601" y="6466931"/>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9" name="CaixaDeTexto 8">
            <a:extLst>
              <a:ext uri="{FF2B5EF4-FFF2-40B4-BE49-F238E27FC236}">
                <a16:creationId xmlns:a16="http://schemas.microsoft.com/office/drawing/2014/main" xmlns="" id="{AF27F5EA-A710-4BC6-BAF2-F13947371E72}"/>
              </a:ext>
            </a:extLst>
          </p:cNvPr>
          <p:cNvSpPr txBox="1"/>
          <p:nvPr/>
        </p:nvSpPr>
        <p:spPr>
          <a:xfrm>
            <a:off x="559430" y="910450"/>
            <a:ext cx="655105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rPr>
              <a:t> Modelo </a:t>
            </a:r>
            <a:r>
              <a:rPr kumimoji="0" lang="pt-BR" sz="3200" b="1" i="0" u="none" strike="noStrike" kern="1200" cap="none" spc="0" normalizeH="0" baseline="0" noProof="0" dirty="0" smtClean="0">
                <a:ln>
                  <a:noFill/>
                </a:ln>
                <a:solidFill>
                  <a:prstClr val="black"/>
                </a:solidFill>
                <a:effectLst/>
                <a:uLnTx/>
                <a:uFillTx/>
                <a:latin typeface="+mj-lt"/>
                <a:ea typeface="Gill Sans MT" charset="0"/>
                <a:cs typeface="Gill Sans MT" charset="0"/>
              </a:rPr>
              <a:t>Ágil – Introdução ao </a:t>
            </a:r>
            <a:r>
              <a:rPr kumimoji="0" lang="pt-BR" sz="3200" b="1" i="0" u="none" strike="noStrike" kern="1200" cap="none" spc="0" normalizeH="0" baseline="0" noProof="0" dirty="0" err="1" smtClean="0">
                <a:ln>
                  <a:noFill/>
                </a:ln>
                <a:solidFill>
                  <a:prstClr val="black"/>
                </a:solidFill>
                <a:effectLst/>
                <a:uLnTx/>
                <a:uFillTx/>
                <a:latin typeface="+mj-lt"/>
                <a:ea typeface="Gill Sans MT" charset="0"/>
                <a:cs typeface="Gill Sans MT" charset="0"/>
              </a:rPr>
              <a:t>Scrum</a:t>
            </a:r>
            <a:endPar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endParaRPr>
          </a:p>
        </p:txBody>
      </p:sp>
      <p:sp>
        <p:nvSpPr>
          <p:cNvPr id="10" name="CaixaDeTexto 9"/>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95920592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2" name="Retângulo 1">
            <a:extLst>
              <a:ext uri="{FF2B5EF4-FFF2-40B4-BE49-F238E27FC236}">
                <a16:creationId xmlns:a16="http://schemas.microsoft.com/office/drawing/2014/main" xmlns="" id="{75359CA1-22A6-44DF-9F4D-73841C6D8471}"/>
              </a:ext>
            </a:extLst>
          </p:cNvPr>
          <p:cNvSpPr/>
          <p:nvPr/>
        </p:nvSpPr>
        <p:spPr>
          <a:xfrm>
            <a:off x="366218" y="1558753"/>
            <a:ext cx="2140330" cy="5078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2700" i="0" u="none" strike="noStrike" kern="1200" cap="none" spc="0" normalizeH="0" baseline="0" noProof="0" dirty="0">
                <a:ln>
                  <a:noFill/>
                </a:ln>
                <a:solidFill>
                  <a:srgbClr val="232323"/>
                </a:solidFill>
                <a:effectLst/>
                <a:uLnTx/>
                <a:uFillTx/>
                <a:latin typeface="Gill Sans MT" panose="020B0502020104020203" pitchFamily="34" charset="0"/>
                <a:ea typeface="+mn-ea"/>
                <a:cs typeface="+mn-cs"/>
              </a:rPr>
              <a:t>Scrum Master</a:t>
            </a:r>
          </a:p>
        </p:txBody>
      </p:sp>
      <p:sp>
        <p:nvSpPr>
          <p:cNvPr id="7" name="Retângulo 6">
            <a:extLst>
              <a:ext uri="{FF2B5EF4-FFF2-40B4-BE49-F238E27FC236}">
                <a16:creationId xmlns:a16="http://schemas.microsoft.com/office/drawing/2014/main" xmlns="" id="{D973B874-C9C6-4D85-BBF4-ED5B9C24579B}"/>
              </a:ext>
            </a:extLst>
          </p:cNvPr>
          <p:cNvSpPr/>
          <p:nvPr/>
        </p:nvSpPr>
        <p:spPr>
          <a:xfrm>
            <a:off x="366218" y="2115847"/>
            <a:ext cx="6638109" cy="393954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2000" b="0" i="0" u="none" strike="noStrike" kern="1200" cap="none" spc="0" normalizeH="0" baseline="0" noProof="0" dirty="0">
                <a:ln>
                  <a:noFill/>
                </a:ln>
                <a:solidFill>
                  <a:srgbClr val="333333"/>
                </a:solidFill>
                <a:effectLst/>
                <a:uLnTx/>
                <a:uFillTx/>
                <a:latin typeface="Calibri"/>
                <a:ea typeface="+mn-ea"/>
                <a:cs typeface="+mn-cs"/>
              </a:rPr>
              <a:t>O papel de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Scrum</a:t>
            </a:r>
            <a:r>
              <a:rPr kumimoji="0" lang="pt-BR" sz="2000" b="0" i="0" u="none" strike="noStrike" kern="1200" cap="none" spc="0" normalizeH="0" baseline="0" noProof="0" dirty="0">
                <a:ln>
                  <a:noFill/>
                </a:ln>
                <a:solidFill>
                  <a:srgbClr val="333333"/>
                </a:solidFill>
                <a:effectLst/>
                <a:uLnTx/>
                <a:uFillTx/>
                <a:latin typeface="Calibri"/>
                <a:ea typeface="+mn-ea"/>
                <a:cs typeface="+mn-cs"/>
              </a:rPr>
              <a:t> Master é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normalmente exercido </a:t>
            </a:r>
            <a:r>
              <a:rPr kumimoji="0" lang="pt-BR" sz="2000" b="0" i="0" u="none" strike="noStrike" kern="1200" cap="none" spc="0" normalizeH="0" baseline="0" noProof="0" dirty="0">
                <a:ln>
                  <a:noFill/>
                </a:ln>
                <a:solidFill>
                  <a:srgbClr val="333333"/>
                </a:solidFill>
                <a:effectLst/>
                <a:uLnTx/>
                <a:uFillTx/>
                <a:latin typeface="Calibri"/>
                <a:ea typeface="+mn-ea"/>
                <a:cs typeface="+mn-cs"/>
              </a:rPr>
              <a:t>por um gerente de projeto ou um líder técnico,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podendo </a:t>
            </a:r>
            <a:r>
              <a:rPr kumimoji="0" lang="pt-BR" sz="2000" b="0" i="0" u="none" strike="noStrike" kern="1200" cap="none" spc="0" normalizeH="0" baseline="0" noProof="0" dirty="0">
                <a:ln>
                  <a:noFill/>
                </a:ln>
                <a:solidFill>
                  <a:srgbClr val="333333"/>
                </a:solidFill>
                <a:effectLst/>
                <a:uLnTx/>
                <a:uFillTx/>
                <a:latin typeface="Calibri"/>
                <a:ea typeface="+mn-ea"/>
                <a:cs typeface="+mn-cs"/>
              </a:rPr>
              <a:t>ser qualquer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integrante da equipe, cujas funções são: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l" defTabSz="914400" rtl="0" eaLnBrk="1" fontAlgn="auto" latinLnBrk="0" hangingPunct="1">
              <a:lnSpc>
                <a:spcPct val="100000"/>
              </a:lnSpc>
              <a:spcBef>
                <a:spcPts val="0"/>
              </a:spcBef>
              <a:spcAft>
                <a:spcPts val="60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assegurar </a:t>
            </a:r>
            <a:r>
              <a:rPr kumimoji="0" lang="pt-BR" sz="2000" b="0" i="0" u="none" strike="noStrike" kern="1200" cap="none" spc="0" normalizeH="0" baseline="0" noProof="0" dirty="0">
                <a:ln>
                  <a:noFill/>
                </a:ln>
                <a:solidFill>
                  <a:srgbClr val="333333"/>
                </a:solidFill>
                <a:effectLst/>
                <a:uLnTx/>
                <a:uFillTx/>
                <a:latin typeface="Calibri"/>
                <a:ea typeface="+mn-ea"/>
                <a:cs typeface="+mn-cs"/>
              </a:rPr>
              <a:t>que a equipe respeite e siga os valores e as práticas do </a:t>
            </a:r>
            <a:r>
              <a:rPr kumimoji="0" lang="pt-BR" sz="2000" b="0" i="0" u="none" strike="noStrike" kern="1200" cap="none" spc="0" normalizeH="0" baseline="0" noProof="0" dirty="0" err="1" smtClean="0">
                <a:ln>
                  <a:noFill/>
                </a:ln>
                <a:solidFill>
                  <a:srgbClr val="333333"/>
                </a:solidFill>
                <a:effectLst/>
                <a:uLnTx/>
                <a:uFillTx/>
                <a:latin typeface="Calibri"/>
                <a:ea typeface="+mn-ea"/>
                <a:cs typeface="+mn-cs"/>
              </a:rPr>
              <a:t>Scrum</a:t>
            </a:r>
            <a:endParaRPr kumimoji="0" lang="pt-BR" sz="2000" b="0" i="0" u="none" strike="noStrike" kern="1200" cap="none" spc="0" normalizeH="0" baseline="0" noProof="0" dirty="0" smtClean="0">
              <a:ln>
                <a:noFill/>
              </a:ln>
              <a:solidFill>
                <a:srgbClr val="333333"/>
              </a:solidFill>
              <a:effectLst/>
              <a:uLnTx/>
              <a:uFillTx/>
              <a:latin typeface="Calibri"/>
              <a:ea typeface="+mn-ea"/>
              <a:cs typeface="+mn-cs"/>
            </a:endParaRPr>
          </a:p>
          <a:p>
            <a:pPr marL="450850" marR="0" lvl="0" indent="-450850" algn="l" defTabSz="914400" rtl="0" eaLnBrk="1" fontAlgn="auto" latinLnBrk="0" hangingPunct="1">
              <a:lnSpc>
                <a:spcPct val="100000"/>
              </a:lnSpc>
              <a:spcBef>
                <a:spcPts val="0"/>
              </a:spcBef>
              <a:spcAft>
                <a:spcPts val="60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proteger </a:t>
            </a:r>
            <a:r>
              <a:rPr kumimoji="0" lang="pt-BR" sz="2000" b="0" i="0" u="none" strike="noStrike" kern="1200" cap="none" spc="0" normalizeH="0" baseline="0" noProof="0" dirty="0">
                <a:ln>
                  <a:noFill/>
                </a:ln>
                <a:solidFill>
                  <a:srgbClr val="333333"/>
                </a:solidFill>
                <a:effectLst/>
                <a:uLnTx/>
                <a:uFillTx/>
                <a:latin typeface="Calibri"/>
                <a:ea typeface="+mn-ea"/>
                <a:cs typeface="+mn-cs"/>
              </a:rPr>
              <a:t>a equipe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para que </a:t>
            </a:r>
            <a:r>
              <a:rPr kumimoji="0" lang="pt-BR" sz="2000" b="0" i="0" u="none" strike="noStrike" kern="1200" cap="none" spc="0" normalizeH="0" baseline="0" noProof="0" dirty="0">
                <a:ln>
                  <a:noFill/>
                </a:ln>
                <a:solidFill>
                  <a:srgbClr val="333333"/>
                </a:solidFill>
                <a:effectLst/>
                <a:uLnTx/>
                <a:uFillTx/>
                <a:latin typeface="Calibri"/>
                <a:ea typeface="+mn-ea"/>
                <a:cs typeface="+mn-cs"/>
              </a:rPr>
              <a:t>ela não se comprometa excessivamente com relação àquilo que é capaz de realizar durante um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Sprint;</a:t>
            </a:r>
          </a:p>
          <a:p>
            <a:pPr marL="450850" marR="0" lvl="0" indent="-450850" algn="l" defTabSz="914400" rtl="0" eaLnBrk="1" fontAlgn="auto" latinLnBrk="0" hangingPunct="1">
              <a:lnSpc>
                <a:spcPct val="100000"/>
              </a:lnSpc>
              <a:spcBef>
                <a:spcPts val="0"/>
              </a:spcBef>
              <a:spcAft>
                <a:spcPts val="60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atuar </a:t>
            </a:r>
            <a:r>
              <a:rPr kumimoji="0" lang="pt-BR" sz="2000" b="0" i="0" u="none" strike="noStrike" kern="1200" cap="none" spc="0" normalizeH="0" baseline="0" noProof="0" dirty="0">
                <a:ln>
                  <a:noFill/>
                </a:ln>
                <a:solidFill>
                  <a:srgbClr val="333333"/>
                </a:solidFill>
                <a:effectLst/>
                <a:uLnTx/>
                <a:uFillTx/>
                <a:latin typeface="Calibri"/>
                <a:ea typeface="+mn-ea"/>
                <a:cs typeface="+mn-cs"/>
              </a:rPr>
              <a:t>como facilitador do Daily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Scrum</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e </a:t>
            </a:r>
            <a:r>
              <a:rPr kumimoji="0" lang="pt-BR" sz="2000" b="0" i="0" u="none" strike="noStrike" kern="1200" cap="none" spc="0" normalizeH="0" baseline="0" noProof="0" dirty="0">
                <a:ln>
                  <a:noFill/>
                </a:ln>
                <a:solidFill>
                  <a:srgbClr val="333333"/>
                </a:solidFill>
                <a:effectLst/>
                <a:uLnTx/>
                <a:uFillTx/>
                <a:latin typeface="Calibri"/>
                <a:ea typeface="+mn-ea"/>
                <a:cs typeface="+mn-cs"/>
              </a:rPr>
              <a:t>responsável por remover quaisquer obstáculos que sejam levantados pela equipe durante essas reuniões</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p:txBody>
      </p:sp>
      <p:pic>
        <p:nvPicPr>
          <p:cNvPr id="15362" name="Picture 2" descr="Resultado de imagem para scrum master">
            <a:extLst>
              <a:ext uri="{FF2B5EF4-FFF2-40B4-BE49-F238E27FC236}">
                <a16:creationId xmlns:a16="http://schemas.microsoft.com/office/drawing/2014/main" xmlns="" id="{0CABD9DB-2ABD-48E2-9769-E10B5439952E}"/>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7108267" y="2802200"/>
            <a:ext cx="4778129" cy="2120295"/>
          </a:xfrm>
          <a:prstGeom prst="rect">
            <a:avLst/>
          </a:prstGeom>
          <a:noFill/>
          <a:extLst>
            <a:ext uri="{909E8E84-426E-40DD-AFC4-6F175D3DCCD1}">
              <a14:hiddenFill xmlns:a14="http://schemas.microsoft.com/office/drawing/2010/main" xmlns="">
                <a:solidFill>
                  <a:srgbClr val="FFFFFF"/>
                </a:solidFill>
              </a14:hiddenFill>
            </a:ext>
          </a:extLst>
        </p:spPr>
      </p:pic>
      <p:sp>
        <p:nvSpPr>
          <p:cNvPr id="8" name="Espaço Reservado para Rodapé 7"/>
          <p:cNvSpPr>
            <a:spLocks noGrp="1"/>
          </p:cNvSpPr>
          <p:nvPr>
            <p:ph type="ftr" sz="quarter" idx="11"/>
          </p:nvPr>
        </p:nvSpPr>
        <p:spPr>
          <a:xfrm>
            <a:off x="4038601" y="6466931"/>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0" name="CaixaDeTexto 9">
            <a:extLst>
              <a:ext uri="{FF2B5EF4-FFF2-40B4-BE49-F238E27FC236}">
                <a16:creationId xmlns:a16="http://schemas.microsoft.com/office/drawing/2014/main" xmlns="" id="{AF27F5EA-A710-4BC6-BAF2-F13947371E72}"/>
              </a:ext>
            </a:extLst>
          </p:cNvPr>
          <p:cNvSpPr txBox="1"/>
          <p:nvPr/>
        </p:nvSpPr>
        <p:spPr>
          <a:xfrm>
            <a:off x="559430" y="910450"/>
            <a:ext cx="655105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rPr>
              <a:t> Modelo </a:t>
            </a:r>
            <a:r>
              <a:rPr kumimoji="0" lang="pt-BR" sz="3200" b="1" i="0" u="none" strike="noStrike" kern="1200" cap="none" spc="0" normalizeH="0" baseline="0" noProof="0" dirty="0" smtClean="0">
                <a:ln>
                  <a:noFill/>
                </a:ln>
                <a:solidFill>
                  <a:prstClr val="black"/>
                </a:solidFill>
                <a:effectLst/>
                <a:uLnTx/>
                <a:uFillTx/>
                <a:latin typeface="+mj-lt"/>
                <a:ea typeface="Gill Sans MT" charset="0"/>
                <a:cs typeface="Gill Sans MT" charset="0"/>
              </a:rPr>
              <a:t>Ágil – Introdução ao </a:t>
            </a:r>
            <a:r>
              <a:rPr kumimoji="0" lang="pt-BR" sz="3200" b="1" i="0" u="none" strike="noStrike" kern="1200" cap="none" spc="0" normalizeH="0" baseline="0" noProof="0" dirty="0" err="1" smtClean="0">
                <a:ln>
                  <a:noFill/>
                </a:ln>
                <a:solidFill>
                  <a:prstClr val="black"/>
                </a:solidFill>
                <a:effectLst/>
                <a:uLnTx/>
                <a:uFillTx/>
                <a:latin typeface="+mj-lt"/>
                <a:ea typeface="Gill Sans MT" charset="0"/>
                <a:cs typeface="Gill Sans MT" charset="0"/>
              </a:rPr>
              <a:t>Scrum</a:t>
            </a:r>
            <a:endPar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endParaRPr>
          </a:p>
        </p:txBody>
      </p:sp>
      <p:sp>
        <p:nvSpPr>
          <p:cNvPr id="11" name="CaixaDeTexto 10"/>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200492585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2" name="Retângulo 1">
            <a:extLst>
              <a:ext uri="{FF2B5EF4-FFF2-40B4-BE49-F238E27FC236}">
                <a16:creationId xmlns:a16="http://schemas.microsoft.com/office/drawing/2014/main" xmlns="" id="{75359CA1-22A6-44DF-9F4D-73841C6D8471}"/>
              </a:ext>
            </a:extLst>
          </p:cNvPr>
          <p:cNvSpPr/>
          <p:nvPr/>
        </p:nvSpPr>
        <p:spPr>
          <a:xfrm>
            <a:off x="179493" y="1564241"/>
            <a:ext cx="1907317" cy="5078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2700" i="0" u="none" strike="noStrike" kern="1200" cap="none" spc="0" normalizeH="0" baseline="0" noProof="0" dirty="0">
                <a:ln>
                  <a:noFill/>
                </a:ln>
                <a:solidFill>
                  <a:srgbClr val="232323"/>
                </a:solidFill>
                <a:effectLst/>
                <a:uLnTx/>
                <a:uFillTx/>
                <a:latin typeface="Gill Sans MT" panose="020B0502020104020203" pitchFamily="34" charset="0"/>
                <a:ea typeface="+mn-ea"/>
                <a:cs typeface="+mn-cs"/>
              </a:rPr>
              <a:t>Team Scrum</a:t>
            </a:r>
          </a:p>
        </p:txBody>
      </p:sp>
      <p:sp>
        <p:nvSpPr>
          <p:cNvPr id="8" name="Retângulo 7">
            <a:extLst>
              <a:ext uri="{FF2B5EF4-FFF2-40B4-BE49-F238E27FC236}">
                <a16:creationId xmlns:a16="http://schemas.microsoft.com/office/drawing/2014/main" xmlns="" id="{E4D7E4A7-7AC2-410D-A013-EF1E6AAF7FB1}"/>
              </a:ext>
            </a:extLst>
          </p:cNvPr>
          <p:cNvSpPr/>
          <p:nvPr/>
        </p:nvSpPr>
        <p:spPr>
          <a:xfrm>
            <a:off x="341194" y="2094039"/>
            <a:ext cx="7812207" cy="3785652"/>
          </a:xfrm>
          <a:prstGeom prst="rect">
            <a:avLst/>
          </a:prstGeom>
        </p:spPr>
        <p:txBody>
          <a:bodyPr wrap="square">
            <a:spAutoFit/>
          </a:bodyPr>
          <a:lstStyle/>
          <a:p>
            <a:pPr marL="450850" marR="0" lvl="0" indent="-450850" algn="l"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É </a:t>
            </a:r>
            <a:r>
              <a:rPr kumimoji="0" lang="pt-BR" sz="2000" b="0" i="0" u="none" strike="noStrike" kern="1200" cap="none" spc="0" normalizeH="0" baseline="0" noProof="0" dirty="0">
                <a:ln>
                  <a:noFill/>
                </a:ln>
                <a:solidFill>
                  <a:srgbClr val="333333"/>
                </a:solidFill>
                <a:effectLst/>
                <a:uLnTx/>
                <a:uFillTx/>
                <a:latin typeface="Calibri"/>
                <a:ea typeface="+mn-ea"/>
                <a:cs typeface="+mn-cs"/>
              </a:rPr>
              <a:t>a equipe de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desenvolvimento;</a:t>
            </a:r>
          </a:p>
          <a:p>
            <a:pPr marL="450850" marR="0" lvl="0" indent="-450850" algn="l"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Não </a:t>
            </a:r>
            <a:r>
              <a:rPr kumimoji="0" lang="pt-BR" sz="2000" b="0" i="0" u="none" strike="noStrike" kern="1200" cap="none" spc="0" normalizeH="0" baseline="0" noProof="0" dirty="0">
                <a:ln>
                  <a:noFill/>
                </a:ln>
                <a:solidFill>
                  <a:srgbClr val="333333"/>
                </a:solidFill>
                <a:effectLst/>
                <a:uLnTx/>
                <a:uFillTx/>
                <a:latin typeface="Calibri"/>
                <a:ea typeface="+mn-ea"/>
                <a:cs typeface="+mn-cs"/>
              </a:rPr>
              <a:t>existe necessariamente uma divisão funcional através de papéis tradicionais, tais como programador, designer, analista de testes ou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arquiteto;</a:t>
            </a:r>
          </a:p>
          <a:p>
            <a:pPr marL="450850" marR="0" lvl="0" indent="-450850" algn="l"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Todos trabalham </a:t>
            </a:r>
            <a:r>
              <a:rPr kumimoji="0" lang="pt-BR" sz="2000" b="0" i="0" u="none" strike="noStrike" kern="1200" cap="none" spc="0" normalizeH="0" baseline="0" noProof="0" dirty="0">
                <a:ln>
                  <a:noFill/>
                </a:ln>
                <a:solidFill>
                  <a:srgbClr val="333333"/>
                </a:solidFill>
                <a:effectLst/>
                <a:uLnTx/>
                <a:uFillTx/>
                <a:latin typeface="Calibri"/>
                <a:ea typeface="+mn-ea"/>
                <a:cs typeface="+mn-cs"/>
              </a:rPr>
              <a:t>juntos para completar o conjunto de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trabalho;</a:t>
            </a:r>
            <a:endParaRPr kumimoji="0" lang="pt-BR" sz="2000" b="0" i="0" u="none" strike="noStrike" kern="1200" cap="none" spc="0" normalizeH="0" baseline="0" noProof="0" dirty="0">
              <a:ln>
                <a:noFill/>
              </a:ln>
              <a:solidFill>
                <a:srgbClr val="333333"/>
              </a:solidFill>
              <a:effectLst/>
              <a:uLnTx/>
              <a:uFillTx/>
              <a:latin typeface="Calibri"/>
              <a:ea typeface="+mn-ea"/>
              <a:cs typeface="+mn-cs"/>
            </a:endParaRPr>
          </a:p>
          <a:p>
            <a:pPr marL="450850" marR="0" lvl="0" indent="-450850" algn="l"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Equipe composta normalmente de 6 </a:t>
            </a:r>
            <a:r>
              <a:rPr kumimoji="0" lang="pt-BR" sz="2000" b="0" i="0" u="none" strike="noStrike" kern="1200" cap="none" spc="0" normalizeH="0" baseline="0" noProof="0" dirty="0">
                <a:ln>
                  <a:noFill/>
                </a:ln>
                <a:solidFill>
                  <a:srgbClr val="333333"/>
                </a:solidFill>
                <a:effectLst/>
                <a:uLnTx/>
                <a:uFillTx/>
                <a:latin typeface="Calibri"/>
                <a:ea typeface="+mn-ea"/>
                <a:cs typeface="+mn-cs"/>
              </a:rPr>
              <a:t>a 10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pessoas;</a:t>
            </a:r>
          </a:p>
          <a:p>
            <a:pPr marL="450850" marR="0" lvl="0" indent="-450850" algn="l"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O </a:t>
            </a:r>
            <a:r>
              <a:rPr kumimoji="0" lang="pt-BR" sz="2000" b="0" i="0" u="none" strike="noStrike" kern="1200" cap="none" spc="0" normalizeH="0" baseline="0" noProof="0" dirty="0">
                <a:ln>
                  <a:noFill/>
                </a:ln>
                <a:solidFill>
                  <a:srgbClr val="333333"/>
                </a:solidFill>
                <a:effectLst/>
                <a:uLnTx/>
                <a:uFillTx/>
                <a:latin typeface="Calibri"/>
                <a:ea typeface="+mn-ea"/>
                <a:cs typeface="+mn-cs"/>
              </a:rPr>
              <a:t>conceito de "Scrum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of</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err="1" smtClean="0">
                <a:ln>
                  <a:noFill/>
                </a:ln>
                <a:solidFill>
                  <a:srgbClr val="333333"/>
                </a:solidFill>
                <a:effectLst/>
                <a:uLnTx/>
                <a:uFillTx/>
                <a:latin typeface="Calibri"/>
                <a:ea typeface="+mn-ea"/>
                <a:cs typeface="+mn-cs"/>
              </a:rPr>
              <a:t>Scrums</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 é aplicado para trabalhar com equipes grandes, onde cada equipe trabalha normalmente e indica um representante para frequentar </a:t>
            </a:r>
            <a:r>
              <a:rPr kumimoji="0" lang="pt-BR" sz="2000" b="0" i="0" u="none" strike="noStrike" kern="1200" cap="none" spc="0" normalizeH="0" baseline="0" noProof="0" dirty="0">
                <a:ln>
                  <a:noFill/>
                </a:ln>
                <a:solidFill>
                  <a:srgbClr val="333333"/>
                </a:solidFill>
                <a:effectLst/>
                <a:uLnTx/>
                <a:uFillTx/>
                <a:latin typeface="Calibri"/>
                <a:ea typeface="+mn-ea"/>
                <a:cs typeface="+mn-cs"/>
              </a:rPr>
              <a:t>o Scrum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of</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err="1">
                <a:ln>
                  <a:noFill/>
                </a:ln>
                <a:solidFill>
                  <a:srgbClr val="333333"/>
                </a:solidFill>
                <a:effectLst/>
                <a:uLnTx/>
                <a:uFillTx/>
                <a:latin typeface="Calibri"/>
                <a:ea typeface="+mn-ea"/>
                <a:cs typeface="+mn-cs"/>
              </a:rPr>
              <a:t>Scrums</a:t>
            </a:r>
            <a:r>
              <a:rPr kumimoji="0" lang="pt-BR" sz="2000" b="0" i="0" u="none" strike="noStrike" kern="1200" cap="none" spc="0" normalizeH="0" baseline="0" noProof="0" dirty="0">
                <a:ln>
                  <a:noFill/>
                </a:ln>
                <a:solidFill>
                  <a:srgbClr val="333333"/>
                </a:solidFill>
                <a:effectLst/>
                <a:uLnTx/>
                <a:uFillTx/>
                <a:latin typeface="Calibri"/>
                <a:ea typeface="+mn-ea"/>
                <a:cs typeface="+mn-cs"/>
              </a:rPr>
              <a:t> </a:t>
            </a:r>
            <a:r>
              <a:rPr kumimoji="0" lang="pt-BR" sz="2000" b="0" i="0" u="none" strike="noStrike" kern="1200" cap="none" spc="0" normalizeH="0" baseline="0" noProof="0" dirty="0" smtClean="0">
                <a:ln>
                  <a:noFill/>
                </a:ln>
                <a:solidFill>
                  <a:srgbClr val="333333"/>
                </a:solidFill>
                <a:effectLst/>
                <a:uLnTx/>
                <a:uFillTx/>
                <a:latin typeface="Calibri"/>
                <a:ea typeface="+mn-ea"/>
                <a:cs typeface="+mn-cs"/>
              </a:rPr>
              <a:t>Meeting, realizadas de 2 a 3 vezes por semana.</a:t>
            </a:r>
          </a:p>
        </p:txBody>
      </p:sp>
      <p:sp>
        <p:nvSpPr>
          <p:cNvPr id="11" name="AutoShape 4" descr="Resultado de imagem para team scrum">
            <a:extLst>
              <a:ext uri="{FF2B5EF4-FFF2-40B4-BE49-F238E27FC236}">
                <a16:creationId xmlns:a16="http://schemas.microsoft.com/office/drawing/2014/main" xmlns="" id="{89EEC75A-488C-459D-8114-4B6764CE6A80}"/>
              </a:ext>
            </a:extLst>
          </p:cNvPr>
          <p:cNvSpPr>
            <a:spLocks noChangeAspect="1" noChangeArrowheads="1"/>
          </p:cNvSpPr>
          <p:nvPr/>
        </p:nvSpPr>
        <p:spPr bwMode="auto">
          <a:xfrm>
            <a:off x="12964223" y="1639088"/>
            <a:ext cx="124775" cy="124774"/>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pic>
        <p:nvPicPr>
          <p:cNvPr id="16390" name="Picture 6" descr="Imagem relacionada">
            <a:extLst>
              <a:ext uri="{FF2B5EF4-FFF2-40B4-BE49-F238E27FC236}">
                <a16:creationId xmlns:a16="http://schemas.microsoft.com/office/drawing/2014/main" xmlns="" id="{027ACF49-47CA-4C47-A554-1B8C2E03D812}"/>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8153401" y="2911327"/>
            <a:ext cx="3707895" cy="2471930"/>
          </a:xfrm>
          <a:prstGeom prst="rect">
            <a:avLst/>
          </a:prstGeom>
          <a:noFill/>
          <a:extLst>
            <a:ext uri="{909E8E84-426E-40DD-AFC4-6F175D3DCCD1}">
              <a14:hiddenFill xmlns:a14="http://schemas.microsoft.com/office/drawing/2010/main" xmlns="">
                <a:solidFill>
                  <a:srgbClr val="FFFFFF"/>
                </a:solidFill>
              </a14:hiddenFill>
            </a:ext>
          </a:extLst>
        </p:spPr>
      </p:pic>
      <p:sp>
        <p:nvSpPr>
          <p:cNvPr id="7" name="Espaço Reservado para Rodapé 6"/>
          <p:cNvSpPr>
            <a:spLocks noGrp="1"/>
          </p:cNvSpPr>
          <p:nvPr>
            <p:ph type="ftr" sz="quarter" idx="11"/>
          </p:nvPr>
        </p:nvSpPr>
        <p:spPr>
          <a:xfrm>
            <a:off x="4038601" y="6425003"/>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0" name="CaixaDeTexto 9">
            <a:extLst>
              <a:ext uri="{FF2B5EF4-FFF2-40B4-BE49-F238E27FC236}">
                <a16:creationId xmlns:a16="http://schemas.microsoft.com/office/drawing/2014/main" xmlns="" id="{AF27F5EA-A710-4BC6-BAF2-F13947371E72}"/>
              </a:ext>
            </a:extLst>
          </p:cNvPr>
          <p:cNvSpPr txBox="1"/>
          <p:nvPr/>
        </p:nvSpPr>
        <p:spPr>
          <a:xfrm>
            <a:off x="559430" y="814914"/>
            <a:ext cx="655105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rPr>
              <a:t> Modelo </a:t>
            </a:r>
            <a:r>
              <a:rPr kumimoji="0" lang="pt-BR" sz="3200" b="1" i="0" u="none" strike="noStrike" kern="1200" cap="none" spc="0" normalizeH="0" baseline="0" noProof="0" dirty="0" smtClean="0">
                <a:ln>
                  <a:noFill/>
                </a:ln>
                <a:solidFill>
                  <a:prstClr val="black"/>
                </a:solidFill>
                <a:effectLst/>
                <a:uLnTx/>
                <a:uFillTx/>
                <a:latin typeface="+mj-lt"/>
                <a:ea typeface="Gill Sans MT" charset="0"/>
                <a:cs typeface="Gill Sans MT" charset="0"/>
              </a:rPr>
              <a:t>Ágil – Introdução ao </a:t>
            </a:r>
            <a:r>
              <a:rPr kumimoji="0" lang="pt-BR" sz="3200" b="1" i="0" u="none" strike="noStrike" kern="1200" cap="none" spc="0" normalizeH="0" baseline="0" noProof="0" dirty="0" err="1" smtClean="0">
                <a:ln>
                  <a:noFill/>
                </a:ln>
                <a:solidFill>
                  <a:prstClr val="black"/>
                </a:solidFill>
                <a:effectLst/>
                <a:uLnTx/>
                <a:uFillTx/>
                <a:latin typeface="+mj-lt"/>
                <a:ea typeface="Gill Sans MT" charset="0"/>
                <a:cs typeface="Gill Sans MT" charset="0"/>
              </a:rPr>
              <a:t>Scrum</a:t>
            </a:r>
            <a:endPar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endParaRPr>
          </a:p>
        </p:txBody>
      </p:sp>
      <p:sp>
        <p:nvSpPr>
          <p:cNvPr id="12" name="CaixaDeTexto 11"/>
          <p:cNvSpPr txBox="1"/>
          <p:nvPr/>
        </p:nvSpPr>
        <p:spPr>
          <a:xfrm>
            <a:off x="576450" y="102521"/>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116170323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11" name="AutoShape 4" descr="Resultado de imagem para team scrum">
            <a:extLst>
              <a:ext uri="{FF2B5EF4-FFF2-40B4-BE49-F238E27FC236}">
                <a16:creationId xmlns:a16="http://schemas.microsoft.com/office/drawing/2014/main" xmlns="" id="{89EEC75A-488C-459D-8114-4B6764CE6A80}"/>
              </a:ext>
            </a:extLst>
          </p:cNvPr>
          <p:cNvSpPr>
            <a:spLocks noChangeAspect="1" noChangeArrowheads="1"/>
          </p:cNvSpPr>
          <p:nvPr/>
        </p:nvSpPr>
        <p:spPr bwMode="auto">
          <a:xfrm>
            <a:off x="12964223" y="1639088"/>
            <a:ext cx="124775" cy="124774"/>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CaixaDeTexto 16">
            <a:extLst>
              <a:ext uri="{FF2B5EF4-FFF2-40B4-BE49-F238E27FC236}">
                <a16:creationId xmlns:a16="http://schemas.microsoft.com/office/drawing/2014/main" xmlns="" id="{68700E99-AD7C-4F58-BEA2-89E143077481}"/>
              </a:ext>
            </a:extLst>
          </p:cNvPr>
          <p:cNvSpPr txBox="1"/>
          <p:nvPr/>
        </p:nvSpPr>
        <p:spPr>
          <a:xfrm>
            <a:off x="333375" y="3380997"/>
            <a:ext cx="11474804" cy="15081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a:ea typeface="+mn-ea"/>
                <a:cs typeface="+mn-cs"/>
              </a:rPr>
              <a:t/>
            </a:r>
            <a:br>
              <a:rPr kumimoji="0" lang="pt-BR" sz="1800" b="0" i="0" u="none" strike="noStrike" kern="1200" cap="none" spc="0" normalizeH="0" baseline="0" noProof="0" dirty="0">
                <a:ln>
                  <a:noFill/>
                </a:ln>
                <a:solidFill>
                  <a:prstClr val="black"/>
                </a:solidFill>
                <a:effectLst/>
                <a:uLnTx/>
                <a:uFillTx/>
                <a:latin typeface="Calibri"/>
                <a:ea typeface="+mn-ea"/>
                <a:cs typeface="+mn-cs"/>
              </a:rPr>
            </a:br>
            <a:endParaRPr kumimoji="0" lang="pt-BR"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smtClean="0">
                <a:ln>
                  <a:noFill/>
                </a:ln>
                <a:solidFill>
                  <a:prstClr val="black"/>
                </a:solidFill>
                <a:effectLst/>
                <a:uLnTx/>
                <a:uFillTx/>
                <a:latin typeface="Calibri"/>
                <a:ea typeface="+mn-ea"/>
                <a:cs typeface="+mn-cs"/>
              </a:rPr>
              <a:t>.</a:t>
            </a:r>
            <a:r>
              <a:rPr kumimoji="0" lang="pt-BR" sz="2800" b="0" i="0" u="none" strike="noStrike" kern="1200" cap="none" spc="0" normalizeH="0" baseline="0" noProof="0" dirty="0" smtClean="0">
                <a:ln>
                  <a:noFill/>
                </a:ln>
                <a:solidFill>
                  <a:prstClr val="black"/>
                </a:solidFill>
                <a:effectLst/>
                <a:uLnTx/>
                <a:uFillTx/>
                <a:latin typeface="Calibri"/>
                <a:ea typeface="+mn-ea"/>
                <a:cs typeface="+mn-cs"/>
              </a:rPr>
              <a:t> </a:t>
            </a:r>
            <a:endParaRPr kumimoji="0" lang="pt-BR" sz="2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Espaço Reservado para Rodapé 1"/>
          <p:cNvSpPr>
            <a:spLocks noGrp="1"/>
          </p:cNvSpPr>
          <p:nvPr>
            <p:ph type="ftr" sz="quarter" idx="11"/>
          </p:nvPr>
        </p:nvSpPr>
        <p:spPr>
          <a:xfrm>
            <a:off x="4013377" y="6441703"/>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graphicFrame>
        <p:nvGraphicFramePr>
          <p:cNvPr id="8" name="Tabela 7"/>
          <p:cNvGraphicFramePr>
            <a:graphicFrameLocks noGrp="1"/>
          </p:cNvGraphicFramePr>
          <p:nvPr>
            <p:extLst/>
          </p:nvPr>
        </p:nvGraphicFramePr>
        <p:xfrm>
          <a:off x="0" y="1871104"/>
          <a:ext cx="12140193" cy="4391005"/>
        </p:xfrm>
        <a:graphic>
          <a:graphicData uri="http://schemas.openxmlformats.org/drawingml/2006/table">
            <a:tbl>
              <a:tblPr firstRow="1" bandRow="1">
                <a:tableStyleId>{5C22544A-7EE6-4342-B048-85BDC9FD1C3A}</a:tableStyleId>
              </a:tblPr>
              <a:tblGrid>
                <a:gridCol w="2273643">
                  <a:extLst>
                    <a:ext uri="{9D8B030D-6E8A-4147-A177-3AD203B41FA5}">
                      <a16:colId xmlns:a16="http://schemas.microsoft.com/office/drawing/2014/main" xmlns="" val="20000"/>
                    </a:ext>
                  </a:extLst>
                </a:gridCol>
                <a:gridCol w="9866550">
                  <a:extLst>
                    <a:ext uri="{9D8B030D-6E8A-4147-A177-3AD203B41FA5}">
                      <a16:colId xmlns:a16="http://schemas.microsoft.com/office/drawing/2014/main" xmlns="" val="20001"/>
                    </a:ext>
                  </a:extLst>
                </a:gridCol>
              </a:tblGrid>
              <a:tr h="1875171">
                <a:tc>
                  <a:txBody>
                    <a:bodyPr/>
                    <a:lstStyle/>
                    <a:p>
                      <a:pPr algn="r"/>
                      <a:r>
                        <a:rPr lang="pt-BR" sz="1800" b="1" dirty="0" smtClean="0">
                          <a:solidFill>
                            <a:schemeClr val="tx1"/>
                          </a:solidFill>
                          <a:latin typeface="+mn-lt"/>
                        </a:rPr>
                        <a:t>Promover</a:t>
                      </a:r>
                      <a:r>
                        <a:rPr lang="pt-BR" sz="1800" b="1" baseline="0" dirty="0" smtClean="0">
                          <a:solidFill>
                            <a:schemeClr val="tx1"/>
                          </a:solidFill>
                          <a:latin typeface="+mn-lt"/>
                        </a:rPr>
                        <a:t> feedback contínuo: </a:t>
                      </a:r>
                      <a:endParaRPr lang="pt-BR" sz="1800" b="1" kern="1200" dirty="0">
                        <a:solidFill>
                          <a:schemeClr val="tx1"/>
                        </a:solidFill>
                        <a:latin typeface="+mn-lt"/>
                        <a:ea typeface="+mn-ea"/>
                        <a:cs typeface="+mn-cs"/>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2000" b="0" dirty="0" smtClean="0">
                          <a:solidFill>
                            <a:schemeClr val="tx1"/>
                          </a:solidFill>
                          <a:latin typeface="+mn-lt"/>
                        </a:rPr>
                        <a:t>O feedback faz parte do apelo da comunicação face a face que o ágil propõe. Este feedback rápido é de grande valor para o </a:t>
                      </a:r>
                      <a:r>
                        <a:rPr lang="pt-BR" sz="2000" b="0" dirty="0" err="1" smtClean="0">
                          <a:solidFill>
                            <a:schemeClr val="tx1"/>
                          </a:solidFill>
                          <a:latin typeface="+mn-lt"/>
                        </a:rPr>
                        <a:t>Product</a:t>
                      </a:r>
                      <a:r>
                        <a:rPr lang="pt-BR" sz="2000" b="0" dirty="0" smtClean="0">
                          <a:solidFill>
                            <a:schemeClr val="tx1"/>
                          </a:solidFill>
                          <a:latin typeface="+mn-lt"/>
                        </a:rPr>
                        <a:t> </a:t>
                      </a:r>
                      <a:r>
                        <a:rPr lang="pt-BR" sz="2000" b="0" dirty="0" err="1" smtClean="0">
                          <a:solidFill>
                            <a:schemeClr val="tx1"/>
                          </a:solidFill>
                          <a:latin typeface="+mn-lt"/>
                        </a:rPr>
                        <a:t>Owner</a:t>
                      </a:r>
                      <a:r>
                        <a:rPr lang="pt-BR" sz="2000" b="0" dirty="0" smtClean="0">
                          <a:solidFill>
                            <a:schemeClr val="tx1"/>
                          </a:solidFill>
                          <a:latin typeface="+mn-lt"/>
                        </a:rPr>
                        <a:t> e clientes caso os requisitos não sejam tão adequados quanto pareciam. Diante de um obstáculo, o feedback contínuo pode remover e até evitar dores de cabeça futuras, como por exemplo o desenvolvimento criar interfaces mais testáveis;</a:t>
                      </a:r>
                      <a:endParaRPr lang="pt-BR" sz="2000" b="0" dirty="0">
                        <a:solidFill>
                          <a:schemeClr val="tx1"/>
                        </a:solidFill>
                        <a:latin typeface="+mn-lt"/>
                      </a:endParaRPr>
                    </a:p>
                  </a:txBody>
                  <a:tcPr>
                    <a:noFill/>
                  </a:tcPr>
                </a:tc>
                <a:extLst>
                  <a:ext uri="{0D108BD9-81ED-4DB2-BD59-A6C34878D82A}">
                    <a16:rowId xmlns:a16="http://schemas.microsoft.com/office/drawing/2014/main" xmlns="" val="10000"/>
                  </a:ext>
                </a:extLst>
              </a:tr>
              <a:tr h="115444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BR" sz="1800" b="1" dirty="0" smtClean="0">
                          <a:latin typeface="+mn-lt"/>
                        </a:rPr>
                        <a:t>Entregar valor ao cliente:</a:t>
                      </a:r>
                      <a:endParaRPr lang="pt-BR" sz="1800" b="1" kern="1200" dirty="0">
                        <a:solidFill>
                          <a:schemeClr val="tx1"/>
                        </a:solidFill>
                        <a:latin typeface="+mn-lt"/>
                        <a:ea typeface="+mn-ea"/>
                        <a:cs typeface="+mn-cs"/>
                      </a:endParaRPr>
                    </a:p>
                  </a:txBody>
                  <a:tcPr>
                    <a:noFill/>
                  </a:tcPr>
                </a:tc>
                <a:tc>
                  <a:txBody>
                    <a:bodyPr/>
                    <a:lstStyle/>
                    <a:p>
                      <a:r>
                        <a:rPr lang="pt-BR" sz="2000" dirty="0" smtClean="0">
                          <a:latin typeface="+mn-lt"/>
                        </a:rPr>
                        <a:t>O testador contribui com a entrega iterativa do projeto, que permite que o sistema seja atualizado constantemente, evitando gaps no negócio;</a:t>
                      </a:r>
                      <a:endParaRPr lang="pt-BR" sz="2000" b="0" dirty="0">
                        <a:solidFill>
                          <a:schemeClr val="tx1"/>
                        </a:solidFill>
                        <a:latin typeface="+mn-lt"/>
                      </a:endParaRPr>
                    </a:p>
                  </a:txBody>
                  <a:tcPr>
                    <a:noFill/>
                  </a:tcPr>
                </a:tc>
                <a:extLst>
                  <a:ext uri="{0D108BD9-81ED-4DB2-BD59-A6C34878D82A}">
                    <a16:rowId xmlns:a16="http://schemas.microsoft.com/office/drawing/2014/main" xmlns="" val="10001"/>
                  </a:ext>
                </a:extLst>
              </a:tr>
              <a:tr h="1361390">
                <a:tc>
                  <a:txBody>
                    <a:bodyPr/>
                    <a:lstStyle/>
                    <a:p>
                      <a:pPr algn="r"/>
                      <a:r>
                        <a:rPr lang="pt-BR" sz="1800" b="1" dirty="0" smtClean="0">
                          <a:latin typeface="+mn-lt"/>
                        </a:rPr>
                        <a:t>Disponibilizar comunicação face a face:</a:t>
                      </a:r>
                      <a:endParaRPr lang="pt-BR" sz="1800" b="1" kern="1200" dirty="0">
                        <a:solidFill>
                          <a:schemeClr val="tx1"/>
                        </a:solidFill>
                        <a:latin typeface="+mn-lt"/>
                        <a:ea typeface="+mn-ea"/>
                        <a:cs typeface="+mn-cs"/>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2000" dirty="0" smtClean="0">
                          <a:latin typeface="+mn-lt"/>
                        </a:rPr>
                        <a:t>Nenhum time dá certo sem boa comunicação. Sempre surgem dúvidas sobre uma funcionalidade que está sendo trabalhada, e o programador e analista devem ser consultados, de preferência pessoalmente. Se você fizer isso, sempre terá alguém que ouvindo a conversa poderá aproveitar para aprender ou para compartilhar algo mais. </a:t>
                      </a:r>
                    </a:p>
                  </a:txBody>
                  <a:tcPr>
                    <a:noFill/>
                  </a:tcPr>
                </a:tc>
                <a:extLst>
                  <a:ext uri="{0D108BD9-81ED-4DB2-BD59-A6C34878D82A}">
                    <a16:rowId xmlns:a16="http://schemas.microsoft.com/office/drawing/2014/main" xmlns="" val="10002"/>
                  </a:ext>
                </a:extLst>
              </a:tr>
            </a:tbl>
          </a:graphicData>
        </a:graphic>
      </p:graphicFrame>
      <p:sp>
        <p:nvSpPr>
          <p:cNvPr id="10" name="CaixaDeTexto 9">
            <a:extLst>
              <a:ext uri="{FF2B5EF4-FFF2-40B4-BE49-F238E27FC236}">
                <a16:creationId xmlns:a16="http://schemas.microsoft.com/office/drawing/2014/main" xmlns="" id="{AF27F5EA-A710-4BC6-BAF2-F13947371E72}"/>
              </a:ext>
            </a:extLst>
          </p:cNvPr>
          <p:cNvSpPr txBox="1"/>
          <p:nvPr/>
        </p:nvSpPr>
        <p:spPr>
          <a:xfrm>
            <a:off x="559430" y="910450"/>
            <a:ext cx="655105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rPr>
              <a:t> Modelo </a:t>
            </a:r>
            <a:r>
              <a:rPr kumimoji="0" lang="pt-BR" sz="3200" b="1" i="0" u="none" strike="noStrike" kern="1200" cap="none" spc="0" normalizeH="0" baseline="0" noProof="0" dirty="0" smtClean="0">
                <a:ln>
                  <a:noFill/>
                </a:ln>
                <a:solidFill>
                  <a:prstClr val="black"/>
                </a:solidFill>
                <a:effectLst/>
                <a:uLnTx/>
                <a:uFillTx/>
                <a:latin typeface="+mj-lt"/>
                <a:ea typeface="Gill Sans MT" charset="0"/>
                <a:cs typeface="Gill Sans MT" charset="0"/>
              </a:rPr>
              <a:t>Ágil – Perfil do Testador</a:t>
            </a:r>
            <a:endPar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endParaRPr>
          </a:p>
        </p:txBody>
      </p:sp>
      <p:sp>
        <p:nvSpPr>
          <p:cNvPr id="12" name="CaixaDeTexto 11"/>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256734991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11" name="AutoShape 4" descr="Resultado de imagem para team scrum">
            <a:extLst>
              <a:ext uri="{FF2B5EF4-FFF2-40B4-BE49-F238E27FC236}">
                <a16:creationId xmlns:a16="http://schemas.microsoft.com/office/drawing/2014/main" xmlns="" id="{89EEC75A-488C-459D-8114-4B6764CE6A80}"/>
              </a:ext>
            </a:extLst>
          </p:cNvPr>
          <p:cNvSpPr>
            <a:spLocks noChangeAspect="1" noChangeArrowheads="1"/>
          </p:cNvSpPr>
          <p:nvPr/>
        </p:nvSpPr>
        <p:spPr bwMode="auto">
          <a:xfrm>
            <a:off x="12964223" y="1639088"/>
            <a:ext cx="124775" cy="124774"/>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pic>
        <p:nvPicPr>
          <p:cNvPr id="2050" name="Picture 2" descr="Resultado de imagem para testador de software">
            <a:extLst>
              <a:ext uri="{FF2B5EF4-FFF2-40B4-BE49-F238E27FC236}">
                <a16:creationId xmlns:a16="http://schemas.microsoft.com/office/drawing/2014/main" xmlns="" id="{CE396FFA-F713-4B5B-83D3-ECEEB1759481}"/>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9243300" y="1763862"/>
            <a:ext cx="2544529" cy="3339479"/>
          </a:xfrm>
          <a:prstGeom prst="rect">
            <a:avLst/>
          </a:prstGeom>
          <a:noFill/>
          <a:extLst>
            <a:ext uri="{909E8E84-426E-40DD-AFC4-6F175D3DCCD1}">
              <a14:hiddenFill xmlns:a14="http://schemas.microsoft.com/office/drawing/2010/main" xmlns="">
                <a:solidFill>
                  <a:srgbClr val="FFFFFF"/>
                </a:solidFill>
              </a14:hiddenFill>
            </a:ext>
          </a:extLst>
        </p:spPr>
      </p:pic>
      <p:sp>
        <p:nvSpPr>
          <p:cNvPr id="2" name="Espaço Reservado para Rodapé 1"/>
          <p:cNvSpPr>
            <a:spLocks noGrp="1"/>
          </p:cNvSpPr>
          <p:nvPr>
            <p:ph type="ftr" sz="quarter" idx="11"/>
          </p:nvPr>
        </p:nvSpPr>
        <p:spPr>
          <a:xfrm>
            <a:off x="4038601" y="6455081"/>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graphicFrame>
        <p:nvGraphicFramePr>
          <p:cNvPr id="8" name="Tabela 7"/>
          <p:cNvGraphicFramePr>
            <a:graphicFrameLocks noGrp="1"/>
          </p:cNvGraphicFramePr>
          <p:nvPr>
            <p:extLst/>
          </p:nvPr>
        </p:nvGraphicFramePr>
        <p:xfrm>
          <a:off x="179493" y="1884752"/>
          <a:ext cx="9453603" cy="4279797"/>
        </p:xfrm>
        <a:graphic>
          <a:graphicData uri="http://schemas.openxmlformats.org/drawingml/2006/table">
            <a:tbl>
              <a:tblPr firstRow="1" bandRow="1">
                <a:tableStyleId>{5C22544A-7EE6-4342-B048-85BDC9FD1C3A}</a:tableStyleId>
              </a:tblPr>
              <a:tblGrid>
                <a:gridCol w="1543680">
                  <a:extLst>
                    <a:ext uri="{9D8B030D-6E8A-4147-A177-3AD203B41FA5}">
                      <a16:colId xmlns:a16="http://schemas.microsoft.com/office/drawing/2014/main" xmlns="" val="20000"/>
                    </a:ext>
                  </a:extLst>
                </a:gridCol>
                <a:gridCol w="7909923">
                  <a:extLst>
                    <a:ext uri="{9D8B030D-6E8A-4147-A177-3AD203B41FA5}">
                      <a16:colId xmlns:a16="http://schemas.microsoft.com/office/drawing/2014/main" xmlns="" val="20001"/>
                    </a:ext>
                  </a:extLst>
                </a:gridCol>
              </a:tblGrid>
              <a:tr h="4279797">
                <a:tc>
                  <a:txBody>
                    <a:bodyPr/>
                    <a:lstStyle/>
                    <a:p>
                      <a:pPr marL="0" indent="0">
                        <a:spcAft>
                          <a:spcPts val="1200"/>
                        </a:spcAft>
                        <a:buFontTx/>
                        <a:buNone/>
                      </a:pPr>
                      <a:r>
                        <a:rPr lang="pt-BR" sz="2000" b="1" dirty="0" smtClean="0">
                          <a:solidFill>
                            <a:schemeClr val="tx1"/>
                          </a:solidFill>
                          <a:latin typeface="+mn-lt"/>
                        </a:rPr>
                        <a:t>Ter</a:t>
                      </a:r>
                      <a:r>
                        <a:rPr lang="pt-BR" sz="2000" b="1" baseline="0" dirty="0" smtClean="0">
                          <a:solidFill>
                            <a:schemeClr val="tx1"/>
                          </a:solidFill>
                          <a:latin typeface="+mn-lt"/>
                        </a:rPr>
                        <a:t>  </a:t>
                      </a:r>
                      <a:r>
                        <a:rPr lang="pt-BR" sz="2000" b="1" dirty="0" smtClean="0">
                          <a:solidFill>
                            <a:schemeClr val="tx1"/>
                          </a:solidFill>
                          <a:latin typeface="+mn-lt"/>
                        </a:rPr>
                        <a:t>coragem</a:t>
                      </a:r>
                      <a:endParaRPr lang="pt-BR" sz="2000" b="1" kern="1200" dirty="0">
                        <a:solidFill>
                          <a:schemeClr val="tx1"/>
                        </a:solidFill>
                        <a:latin typeface="+mn-lt"/>
                        <a:ea typeface="+mn-ea"/>
                        <a:cs typeface="+mn-cs"/>
                      </a:endParaRPr>
                    </a:p>
                  </a:txBody>
                  <a:tcPr>
                    <a:noFill/>
                  </a:tcPr>
                </a:tc>
                <a:tc>
                  <a:txBody>
                    <a:bodyPr/>
                    <a:lstStyle/>
                    <a:p>
                      <a:pPr marL="342900" marR="0" lvl="0" indent="-342900" algn="l"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lang="pt-BR" sz="2000" b="0" dirty="0" smtClean="0">
                          <a:solidFill>
                            <a:schemeClr val="tx1"/>
                          </a:solidFill>
                          <a:latin typeface="+mn-lt"/>
                        </a:rPr>
                        <a:t>Para ousar e conquistar inovações que transmitam aos testadores mais coragem de inovar no código deles sem medo de irem bugs para produção;</a:t>
                      </a:r>
                    </a:p>
                    <a:p>
                      <a:pPr marL="342900" marR="0" lvl="0" indent="-342900" algn="l"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lang="pt-BR" sz="2000" b="0" dirty="0" smtClean="0">
                          <a:solidFill>
                            <a:schemeClr val="tx1"/>
                          </a:solidFill>
                          <a:latin typeface="+mn-lt"/>
                        </a:rPr>
                        <a:t>Para nos permitirmos errar, sabendo que pelo menos iremos falhar rápido e aprender rápido com os erros. Somente assim as pessoas param para rever o que pode ser melhorado;</a:t>
                      </a:r>
                    </a:p>
                    <a:p>
                      <a:pPr marL="342900" marR="0" lvl="0" indent="-342900" algn="l"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lang="pt-BR" sz="2000" b="0" dirty="0" smtClean="0">
                          <a:solidFill>
                            <a:schemeClr val="tx1"/>
                          </a:solidFill>
                          <a:latin typeface="+mn-lt"/>
                        </a:rPr>
                        <a:t>Para permitir aos outros errarem, porque este é o único jeito de se aprender a lição... quebrando a cara! (será?);</a:t>
                      </a:r>
                    </a:p>
                    <a:p>
                      <a:pPr marL="342900" marR="0" lvl="0" indent="-342900" algn="l" defTabSz="914400" rtl="0" eaLnBrk="1" fontAlgn="auto" latinLnBrk="0" hangingPunct="1">
                        <a:lnSpc>
                          <a:spcPct val="100000"/>
                        </a:lnSpc>
                        <a:spcBef>
                          <a:spcPts val="0"/>
                        </a:spcBef>
                        <a:spcAft>
                          <a:spcPts val="1200"/>
                        </a:spcAft>
                        <a:buClrTx/>
                        <a:buSzTx/>
                        <a:buFont typeface="Wingdings" panose="05000000000000000000" pitchFamily="2" charset="2"/>
                        <a:buChar char="v"/>
                        <a:tabLst/>
                        <a:defRPr/>
                      </a:pPr>
                      <a:r>
                        <a:rPr lang="pt-BR" sz="2000" b="0" dirty="0" smtClean="0">
                          <a:solidFill>
                            <a:schemeClr val="tx1"/>
                          </a:solidFill>
                          <a:latin typeface="+mn-lt"/>
                        </a:rPr>
                        <a:t>Para pedir ajuda, mesmo que a pessoa que vá ajudar pareça tão ocupada e estressada. Isso nos obriga a sair de dentro da concha chamada "meu departamento" e compartilhar a responsabilidade pela qualidade com todo o time.</a:t>
                      </a:r>
                      <a:endParaRPr lang="pt-BR" sz="2000" b="0" dirty="0">
                        <a:solidFill>
                          <a:schemeClr val="tx1"/>
                        </a:solidFill>
                        <a:latin typeface="+mn-lt"/>
                      </a:endParaRPr>
                    </a:p>
                  </a:txBody>
                  <a:tcPr>
                    <a:noFill/>
                  </a:tcPr>
                </a:tc>
                <a:extLst>
                  <a:ext uri="{0D108BD9-81ED-4DB2-BD59-A6C34878D82A}">
                    <a16:rowId xmlns:a16="http://schemas.microsoft.com/office/drawing/2014/main" xmlns="" val="10000"/>
                  </a:ext>
                </a:extLst>
              </a:tr>
            </a:tbl>
          </a:graphicData>
        </a:graphic>
      </p:graphicFrame>
      <p:sp>
        <p:nvSpPr>
          <p:cNvPr id="10" name="CaixaDeTexto 9">
            <a:extLst>
              <a:ext uri="{FF2B5EF4-FFF2-40B4-BE49-F238E27FC236}">
                <a16:creationId xmlns:a16="http://schemas.microsoft.com/office/drawing/2014/main" xmlns="" id="{AF27F5EA-A710-4BC6-BAF2-F13947371E72}"/>
              </a:ext>
            </a:extLst>
          </p:cNvPr>
          <p:cNvSpPr txBox="1"/>
          <p:nvPr/>
        </p:nvSpPr>
        <p:spPr>
          <a:xfrm>
            <a:off x="559430" y="910450"/>
            <a:ext cx="655105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rPr>
              <a:t> Modelo </a:t>
            </a:r>
            <a:r>
              <a:rPr kumimoji="0" lang="pt-BR" sz="3200" b="1" i="0" u="none" strike="noStrike" kern="1200" cap="none" spc="0" normalizeH="0" baseline="0" noProof="0" dirty="0" smtClean="0">
                <a:ln>
                  <a:noFill/>
                </a:ln>
                <a:solidFill>
                  <a:prstClr val="black"/>
                </a:solidFill>
                <a:effectLst/>
                <a:uLnTx/>
                <a:uFillTx/>
                <a:latin typeface="+mj-lt"/>
                <a:ea typeface="Gill Sans MT" charset="0"/>
                <a:cs typeface="Gill Sans MT" charset="0"/>
              </a:rPr>
              <a:t>Ágil – Perfil do Testador</a:t>
            </a:r>
            <a:endPar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endParaRPr>
          </a:p>
        </p:txBody>
      </p:sp>
      <p:sp>
        <p:nvSpPr>
          <p:cNvPr id="12" name="CaixaDeTexto 11"/>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31251302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11" name="AutoShape 4" descr="Resultado de imagem para team scrum">
            <a:extLst>
              <a:ext uri="{FF2B5EF4-FFF2-40B4-BE49-F238E27FC236}">
                <a16:creationId xmlns:a16="http://schemas.microsoft.com/office/drawing/2014/main" xmlns="" id="{89EEC75A-488C-459D-8114-4B6764CE6A80}"/>
              </a:ext>
            </a:extLst>
          </p:cNvPr>
          <p:cNvSpPr>
            <a:spLocks noChangeAspect="1" noChangeArrowheads="1"/>
          </p:cNvSpPr>
          <p:nvPr/>
        </p:nvSpPr>
        <p:spPr bwMode="auto">
          <a:xfrm>
            <a:off x="12964223" y="1639088"/>
            <a:ext cx="124775" cy="124774"/>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pic>
        <p:nvPicPr>
          <p:cNvPr id="2050" name="Picture 2" descr="Resultado de imagem para testador de software">
            <a:extLst>
              <a:ext uri="{FF2B5EF4-FFF2-40B4-BE49-F238E27FC236}">
                <a16:creationId xmlns:a16="http://schemas.microsoft.com/office/drawing/2014/main" xmlns="" id="{CE396FFA-F713-4B5B-83D3-ECEEB1759481}"/>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8496536" y="1420265"/>
            <a:ext cx="3390664" cy="4449959"/>
          </a:xfrm>
          <a:prstGeom prst="rect">
            <a:avLst/>
          </a:prstGeom>
          <a:noFill/>
          <a:extLst>
            <a:ext uri="{909E8E84-426E-40DD-AFC4-6F175D3DCCD1}">
              <a14:hiddenFill xmlns:a14="http://schemas.microsoft.com/office/drawing/2010/main" xmlns="">
                <a:solidFill>
                  <a:srgbClr val="FFFFFF"/>
                </a:solidFill>
              </a14:hiddenFill>
            </a:ext>
          </a:extLst>
        </p:spPr>
      </p:pic>
      <p:sp>
        <p:nvSpPr>
          <p:cNvPr id="2" name="Espaço Reservado para Rodapé 1"/>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8" name="Tabela 7"/>
          <p:cNvGraphicFramePr>
            <a:graphicFrameLocks noGrp="1"/>
          </p:cNvGraphicFramePr>
          <p:nvPr>
            <p:extLst/>
          </p:nvPr>
        </p:nvGraphicFramePr>
        <p:xfrm>
          <a:off x="210393" y="1697170"/>
          <a:ext cx="8400207" cy="4541520"/>
        </p:xfrm>
        <a:graphic>
          <a:graphicData uri="http://schemas.openxmlformats.org/drawingml/2006/table">
            <a:tbl>
              <a:tblPr firstRow="1" bandRow="1">
                <a:tableStyleId>{5C22544A-7EE6-4342-B048-85BDC9FD1C3A}</a:tableStyleId>
              </a:tblPr>
              <a:tblGrid>
                <a:gridCol w="1621535">
                  <a:extLst>
                    <a:ext uri="{9D8B030D-6E8A-4147-A177-3AD203B41FA5}">
                      <a16:colId xmlns:a16="http://schemas.microsoft.com/office/drawing/2014/main" xmlns="" val="20000"/>
                    </a:ext>
                  </a:extLst>
                </a:gridCol>
                <a:gridCol w="6778672">
                  <a:extLst>
                    <a:ext uri="{9D8B030D-6E8A-4147-A177-3AD203B41FA5}">
                      <a16:colId xmlns:a16="http://schemas.microsoft.com/office/drawing/2014/main" xmlns="" val="20001"/>
                    </a:ext>
                  </a:extLst>
                </a:gridCol>
              </a:tblGrid>
              <a:tr h="794355">
                <a:tc>
                  <a:txBody>
                    <a:bodyPr/>
                    <a:lstStyle/>
                    <a:p>
                      <a:pPr algn="r"/>
                      <a:r>
                        <a:rPr lang="pt-BR" sz="2000" b="1" dirty="0" smtClean="0">
                          <a:solidFill>
                            <a:schemeClr val="tx1"/>
                          </a:solidFill>
                          <a:latin typeface="+mn-lt"/>
                        </a:rPr>
                        <a:t>Tornar</a:t>
                      </a:r>
                      <a:r>
                        <a:rPr lang="pt-BR" sz="2000" b="1" baseline="0" dirty="0" smtClean="0">
                          <a:solidFill>
                            <a:schemeClr val="tx1"/>
                          </a:solidFill>
                          <a:latin typeface="+mn-lt"/>
                        </a:rPr>
                        <a:t> tudo simples:</a:t>
                      </a:r>
                      <a:endParaRPr lang="pt-BR" sz="2000" b="1" kern="1200" dirty="0">
                        <a:solidFill>
                          <a:schemeClr val="tx1"/>
                        </a:solidFill>
                        <a:latin typeface="+mn-lt"/>
                        <a:ea typeface="+mn-ea"/>
                        <a:cs typeface="+mn-cs"/>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2000" b="0" dirty="0" smtClean="0">
                          <a:solidFill>
                            <a:schemeClr val="tx1"/>
                          </a:solidFill>
                          <a:latin typeface="+mn-lt"/>
                        </a:rPr>
                        <a:t>Resista à tentação de fazer automações mirabolantes e planejamentos detalhados: faça o melhor suficiente para agregar valor ao que está sendo feito... nem mais, nem menos.</a:t>
                      </a:r>
                      <a:br>
                        <a:rPr lang="pt-BR" sz="2000" b="0" dirty="0" smtClean="0">
                          <a:solidFill>
                            <a:schemeClr val="tx1"/>
                          </a:solidFill>
                          <a:latin typeface="+mn-lt"/>
                        </a:rPr>
                      </a:br>
                      <a:r>
                        <a:rPr lang="pt-BR" sz="2000" b="0" dirty="0" smtClean="0">
                          <a:solidFill>
                            <a:schemeClr val="tx1"/>
                          </a:solidFill>
                          <a:latin typeface="+mn-lt"/>
                        </a:rPr>
                        <a:t>Apesar de ser simples, não significa que seja sem planejamento, sem estrutura e nem que seja a primeira ideia "que sirva";</a:t>
                      </a:r>
                      <a:endParaRPr lang="pt-BR" sz="2000" b="0" dirty="0">
                        <a:solidFill>
                          <a:schemeClr val="tx1"/>
                        </a:solidFill>
                        <a:latin typeface="+mn-lt"/>
                      </a:endParaRPr>
                    </a:p>
                  </a:txBody>
                  <a:tcPr>
                    <a:noFill/>
                  </a:tcPr>
                </a:tc>
                <a:extLst>
                  <a:ext uri="{0D108BD9-81ED-4DB2-BD59-A6C34878D82A}">
                    <a16:rowId xmlns:a16="http://schemas.microsoft.com/office/drawing/2014/main" xmlns="" val="10000"/>
                  </a:ext>
                </a:extLst>
              </a:tr>
              <a:tr h="794355">
                <a:tc>
                  <a:txBody>
                    <a:bodyPr/>
                    <a:lstStyle/>
                    <a:p>
                      <a:pPr algn="r"/>
                      <a:r>
                        <a:rPr lang="pt-BR" sz="2000" b="1" dirty="0" smtClean="0">
                          <a:latin typeface="+mn-lt"/>
                        </a:rPr>
                        <a:t>Praticar a Melhoria Contínua:</a:t>
                      </a:r>
                      <a:endParaRPr lang="pt-BR" sz="2000" b="1" kern="1200" dirty="0">
                        <a:solidFill>
                          <a:schemeClr val="tx1"/>
                        </a:solidFill>
                        <a:latin typeface="+mn-lt"/>
                        <a:ea typeface="+mn-ea"/>
                        <a:cs typeface="+mn-cs"/>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2000" dirty="0" smtClean="0">
                          <a:latin typeface="+mn-lt"/>
                        </a:rPr>
                        <a:t>Buscar por melhores maneiras de se fazer o trabalho faz parte do </a:t>
                      </a:r>
                      <a:r>
                        <a:rPr lang="pt-BR" sz="2000" dirty="0" err="1" smtClean="0">
                          <a:latin typeface="+mn-lt"/>
                        </a:rPr>
                        <a:t>mind</a:t>
                      </a:r>
                      <a:r>
                        <a:rPr lang="pt-BR" sz="2000" dirty="0" smtClean="0">
                          <a:latin typeface="+mn-lt"/>
                        </a:rPr>
                        <a:t>-set de um time ágil. Para isso participar das retrospectivas do time é essencial. Não se esqueça de anotar estas ideias, e até de colocá-las no quadro </a:t>
                      </a:r>
                      <a:r>
                        <a:rPr lang="pt-BR" sz="2000" dirty="0" err="1" smtClean="0">
                          <a:latin typeface="+mn-lt"/>
                        </a:rPr>
                        <a:t>Kanban</a:t>
                      </a:r>
                      <a:r>
                        <a:rPr lang="pt-BR" sz="2000" dirty="0" smtClean="0">
                          <a:latin typeface="+mn-lt"/>
                        </a:rPr>
                        <a:t>.</a:t>
                      </a:r>
                      <a:endParaRPr lang="pt-BR" sz="2000" b="0" dirty="0">
                        <a:solidFill>
                          <a:schemeClr val="tx1"/>
                        </a:solidFill>
                        <a:latin typeface="+mn-lt"/>
                      </a:endParaRPr>
                    </a:p>
                  </a:txBody>
                  <a:tcPr>
                    <a:noFill/>
                  </a:tcPr>
                </a:tc>
                <a:extLst>
                  <a:ext uri="{0D108BD9-81ED-4DB2-BD59-A6C34878D82A}">
                    <a16:rowId xmlns:a16="http://schemas.microsoft.com/office/drawing/2014/main" xmlns="" val="10001"/>
                  </a:ext>
                </a:extLst>
              </a:tr>
              <a:tr h="794355">
                <a:tc>
                  <a:txBody>
                    <a:bodyPr/>
                    <a:lstStyle/>
                    <a:p>
                      <a:pPr algn="r"/>
                      <a:r>
                        <a:rPr lang="pt-BR" sz="2000" b="1" dirty="0" smtClean="0">
                          <a:latin typeface="+mn-lt"/>
                        </a:rPr>
                        <a:t>Responder à mudanças:</a:t>
                      </a:r>
                      <a:endParaRPr lang="pt-BR" sz="2000" b="1" kern="1200" dirty="0">
                        <a:solidFill>
                          <a:schemeClr val="tx1"/>
                        </a:solidFill>
                        <a:latin typeface="+mn-lt"/>
                        <a:ea typeface="+mn-ea"/>
                        <a:cs typeface="+mn-cs"/>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2000" dirty="0" smtClean="0">
                          <a:latin typeface="+mn-lt"/>
                        </a:rPr>
                        <a:t>Quando estamos acostumados com o modelo cascata, diante de uma mudança gostamos de responder com "Não podemos fazer alterações agora, vamos deixar isso para a próxima versão". Isso é um veneno para o valor de negócio!</a:t>
                      </a:r>
                      <a:endParaRPr lang="pt-BR" sz="3200" dirty="0" smtClean="0">
                        <a:latin typeface="+mn-lt"/>
                      </a:endParaRPr>
                    </a:p>
                  </a:txBody>
                  <a:tcPr>
                    <a:noFill/>
                  </a:tcPr>
                </a:tc>
                <a:extLst>
                  <a:ext uri="{0D108BD9-81ED-4DB2-BD59-A6C34878D82A}">
                    <a16:rowId xmlns:a16="http://schemas.microsoft.com/office/drawing/2014/main" xmlns="" val="10002"/>
                  </a:ext>
                </a:extLst>
              </a:tr>
            </a:tbl>
          </a:graphicData>
        </a:graphic>
      </p:graphicFrame>
      <p:sp>
        <p:nvSpPr>
          <p:cNvPr id="10" name="CaixaDeTexto 9">
            <a:extLst>
              <a:ext uri="{FF2B5EF4-FFF2-40B4-BE49-F238E27FC236}">
                <a16:creationId xmlns:a16="http://schemas.microsoft.com/office/drawing/2014/main" xmlns="" id="{AF27F5EA-A710-4BC6-BAF2-F13947371E72}"/>
              </a:ext>
            </a:extLst>
          </p:cNvPr>
          <p:cNvSpPr txBox="1"/>
          <p:nvPr/>
        </p:nvSpPr>
        <p:spPr>
          <a:xfrm>
            <a:off x="559430" y="910450"/>
            <a:ext cx="655105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rPr>
              <a:t> Modelo </a:t>
            </a:r>
            <a:r>
              <a:rPr kumimoji="0" lang="pt-BR" sz="3200" b="1" i="0" u="none" strike="noStrike" kern="1200" cap="none" spc="0" normalizeH="0" baseline="0" noProof="0" dirty="0" smtClean="0">
                <a:ln>
                  <a:noFill/>
                </a:ln>
                <a:solidFill>
                  <a:prstClr val="black"/>
                </a:solidFill>
                <a:effectLst/>
                <a:uLnTx/>
                <a:uFillTx/>
                <a:latin typeface="+mj-lt"/>
                <a:ea typeface="Gill Sans MT" charset="0"/>
                <a:cs typeface="Gill Sans MT" charset="0"/>
              </a:rPr>
              <a:t>Ágil – Perfil do Testador</a:t>
            </a:r>
            <a:endPar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endParaRPr>
          </a:p>
        </p:txBody>
      </p:sp>
      <p:sp>
        <p:nvSpPr>
          <p:cNvPr id="12" name="CaixaDeTexto 11"/>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297227513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11" name="AutoShape 4" descr="Resultado de imagem para team scrum">
            <a:extLst>
              <a:ext uri="{FF2B5EF4-FFF2-40B4-BE49-F238E27FC236}">
                <a16:creationId xmlns:a16="http://schemas.microsoft.com/office/drawing/2014/main" xmlns="" id="{89EEC75A-488C-459D-8114-4B6764CE6A80}"/>
              </a:ext>
            </a:extLst>
          </p:cNvPr>
          <p:cNvSpPr>
            <a:spLocks noChangeAspect="1" noChangeArrowheads="1"/>
          </p:cNvSpPr>
          <p:nvPr/>
        </p:nvSpPr>
        <p:spPr bwMode="auto">
          <a:xfrm>
            <a:off x="12964223" y="1639088"/>
            <a:ext cx="124775" cy="124774"/>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pic>
        <p:nvPicPr>
          <p:cNvPr id="2050" name="Picture 2" descr="Resultado de imagem para testador de software">
            <a:extLst>
              <a:ext uri="{FF2B5EF4-FFF2-40B4-BE49-F238E27FC236}">
                <a16:creationId xmlns:a16="http://schemas.microsoft.com/office/drawing/2014/main" xmlns="" id="{CE396FFA-F713-4B5B-83D3-ECEEB1759481}"/>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8667690" y="1357729"/>
            <a:ext cx="3390664" cy="4449959"/>
          </a:xfrm>
          <a:prstGeom prst="rect">
            <a:avLst/>
          </a:prstGeom>
          <a:noFill/>
          <a:extLst>
            <a:ext uri="{909E8E84-426E-40DD-AFC4-6F175D3DCCD1}">
              <a14:hiddenFill xmlns:a14="http://schemas.microsoft.com/office/drawing/2010/main" xmlns="">
                <a:solidFill>
                  <a:srgbClr val="FFFFFF"/>
                </a:solidFill>
              </a14:hiddenFill>
            </a:ext>
          </a:extLst>
        </p:spPr>
      </p:pic>
      <p:sp>
        <p:nvSpPr>
          <p:cNvPr id="2" name="Espaço Reservado para Rodapé 1"/>
          <p:cNvSpPr>
            <a:spLocks noGrp="1"/>
          </p:cNvSpPr>
          <p:nvPr>
            <p:ph type="ftr" sz="quarter" idx="11"/>
          </p:nvPr>
        </p:nvSpPr>
        <p:spPr>
          <a:xfrm>
            <a:off x="4038601" y="6441703"/>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graphicFrame>
        <p:nvGraphicFramePr>
          <p:cNvPr id="8" name="Tabela 7"/>
          <p:cNvGraphicFramePr>
            <a:graphicFrameLocks noGrp="1"/>
          </p:cNvGraphicFramePr>
          <p:nvPr>
            <p:extLst/>
          </p:nvPr>
        </p:nvGraphicFramePr>
        <p:xfrm>
          <a:off x="179493" y="2085796"/>
          <a:ext cx="9261069" cy="3749040"/>
        </p:xfrm>
        <a:graphic>
          <a:graphicData uri="http://schemas.openxmlformats.org/drawingml/2006/table">
            <a:tbl>
              <a:tblPr firstRow="1" bandRow="1">
                <a:tableStyleId>{5C22544A-7EE6-4342-B048-85BDC9FD1C3A}</a:tableStyleId>
              </a:tblPr>
              <a:tblGrid>
                <a:gridCol w="2242431">
                  <a:extLst>
                    <a:ext uri="{9D8B030D-6E8A-4147-A177-3AD203B41FA5}">
                      <a16:colId xmlns:a16="http://schemas.microsoft.com/office/drawing/2014/main" xmlns="" val="20000"/>
                    </a:ext>
                  </a:extLst>
                </a:gridCol>
                <a:gridCol w="7018638">
                  <a:extLst>
                    <a:ext uri="{9D8B030D-6E8A-4147-A177-3AD203B41FA5}">
                      <a16:colId xmlns:a16="http://schemas.microsoft.com/office/drawing/2014/main" xmlns="" val="20001"/>
                    </a:ext>
                  </a:extLst>
                </a:gridCol>
              </a:tblGrid>
              <a:tr h="794355">
                <a:tc>
                  <a:txBody>
                    <a:bodyPr/>
                    <a:lstStyle/>
                    <a:p>
                      <a:r>
                        <a:rPr lang="pt-BR" sz="2000" b="1" dirty="0" smtClean="0">
                          <a:solidFill>
                            <a:schemeClr val="tx1"/>
                          </a:solidFill>
                          <a:latin typeface="+mn-lt"/>
                        </a:rPr>
                        <a:t>Auto</a:t>
                      </a:r>
                      <a:r>
                        <a:rPr lang="pt-BR" sz="2000" b="1" baseline="0" dirty="0" smtClean="0">
                          <a:solidFill>
                            <a:schemeClr val="tx1"/>
                          </a:solidFill>
                          <a:latin typeface="+mn-lt"/>
                        </a:rPr>
                        <a:t> organizar-se:</a:t>
                      </a:r>
                      <a:endParaRPr lang="pt-BR" sz="2000" b="1" kern="1200" dirty="0">
                        <a:solidFill>
                          <a:schemeClr val="tx1"/>
                        </a:solidFill>
                        <a:latin typeface="+mn-lt"/>
                        <a:ea typeface="+mn-ea"/>
                        <a:cs typeface="+mn-cs"/>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2000" b="0" dirty="0" smtClean="0">
                          <a:solidFill>
                            <a:schemeClr val="tx1"/>
                          </a:solidFill>
                          <a:latin typeface="+mn-lt"/>
                        </a:rPr>
                        <a:t>Dentro de um time onde os analistas, desenvolvedores, </a:t>
                      </a:r>
                      <a:r>
                        <a:rPr lang="pt-BR" sz="2000" b="0" dirty="0" err="1" smtClean="0">
                          <a:solidFill>
                            <a:schemeClr val="tx1"/>
                          </a:solidFill>
                          <a:latin typeface="+mn-lt"/>
                        </a:rPr>
                        <a:t>stakeholders</a:t>
                      </a:r>
                      <a:r>
                        <a:rPr lang="pt-BR" sz="2000" b="0" dirty="0" smtClean="0">
                          <a:solidFill>
                            <a:schemeClr val="tx1"/>
                          </a:solidFill>
                          <a:latin typeface="+mn-lt"/>
                        </a:rPr>
                        <a:t> possam conversar continuamente sobre teste e automação, os testadores vivem uma nova perspectiva. Automatizar teste é difícil, mas é muito mais fácil quando você tem um time inteiro podendo colaborar dentro de suas especialidades.</a:t>
                      </a:r>
                      <a:br>
                        <a:rPr lang="pt-BR" sz="2000" b="0" dirty="0" smtClean="0">
                          <a:solidFill>
                            <a:schemeClr val="tx1"/>
                          </a:solidFill>
                          <a:latin typeface="+mn-lt"/>
                        </a:rPr>
                      </a:br>
                      <a:r>
                        <a:rPr lang="pt-BR" sz="2000" b="0" dirty="0" smtClean="0">
                          <a:solidFill>
                            <a:schemeClr val="tx1"/>
                          </a:solidFill>
                          <a:latin typeface="+mn-lt"/>
                        </a:rPr>
                        <a:t/>
                      </a:r>
                      <a:br>
                        <a:rPr lang="pt-BR" sz="2000" b="0" dirty="0" smtClean="0">
                          <a:solidFill>
                            <a:schemeClr val="tx1"/>
                          </a:solidFill>
                          <a:latin typeface="+mn-lt"/>
                        </a:rPr>
                      </a:br>
                      <a:r>
                        <a:rPr lang="pt-BR" sz="2000" b="0" dirty="0" smtClean="0">
                          <a:solidFill>
                            <a:schemeClr val="tx1"/>
                          </a:solidFill>
                          <a:latin typeface="+mn-lt"/>
                        </a:rPr>
                        <a:t>Quando um testador encontra um problema, na verdade esse problema deve ser visto como sendo do time inteiro, e não apenas do programador que desenvolveu o bug, ou do analista que fechou o build incorretamente.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2000" b="0" dirty="0">
                        <a:solidFill>
                          <a:schemeClr val="tx1"/>
                        </a:solidFill>
                        <a:latin typeface="+mn-lt"/>
                      </a:endParaRPr>
                    </a:p>
                  </a:txBody>
                  <a:tcPr>
                    <a:noFill/>
                  </a:tcPr>
                </a:tc>
                <a:extLst>
                  <a:ext uri="{0D108BD9-81ED-4DB2-BD59-A6C34878D82A}">
                    <a16:rowId xmlns:a16="http://schemas.microsoft.com/office/drawing/2014/main" xmlns="" val="10000"/>
                  </a:ext>
                </a:extLst>
              </a:tr>
            </a:tbl>
          </a:graphicData>
        </a:graphic>
      </p:graphicFrame>
      <p:sp>
        <p:nvSpPr>
          <p:cNvPr id="10" name="CaixaDeTexto 9">
            <a:extLst>
              <a:ext uri="{FF2B5EF4-FFF2-40B4-BE49-F238E27FC236}">
                <a16:creationId xmlns:a16="http://schemas.microsoft.com/office/drawing/2014/main" xmlns="" id="{AF27F5EA-A710-4BC6-BAF2-F13947371E72}"/>
              </a:ext>
            </a:extLst>
          </p:cNvPr>
          <p:cNvSpPr txBox="1"/>
          <p:nvPr/>
        </p:nvSpPr>
        <p:spPr>
          <a:xfrm>
            <a:off x="559430" y="910450"/>
            <a:ext cx="655105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rPr>
              <a:t> Modelo </a:t>
            </a:r>
            <a:r>
              <a:rPr kumimoji="0" lang="pt-BR" sz="3200" b="1" i="0" u="none" strike="noStrike" kern="1200" cap="none" spc="0" normalizeH="0" baseline="0" noProof="0" dirty="0" smtClean="0">
                <a:ln>
                  <a:noFill/>
                </a:ln>
                <a:solidFill>
                  <a:prstClr val="black"/>
                </a:solidFill>
                <a:effectLst/>
                <a:uLnTx/>
                <a:uFillTx/>
                <a:latin typeface="+mj-lt"/>
                <a:ea typeface="Gill Sans MT" charset="0"/>
                <a:cs typeface="Gill Sans MT" charset="0"/>
              </a:rPr>
              <a:t>Ágil – Perfil do Testador</a:t>
            </a:r>
            <a:endPar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endParaRPr>
          </a:p>
        </p:txBody>
      </p:sp>
      <p:sp>
        <p:nvSpPr>
          <p:cNvPr id="12" name="CaixaDeTexto 11"/>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337931228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11" name="AutoShape 4" descr="Resultado de imagem para team scrum">
            <a:extLst>
              <a:ext uri="{FF2B5EF4-FFF2-40B4-BE49-F238E27FC236}">
                <a16:creationId xmlns:a16="http://schemas.microsoft.com/office/drawing/2014/main" xmlns="" id="{89EEC75A-488C-459D-8114-4B6764CE6A80}"/>
              </a:ext>
            </a:extLst>
          </p:cNvPr>
          <p:cNvSpPr>
            <a:spLocks noChangeAspect="1" noChangeArrowheads="1"/>
          </p:cNvSpPr>
          <p:nvPr/>
        </p:nvSpPr>
        <p:spPr bwMode="auto">
          <a:xfrm>
            <a:off x="12964223" y="1639088"/>
            <a:ext cx="124775" cy="124774"/>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Espaço Reservado para Rodapé 1"/>
          <p:cNvSpPr>
            <a:spLocks noGrp="1"/>
          </p:cNvSpPr>
          <p:nvPr>
            <p:ph type="ftr" sz="quarter" idx="11"/>
          </p:nvPr>
        </p:nvSpPr>
        <p:spPr>
          <a:xfrm>
            <a:off x="4038601" y="6441703"/>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graphicFrame>
        <p:nvGraphicFramePr>
          <p:cNvPr id="8" name="Tabela 7"/>
          <p:cNvGraphicFramePr>
            <a:graphicFrameLocks noGrp="1"/>
          </p:cNvGraphicFramePr>
          <p:nvPr>
            <p:extLst/>
          </p:nvPr>
        </p:nvGraphicFramePr>
        <p:xfrm>
          <a:off x="179493" y="2166462"/>
          <a:ext cx="11525546" cy="3444240"/>
        </p:xfrm>
        <a:graphic>
          <a:graphicData uri="http://schemas.openxmlformats.org/drawingml/2006/table">
            <a:tbl>
              <a:tblPr firstRow="1" bandRow="1">
                <a:tableStyleId>{5C22544A-7EE6-4342-B048-85BDC9FD1C3A}</a:tableStyleId>
              </a:tblPr>
              <a:tblGrid>
                <a:gridCol w="2155934">
                  <a:extLst>
                    <a:ext uri="{9D8B030D-6E8A-4147-A177-3AD203B41FA5}">
                      <a16:colId xmlns:a16="http://schemas.microsoft.com/office/drawing/2014/main" xmlns="" val="20000"/>
                    </a:ext>
                  </a:extLst>
                </a:gridCol>
                <a:gridCol w="9369612">
                  <a:extLst>
                    <a:ext uri="{9D8B030D-6E8A-4147-A177-3AD203B41FA5}">
                      <a16:colId xmlns:a16="http://schemas.microsoft.com/office/drawing/2014/main" xmlns="" val="20001"/>
                    </a:ext>
                  </a:extLst>
                </a:gridCol>
              </a:tblGrid>
              <a:tr h="2429920">
                <a:tc>
                  <a:txBody>
                    <a:bodyPr/>
                    <a:lstStyle/>
                    <a:p>
                      <a:r>
                        <a:rPr lang="pt-BR" sz="2000" b="1" dirty="0" smtClean="0">
                          <a:solidFill>
                            <a:schemeClr val="tx1"/>
                          </a:solidFill>
                          <a:latin typeface="+mn-lt"/>
                        </a:rPr>
                        <a:t>Foco nas</a:t>
                      </a:r>
                      <a:r>
                        <a:rPr lang="pt-BR" sz="2000" b="1" baseline="0" dirty="0" smtClean="0">
                          <a:solidFill>
                            <a:schemeClr val="tx1"/>
                          </a:solidFill>
                          <a:latin typeface="+mn-lt"/>
                        </a:rPr>
                        <a:t> Pessoas: </a:t>
                      </a:r>
                      <a:endParaRPr lang="pt-BR" sz="2000" b="1" kern="1200" dirty="0">
                        <a:solidFill>
                          <a:schemeClr val="tx1"/>
                        </a:solidFill>
                        <a:latin typeface="+mn-lt"/>
                        <a:ea typeface="+mn-ea"/>
                        <a:cs typeface="+mn-cs"/>
                      </a:endParaRPr>
                    </a:p>
                  </a:txBody>
                  <a:tcPr>
                    <a:noFill/>
                  </a:tcPr>
                </a:tc>
                <a:tc>
                  <a:txBody>
                    <a:bodyPr/>
                    <a:lstStyle/>
                    <a:p>
                      <a:r>
                        <a:rPr lang="pt-BR" sz="2000" b="0" dirty="0" smtClean="0">
                          <a:solidFill>
                            <a:schemeClr val="tx1"/>
                          </a:solidFill>
                          <a:latin typeface="+mn-lt"/>
                        </a:rPr>
                        <a:t>Projetos dão certo quando as pessoas boas são autorizadas a fazer seu melhor trabalho. Membros de times ágeis devem sentir-se à vontade e sem preocupações de serem culpados ou castigados por algo.</a:t>
                      </a:r>
                      <a:br>
                        <a:rPr lang="pt-BR" sz="2000" b="0" dirty="0" smtClean="0">
                          <a:solidFill>
                            <a:schemeClr val="tx1"/>
                          </a:solidFill>
                          <a:latin typeface="+mn-lt"/>
                        </a:rPr>
                      </a:br>
                      <a:r>
                        <a:rPr lang="pt-BR" sz="2000" b="0" dirty="0" smtClean="0">
                          <a:solidFill>
                            <a:schemeClr val="tx1"/>
                          </a:solidFill>
                          <a:latin typeface="+mn-lt"/>
                        </a:rPr>
                        <a:t/>
                      </a:r>
                      <a:br>
                        <a:rPr lang="pt-BR" sz="2000" b="0" dirty="0" smtClean="0">
                          <a:solidFill>
                            <a:schemeClr val="tx1"/>
                          </a:solidFill>
                          <a:latin typeface="+mn-lt"/>
                        </a:rPr>
                      </a:br>
                      <a:r>
                        <a:rPr lang="pt-BR" sz="2000" b="0" dirty="0" smtClean="0">
                          <a:solidFill>
                            <a:schemeClr val="tx1"/>
                          </a:solidFill>
                          <a:latin typeface="+mn-lt"/>
                        </a:rPr>
                        <a:t>Todos no time devem ter oportunidades de crescer e desenvolver suas habilidades, como o manifesto ágil propõe, que os indivíduos e as iterações valem mais que os processos e ferramentas. A facilidade que uma ferramenta automatizada provê não vale muito se por detrás dela não tiver um testador pensando nas iterações e na lógica da automação com habilidade.</a:t>
                      </a:r>
                      <a:br>
                        <a:rPr lang="pt-BR" sz="2000" b="0" dirty="0" smtClean="0">
                          <a:solidFill>
                            <a:schemeClr val="tx1"/>
                          </a:solidFill>
                          <a:latin typeface="+mn-lt"/>
                        </a:rPr>
                      </a:br>
                      <a:r>
                        <a:rPr lang="pt-BR" sz="2000" b="0" dirty="0" smtClean="0">
                          <a:solidFill>
                            <a:schemeClr val="tx1"/>
                          </a:solidFill>
                          <a:latin typeface="+mn-lt"/>
                        </a:rPr>
                        <a:t/>
                      </a:r>
                      <a:br>
                        <a:rPr lang="pt-BR" sz="2000" b="0" dirty="0" smtClean="0">
                          <a:solidFill>
                            <a:schemeClr val="tx1"/>
                          </a:solidFill>
                          <a:latin typeface="+mn-lt"/>
                        </a:rPr>
                      </a:br>
                      <a:endParaRPr lang="pt-BR" sz="2000" b="0" dirty="0">
                        <a:solidFill>
                          <a:schemeClr val="tx1"/>
                        </a:solidFill>
                        <a:latin typeface="+mn-lt"/>
                      </a:endParaRPr>
                    </a:p>
                  </a:txBody>
                  <a:tcPr>
                    <a:noFill/>
                  </a:tcPr>
                </a:tc>
                <a:extLst>
                  <a:ext uri="{0D108BD9-81ED-4DB2-BD59-A6C34878D82A}">
                    <a16:rowId xmlns:a16="http://schemas.microsoft.com/office/drawing/2014/main" xmlns="" val="10000"/>
                  </a:ext>
                </a:extLst>
              </a:tr>
            </a:tbl>
          </a:graphicData>
        </a:graphic>
      </p:graphicFrame>
      <p:sp>
        <p:nvSpPr>
          <p:cNvPr id="7" name="CaixaDeTexto 6">
            <a:extLst>
              <a:ext uri="{FF2B5EF4-FFF2-40B4-BE49-F238E27FC236}">
                <a16:creationId xmlns:a16="http://schemas.microsoft.com/office/drawing/2014/main" xmlns="" id="{AF27F5EA-A710-4BC6-BAF2-F13947371E72}"/>
              </a:ext>
            </a:extLst>
          </p:cNvPr>
          <p:cNvSpPr txBox="1"/>
          <p:nvPr/>
        </p:nvSpPr>
        <p:spPr>
          <a:xfrm>
            <a:off x="559430" y="910450"/>
            <a:ext cx="655105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rPr>
              <a:t> Modelo </a:t>
            </a:r>
            <a:r>
              <a:rPr kumimoji="0" lang="pt-BR" sz="3200" b="1" i="0" u="none" strike="noStrike" kern="1200" cap="none" spc="0" normalizeH="0" baseline="0" noProof="0" dirty="0" smtClean="0">
                <a:ln>
                  <a:noFill/>
                </a:ln>
                <a:solidFill>
                  <a:prstClr val="black"/>
                </a:solidFill>
                <a:effectLst/>
                <a:uLnTx/>
                <a:uFillTx/>
                <a:latin typeface="+mj-lt"/>
                <a:ea typeface="Gill Sans MT" charset="0"/>
                <a:cs typeface="Gill Sans MT" charset="0"/>
              </a:rPr>
              <a:t>Ágil – Perfil do Testador</a:t>
            </a:r>
            <a:endPar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endParaRPr>
          </a:p>
        </p:txBody>
      </p:sp>
      <p:sp>
        <p:nvSpPr>
          <p:cNvPr id="10" name="CaixaDeTexto 9"/>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87468923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11" name="AutoShape 4" descr="Resultado de imagem para team scrum">
            <a:extLst>
              <a:ext uri="{FF2B5EF4-FFF2-40B4-BE49-F238E27FC236}">
                <a16:creationId xmlns:a16="http://schemas.microsoft.com/office/drawing/2014/main" xmlns="" id="{89EEC75A-488C-459D-8114-4B6764CE6A80}"/>
              </a:ext>
            </a:extLst>
          </p:cNvPr>
          <p:cNvSpPr>
            <a:spLocks noChangeAspect="1" noChangeArrowheads="1"/>
          </p:cNvSpPr>
          <p:nvPr/>
        </p:nvSpPr>
        <p:spPr bwMode="auto">
          <a:xfrm>
            <a:off x="12964223" y="1639088"/>
            <a:ext cx="124775" cy="124774"/>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Espaço Reservado para Rodapé 1"/>
          <p:cNvSpPr>
            <a:spLocks noGrp="1"/>
          </p:cNvSpPr>
          <p:nvPr>
            <p:ph type="ftr" sz="quarter" idx="11"/>
          </p:nvPr>
        </p:nvSpPr>
        <p:spPr>
          <a:xfrm>
            <a:off x="4038601" y="6441703"/>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graphicFrame>
        <p:nvGraphicFramePr>
          <p:cNvPr id="8" name="Tabela 7"/>
          <p:cNvGraphicFramePr>
            <a:graphicFrameLocks noGrp="1"/>
          </p:cNvGraphicFramePr>
          <p:nvPr>
            <p:extLst/>
          </p:nvPr>
        </p:nvGraphicFramePr>
        <p:xfrm>
          <a:off x="1112296" y="1898400"/>
          <a:ext cx="10120663" cy="3139440"/>
        </p:xfrm>
        <a:graphic>
          <a:graphicData uri="http://schemas.openxmlformats.org/drawingml/2006/table">
            <a:tbl>
              <a:tblPr firstRow="1" bandRow="1">
                <a:tableStyleId>{5C22544A-7EE6-4342-B048-85BDC9FD1C3A}</a:tableStyleId>
              </a:tblPr>
              <a:tblGrid>
                <a:gridCol w="10120663">
                  <a:extLst>
                    <a:ext uri="{9D8B030D-6E8A-4147-A177-3AD203B41FA5}">
                      <a16:colId xmlns:a16="http://schemas.microsoft.com/office/drawing/2014/main" xmlns="" val="20001"/>
                    </a:ext>
                  </a:extLst>
                </a:gridCol>
              </a:tblGrid>
              <a:tr h="2429920">
                <a:tc>
                  <a:txBody>
                    <a:bodyPr/>
                    <a:lstStyle/>
                    <a:p>
                      <a:pPr algn="l"/>
                      <a:r>
                        <a:rPr lang="pt-BR" sz="2000" b="0" dirty="0" smtClean="0">
                          <a:solidFill>
                            <a:schemeClr val="tx1"/>
                          </a:solidFill>
                          <a:latin typeface="+mn-lt"/>
                        </a:rPr>
                        <a:t>Além </a:t>
                      </a:r>
                      <a:r>
                        <a:rPr lang="pt-BR" sz="2000" b="0" dirty="0" smtClean="0">
                          <a:solidFill>
                            <a:schemeClr val="tx1"/>
                          </a:solidFill>
                          <a:latin typeface="+mn-lt"/>
                        </a:rPr>
                        <a:t>disso, um testador não é simplesmente um testador. Ele deve lembrar que ele é um engenheiro de Qualidade de Software, o que remete a um horizonte bem amplo do que ele pode fazer e aprender.</a:t>
                      </a:r>
                      <a:br>
                        <a:rPr lang="pt-BR" sz="2000" b="0" dirty="0" smtClean="0">
                          <a:solidFill>
                            <a:schemeClr val="tx1"/>
                          </a:solidFill>
                          <a:latin typeface="+mn-lt"/>
                        </a:rPr>
                      </a:br>
                      <a:r>
                        <a:rPr lang="pt-BR" sz="2000" b="0" dirty="0" smtClean="0">
                          <a:solidFill>
                            <a:schemeClr val="tx1"/>
                          </a:solidFill>
                          <a:latin typeface="+mn-lt"/>
                        </a:rPr>
                        <a:t/>
                      </a:r>
                      <a:br>
                        <a:rPr lang="pt-BR" sz="2000" b="0" dirty="0" smtClean="0">
                          <a:solidFill>
                            <a:schemeClr val="tx1"/>
                          </a:solidFill>
                          <a:latin typeface="+mn-lt"/>
                        </a:rPr>
                      </a:br>
                      <a:r>
                        <a:rPr lang="pt-BR" sz="2000" b="0" dirty="0" smtClean="0">
                          <a:solidFill>
                            <a:schemeClr val="tx1"/>
                          </a:solidFill>
                          <a:latin typeface="+mn-lt"/>
                        </a:rPr>
                        <a:t>Em um departamento comum de desenvolvedores x testadores, a função "testador" costuma ser vista como uma inferior à função "programador", como se fosse uma </a:t>
                      </a:r>
                      <a:r>
                        <a:rPr lang="pt-BR" sz="2000" b="0" dirty="0" err="1" smtClean="0">
                          <a:solidFill>
                            <a:schemeClr val="tx1"/>
                          </a:solidFill>
                          <a:latin typeface="+mn-lt"/>
                        </a:rPr>
                        <a:t>sub-função</a:t>
                      </a:r>
                      <a:r>
                        <a:rPr lang="pt-BR" sz="2000" b="0" dirty="0" smtClean="0">
                          <a:solidFill>
                            <a:schemeClr val="tx1"/>
                          </a:solidFill>
                          <a:latin typeface="+mn-lt"/>
                        </a:rPr>
                        <a:t>, um estágio, ou uma pessoa da área de sistemas que não é boa o suficiente para programar.</a:t>
                      </a:r>
                    </a:p>
                    <a:p>
                      <a:pPr algn="l"/>
                      <a:r>
                        <a:rPr lang="pt-BR" sz="2000" b="0" dirty="0" smtClean="0">
                          <a:solidFill>
                            <a:schemeClr val="tx1"/>
                          </a:solidFill>
                          <a:latin typeface="+mn-lt"/>
                        </a:rPr>
                        <a:t>A abordagem ágil nos lembra que no time todo mundo está no mesmo patamar, e sendo multidisciplinar, quando um desenvolvedor precisar testar, sem o know-how de um testador colaborando, com certeza o trabalho vai ter menos qualidade.</a:t>
                      </a:r>
                      <a:endParaRPr lang="pt-BR" sz="2000" b="0" dirty="0">
                        <a:solidFill>
                          <a:schemeClr val="tx1"/>
                        </a:solidFill>
                        <a:latin typeface="+mn-lt"/>
                      </a:endParaRPr>
                    </a:p>
                  </a:txBody>
                  <a:tcPr>
                    <a:noFill/>
                  </a:tcPr>
                </a:tc>
                <a:extLst>
                  <a:ext uri="{0D108BD9-81ED-4DB2-BD59-A6C34878D82A}">
                    <a16:rowId xmlns:a16="http://schemas.microsoft.com/office/drawing/2014/main" xmlns="" val="10000"/>
                  </a:ext>
                </a:extLst>
              </a:tr>
            </a:tbl>
          </a:graphicData>
        </a:graphic>
      </p:graphicFrame>
      <p:sp>
        <p:nvSpPr>
          <p:cNvPr id="7" name="CaixaDeTexto 6">
            <a:extLst>
              <a:ext uri="{FF2B5EF4-FFF2-40B4-BE49-F238E27FC236}">
                <a16:creationId xmlns:a16="http://schemas.microsoft.com/office/drawing/2014/main" xmlns="" id="{AF27F5EA-A710-4BC6-BAF2-F13947371E72}"/>
              </a:ext>
            </a:extLst>
          </p:cNvPr>
          <p:cNvSpPr txBox="1"/>
          <p:nvPr/>
        </p:nvSpPr>
        <p:spPr>
          <a:xfrm>
            <a:off x="559430" y="910450"/>
            <a:ext cx="655105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rPr>
              <a:t> Modelo </a:t>
            </a:r>
            <a:r>
              <a:rPr kumimoji="0" lang="pt-BR" sz="3200" b="1" i="0" u="none" strike="noStrike" kern="1200" cap="none" spc="0" normalizeH="0" baseline="0" noProof="0" dirty="0" smtClean="0">
                <a:ln>
                  <a:noFill/>
                </a:ln>
                <a:solidFill>
                  <a:prstClr val="black"/>
                </a:solidFill>
                <a:effectLst/>
                <a:uLnTx/>
                <a:uFillTx/>
                <a:latin typeface="+mj-lt"/>
                <a:ea typeface="Gill Sans MT" charset="0"/>
                <a:cs typeface="Gill Sans MT" charset="0"/>
              </a:rPr>
              <a:t>Ágil – Perfil do Testador</a:t>
            </a:r>
            <a:endPar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endParaRPr>
          </a:p>
        </p:txBody>
      </p:sp>
      <p:sp>
        <p:nvSpPr>
          <p:cNvPr id="10" name="CaixaDeTexto 9"/>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296761456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11" name="AutoShape 4" descr="Resultado de imagem para team scrum">
            <a:extLst>
              <a:ext uri="{FF2B5EF4-FFF2-40B4-BE49-F238E27FC236}">
                <a16:creationId xmlns:a16="http://schemas.microsoft.com/office/drawing/2014/main" xmlns="" id="{89EEC75A-488C-459D-8114-4B6764CE6A80}"/>
              </a:ext>
            </a:extLst>
          </p:cNvPr>
          <p:cNvSpPr>
            <a:spLocks noChangeAspect="1" noChangeArrowheads="1"/>
          </p:cNvSpPr>
          <p:nvPr/>
        </p:nvSpPr>
        <p:spPr bwMode="auto">
          <a:xfrm>
            <a:off x="12964223" y="1639088"/>
            <a:ext cx="124775" cy="124774"/>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Espaço Reservado para Rodapé 1"/>
          <p:cNvSpPr>
            <a:spLocks noGrp="1"/>
          </p:cNvSpPr>
          <p:nvPr>
            <p:ph type="ftr" sz="quarter" idx="11"/>
          </p:nvPr>
        </p:nvSpPr>
        <p:spPr>
          <a:xfrm>
            <a:off x="3999522" y="6492875"/>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CaixaDeTexto 7">
            <a:extLst>
              <a:ext uri="{FF2B5EF4-FFF2-40B4-BE49-F238E27FC236}">
                <a16:creationId xmlns:a16="http://schemas.microsoft.com/office/drawing/2014/main" xmlns="" id="{AF27F5EA-A710-4BC6-BAF2-F13947371E72}"/>
              </a:ext>
            </a:extLst>
          </p:cNvPr>
          <p:cNvSpPr txBox="1"/>
          <p:nvPr/>
        </p:nvSpPr>
        <p:spPr>
          <a:xfrm>
            <a:off x="559430" y="910450"/>
            <a:ext cx="655105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3200" b="1" dirty="0" smtClean="0">
                <a:solidFill>
                  <a:prstClr val="black"/>
                </a:solidFill>
                <a:latin typeface="+mj-lt"/>
                <a:ea typeface="Gill Sans MT" charset="0"/>
                <a:cs typeface="Gill Sans MT" charset="0"/>
              </a:rPr>
              <a:t>Papeis x Responsabilidade</a:t>
            </a:r>
            <a:endPar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endParaRPr>
          </a:p>
        </p:txBody>
      </p:sp>
      <p:sp>
        <p:nvSpPr>
          <p:cNvPr id="10" name="CaixaDeTexto 9"/>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12" name="Triângulo isósceles 11"/>
          <p:cNvSpPr/>
          <p:nvPr/>
        </p:nvSpPr>
        <p:spPr>
          <a:xfrm>
            <a:off x="6919415" y="2238234"/>
            <a:ext cx="4640239" cy="3562066"/>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Elipse 12"/>
          <p:cNvSpPr/>
          <p:nvPr/>
        </p:nvSpPr>
        <p:spPr>
          <a:xfrm>
            <a:off x="1009934" y="2415653"/>
            <a:ext cx="3425588" cy="32072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5" name="Conector reto 14"/>
          <p:cNvCxnSpPr/>
          <p:nvPr/>
        </p:nvCxnSpPr>
        <p:spPr>
          <a:xfrm>
            <a:off x="7246961" y="5268039"/>
            <a:ext cx="3998794" cy="1364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CaixaDeTexto 20"/>
          <p:cNvSpPr txBox="1"/>
          <p:nvPr/>
        </p:nvSpPr>
        <p:spPr>
          <a:xfrm>
            <a:off x="7751928" y="5363571"/>
            <a:ext cx="2811439" cy="369332"/>
          </a:xfrm>
          <a:prstGeom prst="rect">
            <a:avLst/>
          </a:prstGeom>
          <a:noFill/>
        </p:spPr>
        <p:txBody>
          <a:bodyPr wrap="square" rtlCol="0">
            <a:spAutoFit/>
          </a:bodyPr>
          <a:lstStyle/>
          <a:p>
            <a:pPr algn="ctr"/>
            <a:r>
              <a:rPr lang="pt-BR" dirty="0" smtClean="0"/>
              <a:t>Executores</a:t>
            </a:r>
            <a:endParaRPr lang="pt-BR" dirty="0"/>
          </a:p>
        </p:txBody>
      </p:sp>
      <p:cxnSp>
        <p:nvCxnSpPr>
          <p:cNvPr id="22" name="Conector reto 21"/>
          <p:cNvCxnSpPr/>
          <p:nvPr/>
        </p:nvCxnSpPr>
        <p:spPr>
          <a:xfrm>
            <a:off x="7656394" y="4708479"/>
            <a:ext cx="3193576" cy="1364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CaixaDeTexto 24"/>
          <p:cNvSpPr txBox="1"/>
          <p:nvPr/>
        </p:nvSpPr>
        <p:spPr>
          <a:xfrm>
            <a:off x="7822443" y="4806287"/>
            <a:ext cx="2811439" cy="369332"/>
          </a:xfrm>
          <a:prstGeom prst="rect">
            <a:avLst/>
          </a:prstGeom>
          <a:noFill/>
        </p:spPr>
        <p:txBody>
          <a:bodyPr wrap="square" rtlCol="0">
            <a:spAutoFit/>
          </a:bodyPr>
          <a:lstStyle/>
          <a:p>
            <a:pPr algn="ctr"/>
            <a:r>
              <a:rPr lang="pt-BR" dirty="0" smtClean="0"/>
              <a:t>Analistas</a:t>
            </a:r>
            <a:endParaRPr lang="pt-BR" dirty="0"/>
          </a:p>
        </p:txBody>
      </p:sp>
      <p:sp>
        <p:nvSpPr>
          <p:cNvPr id="26" name="CaixaDeTexto 25"/>
          <p:cNvSpPr txBox="1"/>
          <p:nvPr/>
        </p:nvSpPr>
        <p:spPr>
          <a:xfrm>
            <a:off x="7852013" y="4330890"/>
            <a:ext cx="2811439" cy="369332"/>
          </a:xfrm>
          <a:prstGeom prst="rect">
            <a:avLst/>
          </a:prstGeom>
          <a:noFill/>
        </p:spPr>
        <p:txBody>
          <a:bodyPr wrap="square" rtlCol="0">
            <a:spAutoFit/>
          </a:bodyPr>
          <a:lstStyle/>
          <a:p>
            <a:pPr algn="ctr"/>
            <a:r>
              <a:rPr lang="pt-BR" dirty="0" smtClean="0"/>
              <a:t>Arquitetos</a:t>
            </a:r>
            <a:endParaRPr lang="pt-BR" dirty="0"/>
          </a:p>
        </p:txBody>
      </p:sp>
      <p:cxnSp>
        <p:nvCxnSpPr>
          <p:cNvPr id="27" name="Conector reto 26"/>
          <p:cNvCxnSpPr/>
          <p:nvPr/>
        </p:nvCxnSpPr>
        <p:spPr>
          <a:xfrm flipV="1">
            <a:off x="7890680" y="4285398"/>
            <a:ext cx="2686335" cy="227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9" name="CaixaDeTexto 28"/>
          <p:cNvSpPr txBox="1"/>
          <p:nvPr/>
        </p:nvSpPr>
        <p:spPr>
          <a:xfrm>
            <a:off x="7867935" y="3869141"/>
            <a:ext cx="2811439" cy="369332"/>
          </a:xfrm>
          <a:prstGeom prst="rect">
            <a:avLst/>
          </a:prstGeom>
          <a:noFill/>
        </p:spPr>
        <p:txBody>
          <a:bodyPr wrap="square" rtlCol="0">
            <a:spAutoFit/>
          </a:bodyPr>
          <a:lstStyle/>
          <a:p>
            <a:pPr algn="ctr"/>
            <a:r>
              <a:rPr lang="pt-BR" dirty="0" smtClean="0"/>
              <a:t>Líder</a:t>
            </a:r>
            <a:endParaRPr lang="pt-BR" dirty="0"/>
          </a:p>
        </p:txBody>
      </p:sp>
      <p:cxnSp>
        <p:nvCxnSpPr>
          <p:cNvPr id="30" name="Conector reto 29"/>
          <p:cNvCxnSpPr/>
          <p:nvPr/>
        </p:nvCxnSpPr>
        <p:spPr>
          <a:xfrm flipV="1">
            <a:off x="8193205" y="3835022"/>
            <a:ext cx="2110855" cy="455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2" name="CaixaDeTexto 31"/>
          <p:cNvSpPr txBox="1"/>
          <p:nvPr/>
        </p:nvSpPr>
        <p:spPr>
          <a:xfrm>
            <a:off x="7911153" y="3448335"/>
            <a:ext cx="2811439" cy="369332"/>
          </a:xfrm>
          <a:prstGeom prst="rect">
            <a:avLst/>
          </a:prstGeom>
          <a:noFill/>
        </p:spPr>
        <p:txBody>
          <a:bodyPr wrap="square" rtlCol="0">
            <a:spAutoFit/>
          </a:bodyPr>
          <a:lstStyle/>
          <a:p>
            <a:pPr algn="ctr"/>
            <a:r>
              <a:rPr lang="pt-BR" dirty="0" smtClean="0"/>
              <a:t>Consultor</a:t>
            </a:r>
            <a:endParaRPr lang="pt-BR" dirty="0"/>
          </a:p>
        </p:txBody>
      </p:sp>
      <p:cxnSp>
        <p:nvCxnSpPr>
          <p:cNvPr id="33" name="Conector reto 32"/>
          <p:cNvCxnSpPr/>
          <p:nvPr/>
        </p:nvCxnSpPr>
        <p:spPr>
          <a:xfrm flipV="1">
            <a:off x="8482083" y="3411941"/>
            <a:ext cx="1535374" cy="2047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5" name="CaixaDeTexto 34"/>
          <p:cNvSpPr txBox="1"/>
          <p:nvPr/>
        </p:nvSpPr>
        <p:spPr>
          <a:xfrm>
            <a:off x="7858836" y="2945643"/>
            <a:ext cx="2811439" cy="369332"/>
          </a:xfrm>
          <a:prstGeom prst="rect">
            <a:avLst/>
          </a:prstGeom>
          <a:noFill/>
        </p:spPr>
        <p:txBody>
          <a:bodyPr wrap="square" rtlCol="0">
            <a:spAutoFit/>
          </a:bodyPr>
          <a:lstStyle/>
          <a:p>
            <a:pPr algn="ctr"/>
            <a:r>
              <a:rPr lang="pt-BR" dirty="0" smtClean="0"/>
              <a:t>Gerente</a:t>
            </a:r>
            <a:endParaRPr lang="pt-BR" dirty="0"/>
          </a:p>
        </p:txBody>
      </p:sp>
      <p:sp>
        <p:nvSpPr>
          <p:cNvPr id="36" name="CaixaDeTexto 35"/>
          <p:cNvSpPr txBox="1"/>
          <p:nvPr/>
        </p:nvSpPr>
        <p:spPr>
          <a:xfrm>
            <a:off x="1665025" y="2879675"/>
            <a:ext cx="2101756" cy="369332"/>
          </a:xfrm>
          <a:prstGeom prst="rect">
            <a:avLst/>
          </a:prstGeom>
          <a:noFill/>
        </p:spPr>
        <p:txBody>
          <a:bodyPr wrap="square" rtlCol="0">
            <a:spAutoFit/>
          </a:bodyPr>
          <a:lstStyle/>
          <a:p>
            <a:r>
              <a:rPr lang="pt-BR" dirty="0" smtClean="0"/>
              <a:t>Gerente de Projeto</a:t>
            </a:r>
            <a:endParaRPr lang="pt-BR" dirty="0"/>
          </a:p>
        </p:txBody>
      </p:sp>
      <p:sp>
        <p:nvSpPr>
          <p:cNvPr id="37" name="CaixaDeTexto 36"/>
          <p:cNvSpPr txBox="1"/>
          <p:nvPr/>
        </p:nvSpPr>
        <p:spPr>
          <a:xfrm>
            <a:off x="1162332" y="3673521"/>
            <a:ext cx="1307913" cy="646331"/>
          </a:xfrm>
          <a:prstGeom prst="rect">
            <a:avLst/>
          </a:prstGeom>
          <a:noFill/>
        </p:spPr>
        <p:txBody>
          <a:bodyPr wrap="square" rtlCol="0">
            <a:spAutoFit/>
          </a:bodyPr>
          <a:lstStyle/>
          <a:p>
            <a:r>
              <a:rPr lang="pt-BR" dirty="0" smtClean="0"/>
              <a:t>Analista de Requisitos</a:t>
            </a:r>
            <a:endParaRPr lang="pt-BR" dirty="0"/>
          </a:p>
        </p:txBody>
      </p:sp>
      <p:sp>
        <p:nvSpPr>
          <p:cNvPr id="38" name="CaixaDeTexto 37"/>
          <p:cNvSpPr txBox="1"/>
          <p:nvPr/>
        </p:nvSpPr>
        <p:spPr>
          <a:xfrm>
            <a:off x="2897871" y="4003343"/>
            <a:ext cx="1307913" cy="646331"/>
          </a:xfrm>
          <a:prstGeom prst="rect">
            <a:avLst/>
          </a:prstGeom>
          <a:noFill/>
        </p:spPr>
        <p:txBody>
          <a:bodyPr wrap="square" rtlCol="0">
            <a:spAutoFit/>
          </a:bodyPr>
          <a:lstStyle/>
          <a:p>
            <a:r>
              <a:rPr lang="pt-BR" dirty="0" smtClean="0"/>
              <a:t>Arquiteto de Sistema</a:t>
            </a:r>
            <a:endParaRPr lang="pt-BR" dirty="0"/>
          </a:p>
        </p:txBody>
      </p:sp>
      <p:sp>
        <p:nvSpPr>
          <p:cNvPr id="39" name="CaixaDeTexto 38"/>
          <p:cNvSpPr txBox="1"/>
          <p:nvPr/>
        </p:nvSpPr>
        <p:spPr>
          <a:xfrm>
            <a:off x="1453483" y="4346813"/>
            <a:ext cx="1307913" cy="369332"/>
          </a:xfrm>
          <a:prstGeom prst="rect">
            <a:avLst/>
          </a:prstGeom>
          <a:noFill/>
        </p:spPr>
        <p:txBody>
          <a:bodyPr wrap="square" rtlCol="0">
            <a:spAutoFit/>
          </a:bodyPr>
          <a:lstStyle/>
          <a:p>
            <a:r>
              <a:rPr lang="pt-BR" dirty="0" smtClean="0"/>
              <a:t>PMO</a:t>
            </a:r>
            <a:endParaRPr lang="pt-BR" dirty="0"/>
          </a:p>
        </p:txBody>
      </p:sp>
      <p:sp>
        <p:nvSpPr>
          <p:cNvPr id="40" name="CaixaDeTexto 39"/>
          <p:cNvSpPr txBox="1"/>
          <p:nvPr/>
        </p:nvSpPr>
        <p:spPr>
          <a:xfrm>
            <a:off x="2056260" y="4840406"/>
            <a:ext cx="1614988" cy="369332"/>
          </a:xfrm>
          <a:prstGeom prst="rect">
            <a:avLst/>
          </a:prstGeom>
          <a:noFill/>
        </p:spPr>
        <p:txBody>
          <a:bodyPr wrap="square" rtlCol="0">
            <a:spAutoFit/>
          </a:bodyPr>
          <a:lstStyle/>
          <a:p>
            <a:r>
              <a:rPr lang="pt-BR" dirty="0" smtClean="0"/>
              <a:t>Desenvolvedor</a:t>
            </a:r>
            <a:endParaRPr lang="pt-BR" dirty="0"/>
          </a:p>
        </p:txBody>
      </p:sp>
      <p:sp>
        <p:nvSpPr>
          <p:cNvPr id="41" name="CaixaDeTexto 40"/>
          <p:cNvSpPr txBox="1"/>
          <p:nvPr/>
        </p:nvSpPr>
        <p:spPr>
          <a:xfrm>
            <a:off x="2615821" y="3366449"/>
            <a:ext cx="1628636" cy="369332"/>
          </a:xfrm>
          <a:prstGeom prst="rect">
            <a:avLst/>
          </a:prstGeom>
          <a:noFill/>
        </p:spPr>
        <p:txBody>
          <a:bodyPr wrap="square" rtlCol="0">
            <a:spAutoFit/>
          </a:bodyPr>
          <a:lstStyle/>
          <a:p>
            <a:r>
              <a:rPr lang="pt-BR" dirty="0" smtClean="0"/>
              <a:t>Coordenador</a:t>
            </a:r>
            <a:endParaRPr lang="pt-BR" dirty="0"/>
          </a:p>
        </p:txBody>
      </p:sp>
      <p:sp>
        <p:nvSpPr>
          <p:cNvPr id="42" name="Seta para a esquerda e para a direita 41"/>
          <p:cNvSpPr/>
          <p:nvPr/>
        </p:nvSpPr>
        <p:spPr>
          <a:xfrm>
            <a:off x="5090615" y="3439236"/>
            <a:ext cx="2033516" cy="723331"/>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3" name="CaixaDeTexto 42"/>
          <p:cNvSpPr txBox="1"/>
          <p:nvPr/>
        </p:nvSpPr>
        <p:spPr>
          <a:xfrm>
            <a:off x="1542197" y="2006221"/>
            <a:ext cx="2634018" cy="369332"/>
          </a:xfrm>
          <a:prstGeom prst="rect">
            <a:avLst/>
          </a:prstGeom>
          <a:noFill/>
        </p:spPr>
        <p:txBody>
          <a:bodyPr wrap="square" rtlCol="0">
            <a:spAutoFit/>
          </a:bodyPr>
          <a:lstStyle/>
          <a:p>
            <a:pPr algn="ctr"/>
            <a:r>
              <a:rPr lang="pt-BR" dirty="0" smtClean="0"/>
              <a:t>Fábrica de Software</a:t>
            </a:r>
            <a:endParaRPr lang="pt-BR" dirty="0"/>
          </a:p>
        </p:txBody>
      </p:sp>
      <p:sp>
        <p:nvSpPr>
          <p:cNvPr id="44" name="CaixaDeTexto 43"/>
          <p:cNvSpPr txBox="1"/>
          <p:nvPr/>
        </p:nvSpPr>
        <p:spPr>
          <a:xfrm>
            <a:off x="7931623" y="1667302"/>
            <a:ext cx="2634018" cy="369332"/>
          </a:xfrm>
          <a:prstGeom prst="rect">
            <a:avLst/>
          </a:prstGeom>
          <a:noFill/>
        </p:spPr>
        <p:txBody>
          <a:bodyPr wrap="square" rtlCol="0">
            <a:spAutoFit/>
          </a:bodyPr>
          <a:lstStyle/>
          <a:p>
            <a:pPr algn="ctr"/>
            <a:r>
              <a:rPr lang="pt-BR" dirty="0" smtClean="0"/>
              <a:t>Fábrica de Teste</a:t>
            </a:r>
            <a:endParaRPr lang="pt-BR" dirty="0"/>
          </a:p>
        </p:txBody>
      </p:sp>
    </p:spTree>
    <p:extLst>
      <p:ext uri="{BB962C8B-B14F-4D97-AF65-F5344CB8AC3E}">
        <p14:creationId xmlns:p14="http://schemas.microsoft.com/office/powerpoint/2010/main" xmlns="" val="247279206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11" name="AutoShape 4" descr="Resultado de imagem para team scrum">
            <a:extLst>
              <a:ext uri="{FF2B5EF4-FFF2-40B4-BE49-F238E27FC236}">
                <a16:creationId xmlns:a16="http://schemas.microsoft.com/office/drawing/2014/main" xmlns="" id="{89EEC75A-488C-459D-8114-4B6764CE6A80}"/>
              </a:ext>
            </a:extLst>
          </p:cNvPr>
          <p:cNvSpPr>
            <a:spLocks noChangeAspect="1" noChangeArrowheads="1"/>
          </p:cNvSpPr>
          <p:nvPr/>
        </p:nvSpPr>
        <p:spPr bwMode="auto">
          <a:xfrm>
            <a:off x="12964223" y="1639088"/>
            <a:ext cx="124775" cy="124774"/>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Espaço Reservado para Rodapé 1"/>
          <p:cNvSpPr>
            <a:spLocks noGrp="1"/>
          </p:cNvSpPr>
          <p:nvPr>
            <p:ph type="ftr" sz="quarter" idx="11"/>
          </p:nvPr>
        </p:nvSpPr>
        <p:spPr>
          <a:xfrm>
            <a:off x="3999522" y="6492875"/>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CaixaDeTexto 7">
            <a:extLst>
              <a:ext uri="{FF2B5EF4-FFF2-40B4-BE49-F238E27FC236}">
                <a16:creationId xmlns:a16="http://schemas.microsoft.com/office/drawing/2014/main" xmlns="" id="{AF27F5EA-A710-4BC6-BAF2-F13947371E72}"/>
              </a:ext>
            </a:extLst>
          </p:cNvPr>
          <p:cNvSpPr txBox="1"/>
          <p:nvPr/>
        </p:nvSpPr>
        <p:spPr>
          <a:xfrm>
            <a:off x="559430" y="910450"/>
            <a:ext cx="655105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3200" b="1" dirty="0" smtClean="0">
                <a:solidFill>
                  <a:prstClr val="black"/>
                </a:solidFill>
                <a:latin typeface="+mj-lt"/>
                <a:ea typeface="Gill Sans MT" charset="0"/>
                <a:cs typeface="Gill Sans MT" charset="0"/>
              </a:rPr>
              <a:t>Papeis x Responsabilidade</a:t>
            </a:r>
            <a:endParaRPr kumimoji="0" lang="pt-BR" sz="3200" b="1" i="0" u="none" strike="noStrike" kern="1200" cap="none" spc="0" normalizeH="0" baseline="0" noProof="0" dirty="0">
              <a:ln>
                <a:noFill/>
              </a:ln>
              <a:solidFill>
                <a:prstClr val="black"/>
              </a:solidFill>
              <a:effectLst/>
              <a:uLnTx/>
              <a:uFillTx/>
              <a:latin typeface="+mj-lt"/>
              <a:ea typeface="Gill Sans MT" charset="0"/>
              <a:cs typeface="Gill Sans MT" charset="0"/>
            </a:endParaRPr>
          </a:p>
        </p:txBody>
      </p:sp>
      <p:sp>
        <p:nvSpPr>
          <p:cNvPr id="10" name="CaixaDeTexto 9"/>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pic>
        <p:nvPicPr>
          <p:cNvPr id="123906" name="Picture 2"/>
          <p:cNvPicPr>
            <a:picLocks noChangeAspect="1" noChangeArrowheads="1"/>
          </p:cNvPicPr>
          <p:nvPr/>
        </p:nvPicPr>
        <p:blipFill>
          <a:blip r:embed="rId3" cstate="print"/>
          <a:srcRect/>
          <a:stretch>
            <a:fillRect/>
          </a:stretch>
        </p:blipFill>
        <p:spPr bwMode="auto">
          <a:xfrm>
            <a:off x="0" y="2621948"/>
            <a:ext cx="6549703" cy="2755284"/>
          </a:xfrm>
          <a:prstGeom prst="rect">
            <a:avLst/>
          </a:prstGeom>
          <a:noFill/>
          <a:ln w="9525">
            <a:noFill/>
            <a:miter lim="800000"/>
            <a:headEnd/>
            <a:tailEnd/>
          </a:ln>
        </p:spPr>
      </p:pic>
      <p:sp>
        <p:nvSpPr>
          <p:cNvPr id="31" name="Retângulo: Cantos Arredondados 23"/>
          <p:cNvSpPr/>
          <p:nvPr/>
        </p:nvSpPr>
        <p:spPr>
          <a:xfrm>
            <a:off x="8420380" y="2871906"/>
            <a:ext cx="3343428" cy="2672862"/>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4" name="Smiley 18"/>
          <p:cNvSpPr/>
          <p:nvPr/>
        </p:nvSpPr>
        <p:spPr>
          <a:xfrm>
            <a:off x="9354708" y="3096989"/>
            <a:ext cx="565057" cy="534573"/>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CaixaDeTexto 44"/>
          <p:cNvSpPr txBox="1"/>
          <p:nvPr/>
        </p:nvSpPr>
        <p:spPr>
          <a:xfrm>
            <a:off x="9178861" y="3631562"/>
            <a:ext cx="916749" cy="646331"/>
          </a:xfrm>
          <a:prstGeom prst="rect">
            <a:avLst/>
          </a:prstGeom>
          <a:noFill/>
        </p:spPr>
        <p:txBody>
          <a:bodyPr wrap="square" rtlCol="0">
            <a:spAutoFit/>
          </a:bodyPr>
          <a:lstStyle/>
          <a:p>
            <a:r>
              <a:rPr lang="pt-BR" dirty="0" err="1"/>
              <a:t>Scrum</a:t>
            </a:r>
            <a:r>
              <a:rPr lang="pt-BR" dirty="0"/>
              <a:t> Master</a:t>
            </a:r>
          </a:p>
        </p:txBody>
      </p:sp>
      <p:sp>
        <p:nvSpPr>
          <p:cNvPr id="46" name="Smiley 20"/>
          <p:cNvSpPr/>
          <p:nvPr/>
        </p:nvSpPr>
        <p:spPr>
          <a:xfrm>
            <a:off x="10264423" y="3111056"/>
            <a:ext cx="565057" cy="534573"/>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7" name="CaixaDeTexto 46"/>
          <p:cNvSpPr txBox="1"/>
          <p:nvPr/>
        </p:nvSpPr>
        <p:spPr>
          <a:xfrm>
            <a:off x="10088576" y="3645629"/>
            <a:ext cx="916749" cy="369332"/>
          </a:xfrm>
          <a:prstGeom prst="rect">
            <a:avLst/>
          </a:prstGeom>
          <a:noFill/>
        </p:spPr>
        <p:txBody>
          <a:bodyPr wrap="square" rtlCol="0">
            <a:spAutoFit/>
          </a:bodyPr>
          <a:lstStyle/>
          <a:p>
            <a:r>
              <a:rPr lang="pt-BR" dirty="0"/>
              <a:t>PO</a:t>
            </a:r>
          </a:p>
        </p:txBody>
      </p:sp>
      <p:sp>
        <p:nvSpPr>
          <p:cNvPr id="48" name="Elipse 47"/>
          <p:cNvSpPr/>
          <p:nvPr/>
        </p:nvSpPr>
        <p:spPr>
          <a:xfrm>
            <a:off x="9466079" y="4208337"/>
            <a:ext cx="2161741" cy="1098063"/>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smtClean="0">
                <a:solidFill>
                  <a:schemeClr val="tx1"/>
                </a:solidFill>
              </a:rPr>
              <a:t>Desenvolvedores e</a:t>
            </a:r>
          </a:p>
          <a:p>
            <a:pPr algn="ctr"/>
            <a:r>
              <a:rPr lang="pt-BR" sz="1400" dirty="0" smtClean="0">
                <a:solidFill>
                  <a:schemeClr val="tx1"/>
                </a:solidFill>
              </a:rPr>
              <a:t>Testador</a:t>
            </a:r>
            <a:endParaRPr lang="pt-BR" sz="1400" dirty="0">
              <a:solidFill>
                <a:schemeClr val="tx1"/>
              </a:solidFill>
            </a:endParaRPr>
          </a:p>
        </p:txBody>
      </p:sp>
      <p:sp>
        <p:nvSpPr>
          <p:cNvPr id="49" name="CaixaDeTexto 48"/>
          <p:cNvSpPr txBox="1"/>
          <p:nvPr/>
        </p:nvSpPr>
        <p:spPr>
          <a:xfrm>
            <a:off x="8663047" y="2528422"/>
            <a:ext cx="1948375" cy="369332"/>
          </a:xfrm>
          <a:prstGeom prst="rect">
            <a:avLst/>
          </a:prstGeom>
          <a:noFill/>
        </p:spPr>
        <p:txBody>
          <a:bodyPr wrap="square" rtlCol="0">
            <a:spAutoFit/>
          </a:bodyPr>
          <a:lstStyle/>
          <a:p>
            <a:r>
              <a:rPr lang="pt-BR" dirty="0" smtClean="0"/>
              <a:t>Equipe</a:t>
            </a:r>
            <a:endParaRPr lang="pt-BR" dirty="0"/>
          </a:p>
        </p:txBody>
      </p:sp>
      <p:sp>
        <p:nvSpPr>
          <p:cNvPr id="50" name="CaixaDeTexto 49"/>
          <p:cNvSpPr txBox="1"/>
          <p:nvPr/>
        </p:nvSpPr>
        <p:spPr>
          <a:xfrm>
            <a:off x="10434697" y="3900022"/>
            <a:ext cx="1948375" cy="369332"/>
          </a:xfrm>
          <a:prstGeom prst="rect">
            <a:avLst/>
          </a:prstGeom>
          <a:noFill/>
        </p:spPr>
        <p:txBody>
          <a:bodyPr wrap="square" rtlCol="0">
            <a:spAutoFit/>
          </a:bodyPr>
          <a:lstStyle/>
          <a:p>
            <a:r>
              <a:rPr lang="pt-BR" dirty="0" smtClean="0"/>
              <a:t>Time</a:t>
            </a:r>
            <a:endParaRPr lang="pt-BR" dirty="0"/>
          </a:p>
        </p:txBody>
      </p:sp>
      <p:sp>
        <p:nvSpPr>
          <p:cNvPr id="51" name="Retângulo 50"/>
          <p:cNvSpPr/>
          <p:nvPr/>
        </p:nvSpPr>
        <p:spPr>
          <a:xfrm>
            <a:off x="2169994" y="2292837"/>
            <a:ext cx="2197290" cy="4230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smtClean="0"/>
              <a:t>Tradicional</a:t>
            </a:r>
            <a:endParaRPr lang="pt-BR" b="1" dirty="0"/>
          </a:p>
        </p:txBody>
      </p:sp>
      <p:sp>
        <p:nvSpPr>
          <p:cNvPr id="52" name="Retângulo 51"/>
          <p:cNvSpPr/>
          <p:nvPr/>
        </p:nvSpPr>
        <p:spPr>
          <a:xfrm>
            <a:off x="9023448" y="1926600"/>
            <a:ext cx="2197290" cy="42308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smtClean="0">
                <a:solidFill>
                  <a:schemeClr val="tx1"/>
                </a:solidFill>
              </a:rPr>
              <a:t>Ágil</a:t>
            </a:r>
            <a:endParaRPr lang="pt-BR" b="1" dirty="0">
              <a:solidFill>
                <a:schemeClr val="tx1"/>
              </a:solidFill>
            </a:endParaRPr>
          </a:p>
        </p:txBody>
      </p:sp>
      <p:sp>
        <p:nvSpPr>
          <p:cNvPr id="55" name="Multiplicar 54"/>
          <p:cNvSpPr/>
          <p:nvPr/>
        </p:nvSpPr>
        <p:spPr>
          <a:xfrm>
            <a:off x="6919415" y="3439236"/>
            <a:ext cx="900752" cy="1282889"/>
          </a:xfrm>
          <a:prstGeom prst="mathMultiply">
            <a:avLst>
              <a:gd name="adj1" fmla="val 14429"/>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xmlns="" val="247279206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63" name="CaixaDeTexto 62"/>
          <p:cNvSpPr txBox="1"/>
          <p:nvPr/>
        </p:nvSpPr>
        <p:spPr>
          <a:xfrm>
            <a:off x="-25398" y="1098019"/>
            <a:ext cx="9245634"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000" b="1" i="0" u="none" strike="noStrike" kern="1200" cap="none" spc="0" normalizeH="0" baseline="0" noProof="0" dirty="0">
                <a:ln>
                  <a:noFill/>
                </a:ln>
                <a:solidFill>
                  <a:prstClr val="black"/>
                </a:solidFill>
                <a:effectLst/>
                <a:uLnTx/>
                <a:uFillTx/>
                <a:ea typeface="+mn-ea"/>
                <a:cs typeface="+mn-cs"/>
              </a:rPr>
              <a:t>Papeis </a:t>
            </a:r>
            <a:r>
              <a:rPr kumimoji="0" lang="pt-BR" sz="3000" b="1" i="0" u="none" strike="noStrike" kern="1200" cap="none" spc="0" normalizeH="0" baseline="0" noProof="0" dirty="0" smtClean="0">
                <a:ln>
                  <a:noFill/>
                </a:ln>
                <a:solidFill>
                  <a:prstClr val="black"/>
                </a:solidFill>
                <a:effectLst/>
                <a:uLnTx/>
                <a:uFillTx/>
                <a:ea typeface="+mn-ea"/>
                <a:cs typeface="+mn-cs"/>
              </a:rPr>
              <a:t>x </a:t>
            </a:r>
            <a:r>
              <a:rPr kumimoji="0" lang="pt-BR" sz="3000" b="1" i="0" u="none" strike="noStrike" kern="1200" cap="none" spc="0" normalizeH="0" baseline="0" noProof="0" dirty="0">
                <a:ln>
                  <a:noFill/>
                </a:ln>
                <a:solidFill>
                  <a:prstClr val="black"/>
                </a:solidFill>
                <a:effectLst/>
                <a:uLnTx/>
                <a:uFillTx/>
                <a:ea typeface="+mn-ea"/>
                <a:cs typeface="+mn-cs"/>
              </a:rPr>
              <a:t>Responsabilidades no </a:t>
            </a:r>
            <a:r>
              <a:rPr kumimoji="0" lang="pt-BR" sz="3000" b="1" i="0" u="none" strike="noStrike" kern="1200" cap="none" spc="0" normalizeH="0" baseline="0" noProof="0" dirty="0" smtClean="0">
                <a:ln>
                  <a:noFill/>
                </a:ln>
                <a:solidFill>
                  <a:prstClr val="black"/>
                </a:solidFill>
                <a:effectLst/>
                <a:uLnTx/>
                <a:uFillTx/>
                <a:ea typeface="+mn-ea"/>
                <a:cs typeface="+mn-cs"/>
              </a:rPr>
              <a:t>Ágil</a:t>
            </a:r>
            <a:endParaRPr kumimoji="0" lang="pt-BR" sz="3000" b="1" i="0" u="none" strike="noStrike" kern="1200" cap="none" spc="0" normalizeH="0" baseline="0" noProof="0" dirty="0">
              <a:ln>
                <a:noFill/>
              </a:ln>
              <a:solidFill>
                <a:prstClr val="black"/>
              </a:solidFill>
              <a:effectLst/>
              <a:uLnTx/>
              <a:uFillTx/>
              <a:ea typeface="+mn-ea"/>
              <a:cs typeface="+mn-cs"/>
            </a:endParaRPr>
          </a:p>
        </p:txBody>
      </p:sp>
      <p:pic>
        <p:nvPicPr>
          <p:cNvPr id="7" name="Imagem 6">
            <a:extLst>
              <a:ext uri="{FF2B5EF4-FFF2-40B4-BE49-F238E27FC236}">
                <a16:creationId xmlns:a16="http://schemas.microsoft.com/office/drawing/2014/main" xmlns="" id="{7E057CE9-7D53-487F-82C9-248FA755BB67}"/>
              </a:ext>
            </a:extLst>
          </p:cNvPr>
          <p:cNvPicPr>
            <a:picLocks noChangeAspect="1"/>
          </p:cNvPicPr>
          <p:nvPr/>
        </p:nvPicPr>
        <p:blipFill>
          <a:blip r:embed="rId3" cstate="print"/>
          <a:stretch>
            <a:fillRect/>
          </a:stretch>
        </p:blipFill>
        <p:spPr>
          <a:xfrm>
            <a:off x="2088416" y="1719209"/>
            <a:ext cx="7591425" cy="4905375"/>
          </a:xfrm>
          <a:prstGeom prst="rect">
            <a:avLst/>
          </a:prstGeom>
        </p:spPr>
      </p:pic>
      <p:sp>
        <p:nvSpPr>
          <p:cNvPr id="2" name="Espaço Reservado para Rodapé 1"/>
          <p:cNvSpPr>
            <a:spLocks noGrp="1"/>
          </p:cNvSpPr>
          <p:nvPr>
            <p:ph type="ftr" sz="quarter" idx="11"/>
          </p:nvPr>
        </p:nvSpPr>
        <p:spPr>
          <a:xfrm>
            <a:off x="4038601" y="6466931"/>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CaixaDeTexto 5"/>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extLst>
      <p:ext uri="{BB962C8B-B14F-4D97-AF65-F5344CB8AC3E}">
        <p14:creationId xmlns:p14="http://schemas.microsoft.com/office/powerpoint/2010/main" xmlns="" val="174869855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ixaDeTexto 8"/>
          <p:cNvSpPr txBox="1"/>
          <p:nvPr/>
        </p:nvSpPr>
        <p:spPr>
          <a:xfrm>
            <a:off x="3" y="6470378"/>
            <a:ext cx="292813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white"/>
                </a:solidFill>
                <a:effectLst/>
                <a:uLnTx/>
                <a:uFillTx/>
                <a:latin typeface="Gill Sans MT" charset="0"/>
                <a:ea typeface="Gill Sans MT" charset="0"/>
                <a:cs typeface="Gill Sans MT" charset="0"/>
              </a:rPr>
              <a:t>www.svlabs.com.br</a:t>
            </a:r>
          </a:p>
        </p:txBody>
      </p:sp>
      <p:sp>
        <p:nvSpPr>
          <p:cNvPr id="63" name="CaixaDeTexto 62"/>
          <p:cNvSpPr txBox="1"/>
          <p:nvPr/>
        </p:nvSpPr>
        <p:spPr>
          <a:xfrm>
            <a:off x="192970" y="1098019"/>
            <a:ext cx="9245634"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000" b="1" i="0" u="none" strike="noStrike" kern="1200" cap="none" spc="0" normalizeH="0" baseline="0" noProof="0" dirty="0" smtClean="0">
                <a:ln>
                  <a:noFill/>
                </a:ln>
                <a:solidFill>
                  <a:prstClr val="black"/>
                </a:solidFill>
                <a:effectLst/>
                <a:uLnTx/>
                <a:uFillTx/>
                <a:ea typeface="+mn-ea"/>
                <a:cs typeface="+mn-cs"/>
              </a:rPr>
              <a:t>Baixa Plataforma</a:t>
            </a:r>
            <a:endParaRPr kumimoji="0" lang="pt-BR" sz="3000" b="1" i="0" u="none" strike="noStrike" kern="1200" cap="none" spc="0" normalizeH="0" baseline="0" noProof="0" dirty="0">
              <a:ln>
                <a:noFill/>
              </a:ln>
              <a:solidFill>
                <a:prstClr val="black"/>
              </a:solidFill>
              <a:effectLst/>
              <a:uLnTx/>
              <a:uFillTx/>
              <a:ea typeface="+mn-ea"/>
              <a:cs typeface="+mn-cs"/>
            </a:endParaRPr>
          </a:p>
        </p:txBody>
      </p:sp>
      <p:sp>
        <p:nvSpPr>
          <p:cNvPr id="2" name="Espaço Reservado para Rodapé 1"/>
          <p:cNvSpPr>
            <a:spLocks noGrp="1"/>
          </p:cNvSpPr>
          <p:nvPr>
            <p:ph type="ftr" sz="quarter" idx="11"/>
          </p:nvPr>
        </p:nvSpPr>
        <p:spPr>
          <a:xfrm>
            <a:off x="4038601" y="6466931"/>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By CTS Consultoria.                                                             treinamento@ctsnet.com.br</a:t>
            </a:r>
            <a:endParaRPr kumimoji="0" lang="pt-B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CaixaDeTexto 5"/>
          <p:cNvSpPr txBox="1"/>
          <p:nvPr/>
        </p:nvSpPr>
        <p:spPr>
          <a:xfrm>
            <a:off x="576450" y="198057"/>
            <a:ext cx="117884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4000" b="1" i="0" u="none" strike="noStrike" kern="1200" cap="none" spc="0" normalizeH="0" baseline="0" noProof="0" dirty="0" err="1" smtClean="0">
                <a:ln>
                  <a:noFill/>
                </a:ln>
                <a:solidFill>
                  <a:prstClr val="black"/>
                </a:solidFill>
                <a:effectLst/>
                <a:uLnTx/>
                <a:uFillTx/>
                <a:latin typeface="Gill Sans MT" charset="0"/>
                <a:ea typeface="Gill Sans MT" charset="0"/>
                <a:cs typeface="Gill Sans MT" charset="0"/>
              </a:rPr>
              <a:t>Cap</a:t>
            </a:r>
            <a:r>
              <a:rPr lang="pt-BR" sz="4000" b="1" dirty="0" err="1" smtClean="0">
                <a:solidFill>
                  <a:prstClr val="black"/>
                </a:solidFill>
                <a:latin typeface="Gill Sans MT" charset="0"/>
                <a:ea typeface="Gill Sans MT" charset="0"/>
                <a:cs typeface="Gill Sans MT" charset="0"/>
              </a:rPr>
              <a:t>ítulo</a:t>
            </a:r>
            <a:r>
              <a:rPr lang="pt-BR" sz="4000" b="1" dirty="0" smtClean="0">
                <a:solidFill>
                  <a:prstClr val="black"/>
                </a:solidFill>
                <a:latin typeface="Gill Sans MT" charset="0"/>
                <a:ea typeface="Gill Sans MT" charset="0"/>
                <a:cs typeface="Gill Sans MT" charset="0"/>
              </a:rPr>
              <a:t> II – Desenvolvimento de Software</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
        <p:nvSpPr>
          <p:cNvPr id="8" name="CaixaDeTexto 7"/>
          <p:cNvSpPr txBox="1"/>
          <p:nvPr/>
        </p:nvSpPr>
        <p:spPr>
          <a:xfrm>
            <a:off x="955347" y="1692314"/>
            <a:ext cx="10781731" cy="1477328"/>
          </a:xfrm>
          <a:prstGeom prst="rect">
            <a:avLst/>
          </a:prstGeom>
          <a:noFill/>
        </p:spPr>
        <p:txBody>
          <a:bodyPr wrap="square" rtlCol="0">
            <a:spAutoFit/>
          </a:bodyPr>
          <a:lstStyle/>
          <a:p>
            <a:r>
              <a:rPr lang="pt-BR" dirty="0" smtClean="0"/>
              <a:t>Sistemas de baixa performance operacional, entretanto com um padrão visual  mais moderno e  maior capacidade tecnológica:</a:t>
            </a:r>
          </a:p>
          <a:p>
            <a:pPr>
              <a:buFont typeface="Wingdings" pitchFamily="2" charset="2"/>
              <a:buChar char="ü"/>
            </a:pPr>
            <a:r>
              <a:rPr lang="pt-BR" dirty="0" smtClean="0"/>
              <a:t>Java</a:t>
            </a:r>
          </a:p>
          <a:p>
            <a:pPr>
              <a:buFont typeface="Wingdings" pitchFamily="2" charset="2"/>
              <a:buChar char="ü"/>
            </a:pPr>
            <a:r>
              <a:rPr lang="pt-BR" dirty="0" smtClean="0"/>
              <a:t>C#</a:t>
            </a:r>
            <a:endParaRPr lang="pt-BR" dirty="0" smtClean="0"/>
          </a:p>
          <a:p>
            <a:endParaRPr lang="pt-BR" dirty="0"/>
          </a:p>
        </p:txBody>
      </p:sp>
      <p:sp>
        <p:nvSpPr>
          <p:cNvPr id="10" name="CaixaDeTexto 9"/>
          <p:cNvSpPr txBox="1"/>
          <p:nvPr/>
        </p:nvSpPr>
        <p:spPr>
          <a:xfrm>
            <a:off x="764278" y="4217149"/>
            <a:ext cx="11054686" cy="2031325"/>
          </a:xfrm>
          <a:prstGeom prst="rect">
            <a:avLst/>
          </a:prstGeom>
          <a:noFill/>
        </p:spPr>
        <p:txBody>
          <a:bodyPr wrap="square" rtlCol="0">
            <a:spAutoFit/>
          </a:bodyPr>
          <a:lstStyle/>
          <a:p>
            <a:r>
              <a:rPr lang="pt-BR" dirty="0" smtClean="0"/>
              <a:t>Sistemas de alta performance operacional, entretanto com um padrão visual pobre, normalmente 2 escala de cores e pouca capacidade tecnológica (muito usado em bancos).</a:t>
            </a:r>
          </a:p>
          <a:p>
            <a:endParaRPr lang="pt-BR" dirty="0" smtClean="0"/>
          </a:p>
          <a:p>
            <a:pPr>
              <a:buFont typeface="Wingdings" pitchFamily="2" charset="2"/>
              <a:buChar char="ü"/>
            </a:pPr>
            <a:r>
              <a:rPr lang="pt-BR" dirty="0" err="1" smtClean="0"/>
              <a:t>Cobol</a:t>
            </a:r>
            <a:endParaRPr lang="pt-BR" dirty="0" smtClean="0"/>
          </a:p>
          <a:p>
            <a:pPr>
              <a:buFont typeface="Wingdings" pitchFamily="2" charset="2"/>
              <a:buChar char="ü"/>
            </a:pPr>
            <a:r>
              <a:rPr lang="pt-BR" dirty="0" smtClean="0"/>
              <a:t>VB</a:t>
            </a:r>
          </a:p>
          <a:p>
            <a:endParaRPr lang="pt-BR" dirty="0" smtClean="0"/>
          </a:p>
          <a:p>
            <a:endParaRPr lang="pt-BR" dirty="0"/>
          </a:p>
        </p:txBody>
      </p:sp>
      <p:sp>
        <p:nvSpPr>
          <p:cNvPr id="11" name="CaixaDeTexto 10"/>
          <p:cNvSpPr txBox="1"/>
          <p:nvPr/>
        </p:nvSpPr>
        <p:spPr>
          <a:xfrm>
            <a:off x="154298" y="3475043"/>
            <a:ext cx="9245634"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3000" b="1" i="0" u="none" strike="noStrike" kern="1200" cap="none" spc="0" normalizeH="0" baseline="0" noProof="0" dirty="0" smtClean="0">
                <a:ln>
                  <a:noFill/>
                </a:ln>
                <a:solidFill>
                  <a:prstClr val="black"/>
                </a:solidFill>
                <a:effectLst/>
                <a:uLnTx/>
                <a:uFillTx/>
                <a:ea typeface="+mn-ea"/>
                <a:cs typeface="+mn-cs"/>
              </a:rPr>
              <a:t>Alta Plataforma</a:t>
            </a:r>
            <a:endParaRPr kumimoji="0" lang="pt-BR" sz="3000" b="1"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xmlns="" val="174869855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p:cNvSpPr txBox="1"/>
          <p:nvPr/>
        </p:nvSpPr>
        <p:spPr>
          <a:xfrm>
            <a:off x="235256" y="2763836"/>
            <a:ext cx="11788428"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4000" b="1" dirty="0" smtClean="0">
                <a:solidFill>
                  <a:prstClr val="black"/>
                </a:solidFill>
                <a:latin typeface="Gill Sans MT" charset="0"/>
                <a:ea typeface="Gill Sans MT" charset="0"/>
                <a:cs typeface="Gill Sans MT" charset="0"/>
              </a:rPr>
              <a:t>Exercício Prático</a:t>
            </a:r>
            <a:endParaRPr kumimoji="0" lang="pt-BR" sz="4000" b="1" i="0" u="none" strike="noStrike" kern="1200" cap="none" spc="0" normalizeH="0" baseline="0" noProof="0" dirty="0">
              <a:ln>
                <a:noFill/>
              </a:ln>
              <a:solidFill>
                <a:prstClr val="black"/>
              </a:solidFill>
              <a:effectLst/>
              <a:uLnTx/>
              <a:uFillTx/>
              <a:latin typeface="Gill Sans MT" charset="0"/>
              <a:ea typeface="Gill Sans MT" charset="0"/>
              <a:cs typeface="Gill Sans MT" charset="0"/>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704193" y="2257171"/>
            <a:ext cx="4309241" cy="3931101"/>
          </a:xfrm>
          <a:prstGeom prst="rect">
            <a:avLst/>
          </a:prstGeom>
        </p:spPr>
      </p:pic>
      <p:sp>
        <p:nvSpPr>
          <p:cNvPr id="2" name="Retângulo 1"/>
          <p:cNvSpPr/>
          <p:nvPr/>
        </p:nvSpPr>
        <p:spPr>
          <a:xfrm>
            <a:off x="5528442" y="2941009"/>
            <a:ext cx="6096000" cy="2031325"/>
          </a:xfrm>
          <a:prstGeom prst="rect">
            <a:avLst/>
          </a:prstGeom>
          <a:ln>
            <a:noFill/>
          </a:ln>
        </p:spPr>
        <p:txBody>
          <a:bodyPr>
            <a:spAutoFit/>
          </a:bodyPr>
          <a:lstStyle/>
          <a:p>
            <a:r>
              <a:rPr lang="pt-BR" spc="50" dirty="0" smtClean="0">
                <a:ln w="0" cmpd="sng">
                  <a:noFill/>
                  <a:prstDash val="solid"/>
                </a:ln>
                <a:effectLst>
                  <a:glow rad="38100">
                    <a:schemeClr val="accent1">
                      <a:alpha val="40000"/>
                    </a:schemeClr>
                  </a:glow>
                </a:effectLst>
                <a:latin typeface="Arial" pitchFamily="34" charset="0"/>
                <a:ea typeface="Arial Unicode MS" pitchFamily="34" charset="-128"/>
                <a:cs typeface="Arial" pitchFamily="34" charset="0"/>
              </a:rPr>
              <a:t>Treinamentos especializados em Sistemas.</a:t>
            </a:r>
          </a:p>
          <a:p>
            <a:endParaRPr lang="pt-BR" spc="50" dirty="0" smtClean="0">
              <a:ln w="0" cmpd="sng">
                <a:noFill/>
                <a:prstDash val="solid"/>
              </a:ln>
              <a:effectLst>
                <a:glow rad="38100">
                  <a:schemeClr val="accent1">
                    <a:alpha val="40000"/>
                  </a:schemeClr>
                </a:glow>
              </a:effectLst>
              <a:latin typeface="Arial" pitchFamily="34" charset="0"/>
              <a:ea typeface="Arial Unicode MS" pitchFamily="34" charset="-128"/>
              <a:cs typeface="Arial" pitchFamily="34" charset="0"/>
            </a:endParaRPr>
          </a:p>
          <a:p>
            <a:r>
              <a:rPr lang="pt-BR" spc="50" dirty="0" smtClean="0">
                <a:ln w="0" cmpd="sng">
                  <a:noFill/>
                  <a:prstDash val="solid"/>
                </a:ln>
                <a:effectLst>
                  <a:glow rad="38100">
                    <a:schemeClr val="accent1">
                      <a:alpha val="40000"/>
                    </a:schemeClr>
                  </a:glow>
                </a:effectLst>
                <a:latin typeface="Arial" pitchFamily="34" charset="0"/>
                <a:ea typeface="Arial Unicode MS" pitchFamily="34" charset="-128"/>
                <a:cs typeface="Arial" pitchFamily="34" charset="0"/>
              </a:rPr>
              <a:t>E-mail</a:t>
            </a:r>
            <a:r>
              <a:rPr lang="pt-BR" spc="50" dirty="0">
                <a:ln w="0" cmpd="sng">
                  <a:noFill/>
                  <a:prstDash val="solid"/>
                </a:ln>
                <a:effectLst>
                  <a:glow rad="38100">
                    <a:schemeClr val="accent1">
                      <a:alpha val="40000"/>
                    </a:schemeClr>
                  </a:glow>
                </a:effectLst>
                <a:latin typeface="Arial" pitchFamily="34" charset="0"/>
                <a:ea typeface="Arial Unicode MS" pitchFamily="34" charset="-128"/>
                <a:cs typeface="Arial" pitchFamily="34" charset="0"/>
              </a:rPr>
              <a:t>: </a:t>
            </a:r>
            <a:r>
              <a:rPr lang="pt-BR" spc="50" dirty="0" smtClean="0">
                <a:ln w="0" cmpd="sng">
                  <a:noFill/>
                  <a:prstDash val="solid"/>
                </a:ln>
                <a:effectLst>
                  <a:glow rad="38100">
                    <a:schemeClr val="accent1">
                      <a:alpha val="40000"/>
                    </a:schemeClr>
                  </a:glow>
                </a:effectLst>
                <a:latin typeface="Arial" pitchFamily="34" charset="0"/>
                <a:ea typeface="Arial Unicode MS" pitchFamily="34" charset="-128"/>
                <a:cs typeface="Arial" pitchFamily="34" charset="0"/>
                <a:hlinkClick r:id="rId3"/>
              </a:rPr>
              <a:t>treinamento@ctsnet.com.br</a:t>
            </a:r>
            <a:endParaRPr lang="pt-BR" spc="50" dirty="0" smtClean="0">
              <a:ln w="0" cmpd="sng">
                <a:noFill/>
                <a:prstDash val="solid"/>
              </a:ln>
              <a:effectLst>
                <a:glow rad="38100">
                  <a:schemeClr val="accent1">
                    <a:alpha val="40000"/>
                  </a:schemeClr>
                </a:glow>
              </a:effectLst>
              <a:latin typeface="Arial" pitchFamily="34" charset="0"/>
              <a:ea typeface="Arial Unicode MS" pitchFamily="34" charset="-128"/>
              <a:cs typeface="Arial" pitchFamily="34" charset="0"/>
            </a:endParaRPr>
          </a:p>
          <a:p>
            <a:endParaRPr lang="pt-BR" spc="50" dirty="0">
              <a:ln w="0" cmpd="sng">
                <a:noFill/>
                <a:prstDash val="solid"/>
              </a:ln>
              <a:effectLst>
                <a:glow rad="38100">
                  <a:schemeClr val="accent1">
                    <a:alpha val="40000"/>
                  </a:schemeClr>
                </a:glow>
              </a:effectLst>
              <a:latin typeface="Arial" pitchFamily="34" charset="0"/>
              <a:ea typeface="Arial Unicode MS" pitchFamily="34" charset="-128"/>
              <a:cs typeface="Arial" pitchFamily="34" charset="0"/>
            </a:endParaRPr>
          </a:p>
          <a:p>
            <a:r>
              <a:rPr lang="pt-BR" spc="50" dirty="0">
                <a:ln w="0" cmpd="sng">
                  <a:noFill/>
                  <a:prstDash val="solid"/>
                </a:ln>
                <a:effectLst>
                  <a:glow rad="38100">
                    <a:schemeClr val="accent1">
                      <a:alpha val="40000"/>
                    </a:schemeClr>
                  </a:glow>
                </a:effectLst>
                <a:latin typeface="Arial" pitchFamily="34" charset="0"/>
                <a:ea typeface="Arial Unicode MS" pitchFamily="34" charset="-128"/>
                <a:cs typeface="Arial" pitchFamily="34" charset="0"/>
              </a:rPr>
              <a:t>Tel.:(11) 4319-0924</a:t>
            </a:r>
            <a:r>
              <a:rPr lang="pt-BR" spc="50" dirty="0" smtClean="0">
                <a:ln w="0" cmpd="sng">
                  <a:noFill/>
                  <a:prstDash val="solid"/>
                </a:ln>
                <a:effectLst>
                  <a:glow rad="38100">
                    <a:schemeClr val="accent1">
                      <a:alpha val="40000"/>
                    </a:schemeClr>
                  </a:glow>
                </a:effectLst>
                <a:latin typeface="Arial" pitchFamily="34" charset="0"/>
                <a:ea typeface="Arial Unicode MS" pitchFamily="34" charset="-128"/>
                <a:cs typeface="Arial" pitchFamily="34" charset="0"/>
              </a:rPr>
              <a:t>.</a:t>
            </a:r>
          </a:p>
          <a:p>
            <a:endParaRPr lang="pt-BR" spc="50" dirty="0">
              <a:ln w="0" cmpd="sng">
                <a:noFill/>
                <a:prstDash val="solid"/>
              </a:ln>
              <a:effectLst>
                <a:glow rad="38100">
                  <a:schemeClr val="accent1">
                    <a:alpha val="40000"/>
                  </a:schemeClr>
                </a:glow>
              </a:effectLst>
              <a:latin typeface="Arial" pitchFamily="34" charset="0"/>
              <a:ea typeface="Arial Unicode MS" pitchFamily="34" charset="-128"/>
              <a:cs typeface="Arial" pitchFamily="34" charset="0"/>
            </a:endParaRPr>
          </a:p>
          <a:p>
            <a:r>
              <a:rPr lang="pt-BR" spc="50" dirty="0">
                <a:ln w="0" cmpd="sng">
                  <a:noFill/>
                  <a:prstDash val="solid"/>
                </a:ln>
                <a:effectLst>
                  <a:glow rad="38100">
                    <a:schemeClr val="accent1">
                      <a:alpha val="40000"/>
                    </a:schemeClr>
                  </a:glow>
                </a:effectLst>
                <a:latin typeface="Arial" pitchFamily="34" charset="0"/>
                <a:ea typeface="Arial Unicode MS" pitchFamily="34" charset="-128"/>
                <a:cs typeface="Arial" pitchFamily="34" charset="0"/>
              </a:rPr>
              <a:t>WhatsApp.: (11) 9 5048-7140</a:t>
            </a:r>
          </a:p>
        </p:txBody>
      </p:sp>
      <p:pic>
        <p:nvPicPr>
          <p:cNvPr id="5" name="Imagem 4" descr="C:\Users\CTS\Downloads\Logo.png"/>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503627" y="420171"/>
            <a:ext cx="1378643" cy="954976"/>
          </a:xfrm>
          <a:prstGeom prst="rect">
            <a:avLst/>
          </a:prstGeom>
          <a:noFill/>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1_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956</TotalTime>
  <Words>4542</Words>
  <Application>Microsoft Office PowerPoint</Application>
  <PresentationFormat>Personalizar</PresentationFormat>
  <Paragraphs>746</Paragraphs>
  <Slides>73</Slides>
  <Notes>41</Notes>
  <HiddenSlides>0</HiddenSlides>
  <MMClips>0</MMClips>
  <ScaleCrop>false</ScaleCrop>
  <HeadingPairs>
    <vt:vector size="4" baseType="variant">
      <vt:variant>
        <vt:lpstr>Tema</vt:lpstr>
      </vt:variant>
      <vt:variant>
        <vt:i4>1</vt:i4>
      </vt:variant>
      <vt:variant>
        <vt:lpstr>Títulos de slides</vt:lpstr>
      </vt:variant>
      <vt:variant>
        <vt:i4>73</vt:i4>
      </vt:variant>
    </vt:vector>
  </HeadingPairs>
  <TitlesOfParts>
    <vt:vector size="74" baseType="lpstr">
      <vt:lpstr>1_Tema do Office</vt:lpstr>
      <vt:lpstr>Slide 1</vt:lpstr>
      <vt:lpstr>Quem é a CTS?</vt:lpstr>
      <vt:lpstr>O que mais  fazemos ?</vt:lpstr>
      <vt:lpstr>Quem é o Ezequiel Lima?</vt:lpstr>
      <vt:lpstr>Sobre o Curso</vt:lpstr>
      <vt:lpstr>Sobre o Curso</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O problema do Modelo Tradicional</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CTS</dc:creator>
  <cp:lastModifiedBy>Ezequiel</cp:lastModifiedBy>
  <cp:revision>22</cp:revision>
  <dcterms:created xsi:type="dcterms:W3CDTF">2018-01-17T11:58:52Z</dcterms:created>
  <dcterms:modified xsi:type="dcterms:W3CDTF">2018-01-19T16:26:31Z</dcterms:modified>
</cp:coreProperties>
</file>